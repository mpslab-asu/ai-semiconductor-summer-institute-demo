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1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embeddedFontLst>
    <p:embeddedFont>
      <p:font typeface="Cambria Math" panose="02040503050406030204" pitchFamily="18" charset="0"/>
      <p:regular r:id="rId6"/>
    </p:embeddedFont>
    <p:embeddedFont>
      <p:font typeface="Lato" panose="020F0502020204030203" pitchFamily="34" charset="0"/>
      <p:regular r:id="rId7"/>
      <p:bold r:id="rId8"/>
    </p:embeddedFont>
    <p:embeddedFont>
      <p:font typeface="Lato Black" panose="020F0502020204030203" pitchFamily="34" charset="0"/>
      <p:bold r:id="rId9"/>
    </p:embeddedFont>
    <p:embeddedFont>
      <p:font typeface="Lato Heavy" panose="020F0502020204030203" pitchFamily="34" charset="0"/>
      <p:bold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215B"/>
    <a:srgbClr val="05225C"/>
    <a:srgbClr val="9013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39"/>
  </p:normalViewPr>
  <p:slideViewPr>
    <p:cSldViewPr snapToGrid="0">
      <p:cViewPr>
        <p:scale>
          <a:sx n="130" d="100"/>
          <a:sy n="130" d="100"/>
        </p:scale>
        <p:origin x="856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920416" y="1449514"/>
            <a:ext cx="10351200" cy="11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Lato Black"/>
              <a:buNone/>
              <a:defRPr sz="6000"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2699731"/>
            <a:ext cx="9144000" cy="5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2"/>
          </p:nvPr>
        </p:nvSpPr>
        <p:spPr>
          <a:xfrm>
            <a:off x="3361531" y="3408595"/>
            <a:ext cx="5469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Title and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38200" y="12534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1052421" y="146057"/>
            <a:ext cx="9238892" cy="494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ato"/>
              <a:buNone/>
              <a:defRPr sz="40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7" name="Google Shape;27;p3"/>
          <p:cNvSpPr txBox="1"/>
          <p:nvPr/>
        </p:nvSpPr>
        <p:spPr>
          <a:xfrm>
            <a:off x="11650894" y="6447034"/>
            <a:ext cx="541200" cy="243900"/>
          </a:xfrm>
          <a:prstGeom prst="rect">
            <a:avLst/>
          </a:prstGeom>
          <a:solidFill>
            <a:srgbClr val="001A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‹#›</a:t>
            </a:fld>
            <a:endParaRPr sz="1600" b="0" i="0" u="none" strike="noStrike" cap="none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130" y="136266"/>
            <a:ext cx="9144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3" title="RectLogo_transpar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81654" y="173862"/>
            <a:ext cx="1391892" cy="439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23CFB85-E0E0-C5AA-9E2A-E52E4CC08727}"/>
              </a:ext>
            </a:extLst>
          </p:cNvPr>
          <p:cNvCxnSpPr/>
          <p:nvPr userDrawn="1"/>
        </p:nvCxnSpPr>
        <p:spPr>
          <a:xfrm>
            <a:off x="0" y="801800"/>
            <a:ext cx="12192000" cy="0"/>
          </a:xfrm>
          <a:prstGeom prst="line">
            <a:avLst/>
          </a:prstGeom>
          <a:ln w="19050">
            <a:solidFill>
              <a:srgbClr val="0522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4B0528E-3F6C-B3E3-E382-A28A3DF979F0}"/>
              </a:ext>
            </a:extLst>
          </p:cNvPr>
          <p:cNvCxnSpPr/>
          <p:nvPr userDrawn="1"/>
        </p:nvCxnSpPr>
        <p:spPr>
          <a:xfrm>
            <a:off x="0" y="833436"/>
            <a:ext cx="12192000" cy="0"/>
          </a:xfrm>
          <a:prstGeom prst="line">
            <a:avLst/>
          </a:prstGeom>
          <a:ln w="19050">
            <a:solidFill>
              <a:srgbClr val="0522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ctrTitle"/>
          </p:nvPr>
        </p:nvSpPr>
        <p:spPr>
          <a:xfrm>
            <a:off x="920416" y="2001878"/>
            <a:ext cx="10351200" cy="11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Lato Black"/>
              <a:buNone/>
              <a:defRPr sz="6000" b="1">
                <a:latin typeface="Aptos" panose="020B0004020202020204" pitchFamily="34" charset="0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4" name="Google Shape;34;p4"/>
          <p:cNvSpPr txBox="1">
            <a:spLocks noGrp="1"/>
          </p:cNvSpPr>
          <p:nvPr>
            <p:ph type="subTitle" idx="1"/>
          </p:nvPr>
        </p:nvSpPr>
        <p:spPr>
          <a:xfrm>
            <a:off x="1524000" y="3241152"/>
            <a:ext cx="9144000" cy="5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latin typeface="Aptos" panose="020B0004020202020204" pitchFamily="34" charset="0"/>
                <a:ea typeface="Lato"/>
                <a:cs typeface="Lato"/>
                <a:sym typeface="Lato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 dirty="0"/>
          </a:p>
        </p:txBody>
      </p:sp>
      <p:sp>
        <p:nvSpPr>
          <p:cNvPr id="35" name="Google Shape;35;p4"/>
          <p:cNvSpPr txBox="1"/>
          <p:nvPr/>
        </p:nvSpPr>
        <p:spPr>
          <a:xfrm>
            <a:off x="11650894" y="6447034"/>
            <a:ext cx="541200" cy="243900"/>
          </a:xfrm>
          <a:prstGeom prst="rect">
            <a:avLst/>
          </a:prstGeom>
          <a:solidFill>
            <a:srgbClr val="001A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‹#›</a:t>
            </a:fld>
            <a:endParaRPr sz="1600" b="0" i="0" u="none" strike="noStrike" cap="none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userDrawn="1">
  <p:cSld name="Two Conte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838200" y="1253400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ptos" panose="020B0004020202020204" pitchFamily="34" charset="0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2"/>
          </p:nvPr>
        </p:nvSpPr>
        <p:spPr>
          <a:xfrm>
            <a:off x="6172200" y="1253400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ptos" panose="020B0004020202020204" pitchFamily="34" charset="0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5"/>
          <p:cNvSpPr txBox="1"/>
          <p:nvPr/>
        </p:nvSpPr>
        <p:spPr>
          <a:xfrm>
            <a:off x="11650894" y="6447034"/>
            <a:ext cx="541200" cy="243900"/>
          </a:xfrm>
          <a:prstGeom prst="rect">
            <a:avLst/>
          </a:prstGeom>
          <a:solidFill>
            <a:srgbClr val="001A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‹#›</a:t>
            </a:fld>
            <a:endParaRPr sz="1600" b="0" i="0" u="none" strike="noStrike" cap="none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2" name="Google Shape;25;p3">
            <a:extLst>
              <a:ext uri="{FF2B5EF4-FFF2-40B4-BE49-F238E27FC236}">
                <a16:creationId xmlns:a16="http://schemas.microsoft.com/office/drawing/2014/main" id="{B01E623F-61D5-0141-AEAE-1C1DE6CDF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52421" y="146057"/>
            <a:ext cx="9351036" cy="494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ato"/>
              <a:buNone/>
              <a:defRPr sz="4000">
                <a:latin typeface="Aptos" panose="020B0004020202020204" pitchFamily="34" charset="0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userDrawn="1">
  <p:cSld name="Comparis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6"/>
          <p:cNvSpPr txBox="1"/>
          <p:nvPr/>
        </p:nvSpPr>
        <p:spPr>
          <a:xfrm>
            <a:off x="11650894" y="6447034"/>
            <a:ext cx="541200" cy="243900"/>
          </a:xfrm>
          <a:prstGeom prst="rect">
            <a:avLst/>
          </a:prstGeom>
          <a:solidFill>
            <a:srgbClr val="001A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‹#›</a:t>
            </a:fld>
            <a:endParaRPr sz="1600" b="0" i="0" u="none" strike="noStrike" cap="none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2" name="Google Shape;25;p3">
            <a:extLst>
              <a:ext uri="{FF2B5EF4-FFF2-40B4-BE49-F238E27FC236}">
                <a16:creationId xmlns:a16="http://schemas.microsoft.com/office/drawing/2014/main" id="{17228382-7464-0B87-9EFC-774A1737EE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52420" y="146057"/>
            <a:ext cx="9299277" cy="494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ato"/>
              <a:buNone/>
              <a:defRPr sz="40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 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" name="Google Shape;68;p7"/>
          <p:cNvSpPr txBox="1"/>
          <p:nvPr/>
        </p:nvSpPr>
        <p:spPr>
          <a:xfrm>
            <a:off x="11650894" y="6447034"/>
            <a:ext cx="541200" cy="243900"/>
          </a:xfrm>
          <a:prstGeom prst="rect">
            <a:avLst/>
          </a:prstGeom>
          <a:solidFill>
            <a:srgbClr val="001A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‹#›</a:t>
            </a:fld>
            <a:endParaRPr sz="1600" b="0" i="0" u="none" strike="noStrike" cap="none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2" name="Google Shape;25;p3">
            <a:extLst>
              <a:ext uri="{FF2B5EF4-FFF2-40B4-BE49-F238E27FC236}">
                <a16:creationId xmlns:a16="http://schemas.microsoft.com/office/drawing/2014/main" id="{C0FE1E0A-C1EB-CA36-D612-6B1D090A0C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52420" y="146057"/>
            <a:ext cx="9471805" cy="494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ato"/>
              <a:buNone/>
              <a:defRPr sz="40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userDrawn="1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8"/>
          <p:cNvSpPr txBox="1"/>
          <p:nvPr/>
        </p:nvSpPr>
        <p:spPr>
          <a:xfrm>
            <a:off x="11650894" y="6447034"/>
            <a:ext cx="541200" cy="243900"/>
          </a:xfrm>
          <a:prstGeom prst="rect">
            <a:avLst/>
          </a:prstGeom>
          <a:solidFill>
            <a:srgbClr val="001A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‹#›</a:t>
            </a:fld>
            <a:endParaRPr sz="1600" b="0" i="0" u="none" strike="noStrike" cap="none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2" name="Google Shape;25;p3">
            <a:extLst>
              <a:ext uri="{FF2B5EF4-FFF2-40B4-BE49-F238E27FC236}">
                <a16:creationId xmlns:a16="http://schemas.microsoft.com/office/drawing/2014/main" id="{107AA2DD-FFA2-8D2D-D19C-8768C0CAF9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52421" y="146057"/>
            <a:ext cx="9273398" cy="494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ato"/>
              <a:buNone/>
              <a:defRPr sz="40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"/>
          <p:cNvSpPr txBox="1">
            <a:spLocks noGrp="1"/>
          </p:cNvSpPr>
          <p:nvPr>
            <p:ph type="body" idx="1"/>
          </p:nvPr>
        </p:nvSpPr>
        <p:spPr>
          <a:xfrm>
            <a:off x="5141343" y="957531"/>
            <a:ext cx="6464237" cy="5214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 dirty="0"/>
          </a:p>
        </p:txBody>
      </p:sp>
      <p:sp>
        <p:nvSpPr>
          <p:cNvPr id="82" name="Google Shape;82;p9"/>
          <p:cNvSpPr txBox="1">
            <a:spLocks noGrp="1"/>
          </p:cNvSpPr>
          <p:nvPr>
            <p:ph type="body" idx="2"/>
          </p:nvPr>
        </p:nvSpPr>
        <p:spPr>
          <a:xfrm>
            <a:off x="684513" y="153415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3" name="Google Shape;83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9"/>
          <p:cNvSpPr txBox="1">
            <a:spLocks noGrp="1"/>
          </p:cNvSpPr>
          <p:nvPr>
            <p:ph type="ftr" idx="11"/>
          </p:nvPr>
        </p:nvSpPr>
        <p:spPr>
          <a:xfrm>
            <a:off x="3709737" y="6356349"/>
            <a:ext cx="4772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9"/>
          <p:cNvSpPr txBox="1">
            <a:spLocks noGrp="1"/>
          </p:cNvSpPr>
          <p:nvPr>
            <p:ph type="sldNum" idx="12"/>
          </p:nvPr>
        </p:nvSpPr>
        <p:spPr>
          <a:xfrm>
            <a:off x="886238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" name="Google Shape;86;p9"/>
          <p:cNvSpPr txBox="1">
            <a:spLocks noGrp="1"/>
          </p:cNvSpPr>
          <p:nvPr>
            <p:ph type="title"/>
          </p:nvPr>
        </p:nvSpPr>
        <p:spPr>
          <a:xfrm>
            <a:off x="948754" y="71125"/>
            <a:ext cx="9437449" cy="599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7" name="Google Shape;87;p9"/>
          <p:cNvSpPr txBox="1">
            <a:spLocks noGrp="1"/>
          </p:cNvSpPr>
          <p:nvPr>
            <p:ph type="body" idx="3"/>
          </p:nvPr>
        </p:nvSpPr>
        <p:spPr>
          <a:xfrm>
            <a:off x="682925" y="957531"/>
            <a:ext cx="39321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8" name="Google Shape;88;p9"/>
          <p:cNvSpPr txBox="1"/>
          <p:nvPr/>
        </p:nvSpPr>
        <p:spPr>
          <a:xfrm>
            <a:off x="11650894" y="6447034"/>
            <a:ext cx="541200" cy="243900"/>
          </a:xfrm>
          <a:prstGeom prst="rect">
            <a:avLst/>
          </a:prstGeom>
          <a:solidFill>
            <a:srgbClr val="001A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‹#›</a:t>
            </a:fld>
            <a:endParaRPr sz="1600" b="0" i="0" u="none" strike="noStrike" cap="none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userDrawn="1">
  <p:cSld name="PICTURE_WITH_CAPTION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 dirty="0"/>
          </a:p>
        </p:txBody>
      </p:sp>
      <p:sp>
        <p:nvSpPr>
          <p:cNvPr id="95" name="Google Shape;9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Google Shape;86;p9">
            <a:extLst>
              <a:ext uri="{FF2B5EF4-FFF2-40B4-BE49-F238E27FC236}">
                <a16:creationId xmlns:a16="http://schemas.microsoft.com/office/drawing/2014/main" id="{BE6E3621-4F46-4C03-D6DD-7DD18C357A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48755" y="71125"/>
            <a:ext cx="8842226" cy="599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userDrawn="1">
  <p:cSld name="VERTICAL_TEX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1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Google Shape;25;p3">
            <a:extLst>
              <a:ext uri="{FF2B5EF4-FFF2-40B4-BE49-F238E27FC236}">
                <a16:creationId xmlns:a16="http://schemas.microsoft.com/office/drawing/2014/main" id="{5D243A25-F706-5C6D-B809-FA1CD2182E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52421" y="146057"/>
            <a:ext cx="9394168" cy="494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ato"/>
              <a:buNone/>
              <a:defRPr sz="40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3"/>
          <p:cNvSpPr txBox="1">
            <a:spLocks noGrp="1"/>
          </p:cNvSpPr>
          <p:nvPr>
            <p:ph type="ctrTitle"/>
          </p:nvPr>
        </p:nvSpPr>
        <p:spPr>
          <a:xfrm>
            <a:off x="920416" y="1449514"/>
            <a:ext cx="10351200" cy="11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Lato Black"/>
              <a:buNone/>
              <a:defRPr sz="6000"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1"/>
          </p:nvPr>
        </p:nvSpPr>
        <p:spPr>
          <a:xfrm>
            <a:off x="1524000" y="2737367"/>
            <a:ext cx="9144000" cy="5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 dirty="0"/>
          </a:p>
        </p:txBody>
      </p:sp>
      <p:sp>
        <p:nvSpPr>
          <p:cNvPr id="117" name="Google Shape;11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" name="Google Shape;120;p13"/>
          <p:cNvSpPr txBox="1">
            <a:spLocks noGrp="1"/>
          </p:cNvSpPr>
          <p:nvPr>
            <p:ph type="body" idx="2"/>
          </p:nvPr>
        </p:nvSpPr>
        <p:spPr>
          <a:xfrm>
            <a:off x="3361500" y="3424620"/>
            <a:ext cx="5469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" name="Google Shape;28;p3">
            <a:extLst>
              <a:ext uri="{FF2B5EF4-FFF2-40B4-BE49-F238E27FC236}">
                <a16:creationId xmlns:a16="http://schemas.microsoft.com/office/drawing/2014/main" id="{5163D486-7797-844F-819E-797BB9967CC6}"/>
              </a:ext>
            </a:extLst>
          </p:cNvPr>
          <p:cNvPicPr preferRelativeResize="0"/>
          <p:nvPr userDrawn="1"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3130" y="136266"/>
            <a:ext cx="9144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9;p3" title="RectLogo_transparent.png">
            <a:extLst>
              <a:ext uri="{FF2B5EF4-FFF2-40B4-BE49-F238E27FC236}">
                <a16:creationId xmlns:a16="http://schemas.microsoft.com/office/drawing/2014/main" id="{7729121E-C17C-0366-81D1-6A774341F949}"/>
              </a:ext>
            </a:extLst>
          </p:cNvPr>
          <p:cNvPicPr preferRelativeResize="0"/>
          <p:nvPr userDrawn="1"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0581654" y="173862"/>
            <a:ext cx="1391892" cy="439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3D70CD3-631A-CD5D-7802-00AD94D08430}"/>
              </a:ext>
            </a:extLst>
          </p:cNvPr>
          <p:cNvCxnSpPr/>
          <p:nvPr userDrawn="1"/>
        </p:nvCxnSpPr>
        <p:spPr>
          <a:xfrm>
            <a:off x="0" y="801800"/>
            <a:ext cx="12192000" cy="0"/>
          </a:xfrm>
          <a:prstGeom prst="line">
            <a:avLst/>
          </a:prstGeom>
          <a:ln w="19050">
            <a:solidFill>
              <a:srgbClr val="0522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7EAC2C6-B7CF-1A4A-5DA6-A4B3908ED2F4}"/>
              </a:ext>
            </a:extLst>
          </p:cNvPr>
          <p:cNvCxnSpPr/>
          <p:nvPr userDrawn="1"/>
        </p:nvCxnSpPr>
        <p:spPr>
          <a:xfrm>
            <a:off x="0" y="833436"/>
            <a:ext cx="12192000" cy="0"/>
          </a:xfrm>
          <a:prstGeom prst="line">
            <a:avLst/>
          </a:prstGeom>
          <a:ln w="19050">
            <a:solidFill>
              <a:srgbClr val="0522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8"/>
          <p:cNvSpPr txBox="1">
            <a:spLocks noGrp="1"/>
          </p:cNvSpPr>
          <p:nvPr>
            <p:ph type="ctrTitle"/>
          </p:nvPr>
        </p:nvSpPr>
        <p:spPr>
          <a:xfrm>
            <a:off x="920416" y="1449514"/>
            <a:ext cx="10351168" cy="1151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/>
            <a:r>
              <a:rPr lang="en-US" dirty="0"/>
              <a:t>MODEL TRAINING</a:t>
            </a:r>
            <a:endParaRPr dirty="0"/>
          </a:p>
        </p:txBody>
      </p:sp>
      <p:sp>
        <p:nvSpPr>
          <p:cNvPr id="429" name="Google Shape;429;p48"/>
          <p:cNvSpPr txBox="1">
            <a:spLocks noGrp="1"/>
          </p:cNvSpPr>
          <p:nvPr>
            <p:ph type="subTitle" idx="1"/>
          </p:nvPr>
        </p:nvSpPr>
        <p:spPr>
          <a:xfrm>
            <a:off x="1524000" y="2699731"/>
            <a:ext cx="9144000" cy="551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Teaching a Computer to Recognize Faces</a:t>
            </a:r>
          </a:p>
        </p:txBody>
      </p:sp>
      <p:sp>
        <p:nvSpPr>
          <p:cNvPr id="430" name="Google Shape;430;p48"/>
          <p:cNvSpPr txBox="1">
            <a:spLocks noGrp="1"/>
          </p:cNvSpPr>
          <p:nvPr>
            <p:ph type="body" idx="2"/>
          </p:nvPr>
        </p:nvSpPr>
        <p:spPr>
          <a:xfrm>
            <a:off x="3361531" y="3408595"/>
            <a:ext cx="5468937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dirty="0"/>
              <a:t>Workshop 1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9"/>
          <p:cNvSpPr txBox="1">
            <a:spLocks noGrp="1"/>
          </p:cNvSpPr>
          <p:nvPr>
            <p:ph type="title"/>
          </p:nvPr>
        </p:nvSpPr>
        <p:spPr>
          <a:xfrm>
            <a:off x="1234440" y="49116"/>
            <a:ext cx="9025127" cy="735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ato"/>
              <a:buNone/>
            </a:pPr>
            <a:r>
              <a:rPr lang="en-US" b="1" dirty="0">
                <a:solidFill>
                  <a:srgbClr val="04215B"/>
                </a:solidFill>
                <a:latin typeface="Lato Heavy" panose="020F0502020204030203" pitchFamily="34" charset="0"/>
                <a:cs typeface="Lato Heavy" panose="020F0502020204030203" pitchFamily="34" charset="0"/>
              </a:rPr>
              <a:t>Understanding Embeddings</a:t>
            </a:r>
            <a:endParaRPr b="1" dirty="0">
              <a:solidFill>
                <a:srgbClr val="04215B"/>
              </a:solidFill>
              <a:latin typeface="Lato Heavy" panose="020F0502020204030203" pitchFamily="34" charset="0"/>
              <a:cs typeface="Lato Heavy" panose="020F0502020204030203" pitchFamily="34" charset="0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D76394F-23D9-8DFA-35CC-53774538C5FF}"/>
              </a:ext>
            </a:extLst>
          </p:cNvPr>
          <p:cNvSpPr>
            <a:spLocks noGrp="1"/>
          </p:cNvSpPr>
          <p:nvPr/>
        </p:nvSpPr>
        <p:spPr>
          <a:xfrm>
            <a:off x="8277228" y="2759800"/>
            <a:ext cx="3756889" cy="1514475"/>
          </a:xfrm>
          <a:prstGeom prst="roundRect">
            <a:avLst>
              <a:gd name="adj" fmla="val 3265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720768-D4BB-3F53-DA52-599E38C42C72}"/>
              </a:ext>
            </a:extLst>
          </p:cNvPr>
          <p:cNvSpPr>
            <a:spLocks noGrp="1"/>
          </p:cNvSpPr>
          <p:nvPr/>
        </p:nvSpPr>
        <p:spPr>
          <a:xfrm>
            <a:off x="8277227" y="2759800"/>
            <a:ext cx="3756890" cy="45719"/>
          </a:xfrm>
          <a:prstGeom prst="rect">
            <a:avLst/>
          </a:prstGeom>
          <a:solidFill>
            <a:srgbClr val="E9713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0A86D4-54B0-B7BE-7E79-5FFE372DB42F}"/>
              </a:ext>
            </a:extLst>
          </p:cNvPr>
          <p:cNvSpPr>
            <a:spLocks noGrp="1"/>
          </p:cNvSpPr>
          <p:nvPr/>
        </p:nvSpPr>
        <p:spPr>
          <a:xfrm>
            <a:off x="8557494" y="2969350"/>
            <a:ext cx="33337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dirty="0"/>
              <a:t>Classroom analogy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07EA28-B4F5-F06F-A01D-02770094437E}"/>
              </a:ext>
            </a:extLst>
          </p:cNvPr>
          <p:cNvSpPr>
            <a:spLocks noGrp="1"/>
          </p:cNvSpPr>
          <p:nvPr/>
        </p:nvSpPr>
        <p:spPr>
          <a:xfrm>
            <a:off x="8557494" y="3426551"/>
            <a:ext cx="3333750" cy="694614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rPr dirty="0"/>
              <a:t>Imagine a passport that lists 128 precise numbers about a face instead of showing a photo.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05CE661-E3D0-3E4C-BB5C-96BD1A420F97}"/>
              </a:ext>
            </a:extLst>
          </p:cNvPr>
          <p:cNvSpPr>
            <a:spLocks noGrp="1"/>
          </p:cNvSpPr>
          <p:nvPr/>
        </p:nvSpPr>
        <p:spPr>
          <a:xfrm>
            <a:off x="8277227" y="1092215"/>
            <a:ext cx="3756892" cy="1514475"/>
          </a:xfrm>
          <a:prstGeom prst="roundRect">
            <a:avLst>
              <a:gd name="adj" fmla="val 3265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357423-6FB8-B57D-39F3-D28A6B8B052B}"/>
              </a:ext>
            </a:extLst>
          </p:cNvPr>
          <p:cNvSpPr>
            <a:spLocks noGrp="1"/>
          </p:cNvSpPr>
          <p:nvPr/>
        </p:nvSpPr>
        <p:spPr>
          <a:xfrm>
            <a:off x="8277227" y="1092215"/>
            <a:ext cx="3756892" cy="56440"/>
          </a:xfrm>
          <a:prstGeom prst="rect">
            <a:avLst/>
          </a:prstGeom>
          <a:solidFill>
            <a:srgbClr val="156082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8D13FE-4096-44E3-EB55-FD63B7847795}"/>
              </a:ext>
            </a:extLst>
          </p:cNvPr>
          <p:cNvSpPr>
            <a:spLocks noGrp="1"/>
          </p:cNvSpPr>
          <p:nvPr/>
        </p:nvSpPr>
        <p:spPr>
          <a:xfrm>
            <a:off x="8434245" y="1301765"/>
            <a:ext cx="3409373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56082"/>
                </a:solidFill>
                <a:latin typeface="Arial"/>
                <a:ea typeface="Arial"/>
                <a:cs typeface="Arial"/>
              </a:defRPr>
            </a:pPr>
            <a:r>
              <a:rPr dirty="0"/>
              <a:t>Technical term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41B420-B84B-1539-74A6-5FCF491F4E13}"/>
              </a:ext>
            </a:extLst>
          </p:cNvPr>
          <p:cNvSpPr>
            <a:spLocks noGrp="1"/>
          </p:cNvSpPr>
          <p:nvPr/>
        </p:nvSpPr>
        <p:spPr>
          <a:xfrm>
            <a:off x="8434245" y="1615599"/>
            <a:ext cx="3409373" cy="847724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rPr dirty="0"/>
              <a:t>An embedding is a compact vector. In this lab, the model maps each face image to 128 numbers. Similar faces should land near each other in embedding space.</a:t>
            </a:r>
          </a:p>
        </p:txBody>
      </p:sp>
      <p:pic>
        <p:nvPicPr>
          <p:cNvPr id="1030" name="Picture 6" descr="Embeddings: Meaning, Examples and How To Compute - Arize AI">
            <a:extLst>
              <a:ext uri="{FF2B5EF4-FFF2-40B4-BE49-F238E27FC236}">
                <a16:creationId xmlns:a16="http://schemas.microsoft.com/office/drawing/2014/main" id="{64FD9690-E574-527D-50B7-4205E2BE97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3" r="1410" b="2803"/>
          <a:stretch>
            <a:fillRect/>
          </a:stretch>
        </p:blipFill>
        <p:spPr bwMode="auto">
          <a:xfrm>
            <a:off x="157881" y="961188"/>
            <a:ext cx="7927400" cy="4439865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36;p49">
            <a:extLst>
              <a:ext uri="{FF2B5EF4-FFF2-40B4-BE49-F238E27FC236}">
                <a16:creationId xmlns:a16="http://schemas.microsoft.com/office/drawing/2014/main" id="{4B6F3758-A0A9-0759-3A31-1FAC118FFD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4440" y="49116"/>
            <a:ext cx="9025127" cy="735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ato"/>
              <a:buNone/>
            </a:pPr>
            <a:r>
              <a:rPr lang="en-US" b="1" dirty="0">
                <a:solidFill>
                  <a:srgbClr val="04215B"/>
                </a:solidFill>
                <a:latin typeface="Lato Heavy" panose="020F0502020204030203" pitchFamily="34" charset="0"/>
                <a:cs typeface="Lato Heavy" panose="020F0502020204030203" pitchFamily="34" charset="0"/>
              </a:rPr>
              <a:t>Classification vs Embedding</a:t>
            </a:r>
            <a:endParaRPr b="1" dirty="0">
              <a:solidFill>
                <a:srgbClr val="04215B"/>
              </a:solidFill>
              <a:latin typeface="Lato Heavy" panose="020F0502020204030203" pitchFamily="34" charset="0"/>
              <a:cs typeface="Lato Heavy" panose="020F0502020204030203" pitchFamily="34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019A836-5DD4-E525-DD39-BBC8639DEDCE}"/>
              </a:ext>
            </a:extLst>
          </p:cNvPr>
          <p:cNvSpPr>
            <a:spLocks noGrp="1"/>
          </p:cNvSpPr>
          <p:nvPr/>
        </p:nvSpPr>
        <p:spPr>
          <a:xfrm>
            <a:off x="914400" y="1230169"/>
            <a:ext cx="4476750" cy="1522267"/>
          </a:xfrm>
          <a:prstGeom prst="roundRect">
            <a:avLst>
              <a:gd name="adj" fmla="val 2807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353AE7-4DF4-62A1-FF7C-8622A236614D}"/>
              </a:ext>
            </a:extLst>
          </p:cNvPr>
          <p:cNvSpPr>
            <a:spLocks noGrp="1"/>
          </p:cNvSpPr>
          <p:nvPr/>
        </p:nvSpPr>
        <p:spPr>
          <a:xfrm>
            <a:off x="914400" y="1230169"/>
            <a:ext cx="4476750" cy="57150"/>
          </a:xfrm>
          <a:prstGeom prst="rect">
            <a:avLst/>
          </a:prstGeom>
          <a:solidFill>
            <a:srgbClr val="A02B93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08BE75-EF2B-130A-7ED6-8548A7EABD05}"/>
              </a:ext>
            </a:extLst>
          </p:cNvPr>
          <p:cNvSpPr>
            <a:spLocks noGrp="1"/>
          </p:cNvSpPr>
          <p:nvPr/>
        </p:nvSpPr>
        <p:spPr>
          <a:xfrm>
            <a:off x="1104900" y="1439719"/>
            <a:ext cx="40957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A02B93"/>
                </a:solidFill>
                <a:latin typeface="Arial"/>
                <a:ea typeface="Arial"/>
                <a:cs typeface="Arial"/>
              </a:defRPr>
            </a:pPr>
            <a:r>
              <a:t>Classification model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4F57A4-CA55-5AFE-B659-0FB044CE7B4B}"/>
              </a:ext>
            </a:extLst>
          </p:cNvPr>
          <p:cNvSpPr>
            <a:spLocks noGrp="1"/>
          </p:cNvSpPr>
          <p:nvPr/>
        </p:nvSpPr>
        <p:spPr>
          <a:xfrm>
            <a:off x="1104900" y="1896919"/>
            <a:ext cx="4095750" cy="73544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rPr dirty="0"/>
              <a:t>Good for fixed categories like cat, dog, or car. A new student usually means changing the class list and retraining.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F4C593D-8BD3-C49B-B222-40FB05266810}"/>
              </a:ext>
            </a:extLst>
          </p:cNvPr>
          <p:cNvSpPr>
            <a:spLocks noGrp="1"/>
          </p:cNvSpPr>
          <p:nvPr/>
        </p:nvSpPr>
        <p:spPr>
          <a:xfrm>
            <a:off x="6671545" y="1230169"/>
            <a:ext cx="4476750" cy="1522267"/>
          </a:xfrm>
          <a:prstGeom prst="roundRect">
            <a:avLst>
              <a:gd name="adj" fmla="val 2807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32C921-08BF-C915-057E-93AF78460863}"/>
              </a:ext>
            </a:extLst>
          </p:cNvPr>
          <p:cNvSpPr>
            <a:spLocks noGrp="1"/>
          </p:cNvSpPr>
          <p:nvPr/>
        </p:nvSpPr>
        <p:spPr>
          <a:xfrm>
            <a:off x="6671545" y="1230169"/>
            <a:ext cx="4476750" cy="57150"/>
          </a:xfrm>
          <a:prstGeom prst="rect">
            <a:avLst/>
          </a:prstGeom>
          <a:solidFill>
            <a:srgbClr val="196B24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DDE1C9-4BC6-9989-BEBA-23826EB36C18}"/>
              </a:ext>
            </a:extLst>
          </p:cNvPr>
          <p:cNvSpPr>
            <a:spLocks noGrp="1"/>
          </p:cNvSpPr>
          <p:nvPr/>
        </p:nvSpPr>
        <p:spPr>
          <a:xfrm>
            <a:off x="6862045" y="1439719"/>
            <a:ext cx="40957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96B24"/>
                </a:solidFill>
                <a:latin typeface="Arial"/>
                <a:ea typeface="Arial"/>
                <a:cs typeface="Arial"/>
              </a:defRPr>
            </a:pPr>
            <a:r>
              <a:rPr dirty="0"/>
              <a:t>Embedding model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9E6C9B-5083-64ED-40A5-3E60733ED24F}"/>
              </a:ext>
            </a:extLst>
          </p:cNvPr>
          <p:cNvSpPr>
            <a:spLocks noGrp="1"/>
          </p:cNvSpPr>
          <p:nvPr/>
        </p:nvSpPr>
        <p:spPr>
          <a:xfrm>
            <a:off x="6862045" y="1896919"/>
            <a:ext cx="4095750" cy="73544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rPr dirty="0"/>
              <a:t>Stores one or more embeddings per person. Adding someone means adding examples to the database, not retraining the whole network.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39C5F4B-727B-D92A-E98C-0F519A9632D0}"/>
              </a:ext>
            </a:extLst>
          </p:cNvPr>
          <p:cNvSpPr>
            <a:spLocks noGrp="1"/>
          </p:cNvSpPr>
          <p:nvPr/>
        </p:nvSpPr>
        <p:spPr>
          <a:xfrm>
            <a:off x="4036290" y="3258341"/>
            <a:ext cx="3850409" cy="457200"/>
          </a:xfrm>
          <a:prstGeom prst="roundRect">
            <a:avLst>
              <a:gd name="adj" fmla="val 16667"/>
            </a:avLst>
          </a:prstGeom>
          <a:solidFill>
            <a:srgbClr val="156082"/>
          </a:solidFill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6E3BE9D-14FF-6D03-62D1-228175E7493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137890" y="3325016"/>
                <a:ext cx="3653559" cy="361950"/>
              </a:xfrm>
              <a:prstGeom prst="rect">
                <a:avLst/>
              </a:prstGeom>
            </p:spPr>
            <p:txBody>
              <a:bodyPr lIns="0" tIns="0" rIns="0" bIns="0" anchor="ctr"/>
              <a:lstStyle/>
              <a:p>
                <a:pPr algn="ctr">
                  <a:defRPr sz="135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r>
                  <a:rPr dirty="0"/>
                  <a:t>Add person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dirty="0"/>
                  <a:t> add embedding</a:t>
                </a:r>
              </a:p>
            </p:txBody>
          </p:sp>
        </mc:Choice>
        <mc:Fallback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6E3BE9D-14FF-6D03-62D1-228175E749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7890" y="3325016"/>
                <a:ext cx="3653559" cy="361950"/>
              </a:xfrm>
              <a:prstGeom prst="rect">
                <a:avLst/>
              </a:prstGeom>
              <a:blipFill>
                <a:blip r:embed="rId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3387106"/>
      </p:ext>
    </p:extLst>
  </p:cSld>
  <p:clrMapOvr>
    <a:masterClrMapping/>
  </p:clrMapOvr>
</p:sld>
</file>

<file path=ppt/theme/theme1.xml><?xml version="1.0" encoding="utf-8"?>
<a:theme xmlns:a="http://schemas.openxmlformats.org/drawingml/2006/main" name="2_MPS_Lab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124</Words>
  <Application>Microsoft Macintosh PowerPoint</Application>
  <PresentationFormat>Widescreen</PresentationFormat>
  <Paragraphs>14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Arial</vt:lpstr>
      <vt:lpstr>Lato Heavy</vt:lpstr>
      <vt:lpstr>Lato</vt:lpstr>
      <vt:lpstr>Aptos</vt:lpstr>
      <vt:lpstr>Lato Black</vt:lpstr>
      <vt:lpstr>Cambria Math</vt:lpstr>
      <vt:lpstr>Times New Roman</vt:lpstr>
      <vt:lpstr>2_MPS_Lab</vt:lpstr>
      <vt:lpstr>MODEL TRAINING</vt:lpstr>
      <vt:lpstr>Understanding Embeddings</vt:lpstr>
      <vt:lpstr>Classification vs Embedding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Vinayak Sharma</dc:creator>
  <cp:lastModifiedBy>Vinayak Sharma (Student)</cp:lastModifiedBy>
  <cp:revision>34</cp:revision>
  <dcterms:modified xsi:type="dcterms:W3CDTF">2026-05-26T01:39:20Z</dcterms:modified>
</cp:coreProperties>
</file>