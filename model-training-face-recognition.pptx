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>
            <a:extLst>
              <a:ext uri="{FF2B5EF4-FFF2-40B4-BE49-F238E27FC236}">
                <a16:creationId xmlns:a16="http://schemas.microsoft.com/office/drawing/2014/main" id="{3D948D8E-7739-4C04-8A09-7A960BB36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1343" y="957531"/>
            <a:ext cx="6464237" cy="521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82" name="Google Shape;82;p9">
            <a:extLst>
              <a:ext uri="{FF2B5EF4-FFF2-40B4-BE49-F238E27FC236}">
                <a16:creationId xmlns:a16="http://schemas.microsoft.com/office/drawing/2014/main" id="{56593780-CCB1-4EB7-BF70-86659881BD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4513" y="153415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9">
            <a:extLst>
              <a:ext uri="{FF2B5EF4-FFF2-40B4-BE49-F238E27FC236}">
                <a16:creationId xmlns:a16="http://schemas.microsoft.com/office/drawing/2014/main" id="{B7E67F89-6CA4-4710-AB00-0ABB403DA92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>
            <a:extLst>
              <a:ext uri="{FF2B5EF4-FFF2-40B4-BE49-F238E27FC236}">
                <a16:creationId xmlns:a16="http://schemas.microsoft.com/office/drawing/2014/main" id="{E414A1B2-8074-493E-A567-0157940D02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709737" y="6356349"/>
            <a:ext cx="477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>
            <a:extLst>
              <a:ext uri="{FF2B5EF4-FFF2-40B4-BE49-F238E27FC236}">
                <a16:creationId xmlns:a16="http://schemas.microsoft.com/office/drawing/2014/main" id="{5EDA73BF-A4FF-4916-891E-BCA41451EB1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623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>
            <a:extLst>
              <a:ext uri="{FF2B5EF4-FFF2-40B4-BE49-F238E27FC236}">
                <a16:creationId xmlns:a16="http://schemas.microsoft.com/office/drawing/2014/main" id="{A9898E4A-79DF-4BF2-A2A3-B18F2E28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754" y="71125"/>
            <a:ext cx="9437449" cy="59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">
            <a:extLst>
              <a:ext uri="{FF2B5EF4-FFF2-40B4-BE49-F238E27FC236}">
                <a16:creationId xmlns:a16="http://schemas.microsoft.com/office/drawing/2014/main" id="{CA7ADC9B-9F86-4498-A349-D51D5BB8108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82925" y="957531"/>
            <a:ext cx="3932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EB2A9EF0-AA44-4AA8-9D5F-AE58C5EF796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55046782-CE41-4C37-90E8-B954277F08E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CFF0E462-59B0-466F-B1EE-9B2A653A0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2001878"/>
            <a:ext cx="103512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latin typeface="Aptos"/>
                <a:ea typeface="Aptos"/>
                <a:cs typeface="Aptos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5B31A2DE-77C4-4A16-B2C3-2FF3D96BC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1152"/>
            <a:ext cx="91440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>
                <a:latin typeface="Aptos"/>
                <a:ea typeface="Aptos"/>
                <a:cs typeface="Aptos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>
            <a:extLst>
              <a:ext uri="{FF2B5EF4-FFF2-40B4-BE49-F238E27FC236}">
                <a16:creationId xmlns:a16="http://schemas.microsoft.com/office/drawing/2014/main" id="{C962F755-F2AE-4449-A471-4D7BE6071F8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">
            <a:extLst>
              <a:ext uri="{FF2B5EF4-FFF2-40B4-BE49-F238E27FC236}">
                <a16:creationId xmlns:a16="http://schemas.microsoft.com/office/drawing/2014/main" id="{AF9AE547-AECA-423B-8C45-D31D3C6FADC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>
            <a:extLst>
              <a:ext uri="{FF2B5EF4-FFF2-40B4-BE49-F238E27FC236}">
                <a16:creationId xmlns:a16="http://schemas.microsoft.com/office/drawing/2014/main" id="{4F1332D3-0281-4593-BF15-F106A7376D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107AA2DD-FFA2-8D2D-D19C-8768C0CA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21" y="146057"/>
            <a:ext cx="9273398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710E965A-D09A-465A-9BC5-7562CA8DF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A5704EF9-AE3A-49FF-A7D1-4440F3C3CB4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2FD4740F-E8D5-4EB4-A40D-7FACF686A77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714FF36F-E41B-4B3B-8ED1-18CD63D3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21" y="146057"/>
            <a:ext cx="9238892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A9AE15A2-C37C-45A8-A499-D488FEF63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1449514"/>
            <a:ext cx="103512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Lato Black"/>
                <a:ea typeface="Lato Black"/>
                <a:cs typeface="Lato Black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DC7679D7-EC93-4E48-A9F5-C7C249219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9731"/>
            <a:ext cx="91440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>
                <a:latin typeface="Lato"/>
                <a:ea typeface="Lato"/>
                <a:cs typeface="Lato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72B1209A-F821-4B46-8E10-AFCB7A6A2DA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>
            <a:extLst>
              <a:ext uri="{FF2B5EF4-FFF2-40B4-BE49-F238E27FC236}">
                <a16:creationId xmlns:a16="http://schemas.microsoft.com/office/drawing/2014/main" id="{5C921903-4A85-4B92-A71C-E016EB3FCB7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>
            <a:extLst>
              <a:ext uri="{FF2B5EF4-FFF2-40B4-BE49-F238E27FC236}">
                <a16:creationId xmlns:a16="http://schemas.microsoft.com/office/drawing/2014/main" id="{43C77D91-7066-4727-8760-203F64C130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>
            <a:extLst>
              <a:ext uri="{FF2B5EF4-FFF2-40B4-BE49-F238E27FC236}">
                <a16:creationId xmlns:a16="http://schemas.microsoft.com/office/drawing/2014/main" id="{7D665AD8-C01C-472E-8DA4-CB30604EDA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61531" y="3408595"/>
            <a:ext cx="546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0C3119FB-E243-4AF7-A534-A7C16C6ED3D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776B86D7-88D3-4DA4-A2C6-43B335AB31E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8108DC29-28D0-45DF-86F4-AE9434A5C3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C0FE1E0A-C1EB-CA36-D612-6B1D090A0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20" y="146057"/>
            <a:ext cx="9471805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>
            <a:extLst>
              <a:ext uri="{FF2B5EF4-FFF2-40B4-BE49-F238E27FC236}">
                <a16:creationId xmlns:a16="http://schemas.microsoft.com/office/drawing/2014/main" id="{A6E97ADC-98FD-4E3C-B621-861F65692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16" y="1449514"/>
            <a:ext cx="103512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Lato Black"/>
                <a:ea typeface="Lato Black"/>
                <a:cs typeface="Lato Black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>
            <a:extLst>
              <a:ext uri="{FF2B5EF4-FFF2-40B4-BE49-F238E27FC236}">
                <a16:creationId xmlns:a16="http://schemas.microsoft.com/office/drawing/2014/main" id="{174F30EC-C75B-4FCD-B738-53309F65A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7367"/>
            <a:ext cx="91440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>
                <a:latin typeface="Lato"/>
                <a:ea typeface="Lato"/>
                <a:cs typeface="Lato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17" name="Google Shape;117;p13">
            <a:extLst>
              <a:ext uri="{FF2B5EF4-FFF2-40B4-BE49-F238E27FC236}">
                <a16:creationId xmlns:a16="http://schemas.microsoft.com/office/drawing/2014/main" id="{02FE9722-3B53-458F-BF8E-4502C16B4A9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3">
            <a:extLst>
              <a:ext uri="{FF2B5EF4-FFF2-40B4-BE49-F238E27FC236}">
                <a16:creationId xmlns:a16="http://schemas.microsoft.com/office/drawing/2014/main" id="{9127CDEC-3414-4D2C-AF79-1E941A459CF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>
            <a:extLst>
              <a:ext uri="{FF2B5EF4-FFF2-40B4-BE49-F238E27FC236}">
                <a16:creationId xmlns:a16="http://schemas.microsoft.com/office/drawing/2014/main" id="{16C1173E-2CB1-432E-93DD-FD96156959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>
            <a:extLst>
              <a:ext uri="{FF2B5EF4-FFF2-40B4-BE49-F238E27FC236}">
                <a16:creationId xmlns:a16="http://schemas.microsoft.com/office/drawing/2014/main" id="{B92B1411-F2C7-496C-A7D3-15D9F4621A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61500" y="3424620"/>
            <a:ext cx="546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>
            <a:extLst>
              <a:ext uri="{FF2B5EF4-FFF2-40B4-BE49-F238E27FC236}">
                <a16:creationId xmlns:a16="http://schemas.microsoft.com/office/drawing/2014/main" id="{95E5CBF5-D607-4871-A83F-1A763E16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>
            <a:extLst>
              <a:ext uri="{FF2B5EF4-FFF2-40B4-BE49-F238E27FC236}">
                <a16:creationId xmlns:a16="http://schemas.microsoft.com/office/drawing/2014/main" id="{3F6C38F7-B8F2-44A0-843C-DA32986B36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>
            <a:extLst>
              <a:ext uri="{FF2B5EF4-FFF2-40B4-BE49-F238E27FC236}">
                <a16:creationId xmlns:a16="http://schemas.microsoft.com/office/drawing/2014/main" id="{B135BA8A-1229-467F-9F79-B5A5937B8A5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>
            <a:extLst>
              <a:ext uri="{FF2B5EF4-FFF2-40B4-BE49-F238E27FC236}">
                <a16:creationId xmlns:a16="http://schemas.microsoft.com/office/drawing/2014/main" id="{E5B45EBA-9749-475E-BB21-03D96AEC10A5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6">
            <a:extLst>
              <a:ext uri="{FF2B5EF4-FFF2-40B4-BE49-F238E27FC236}">
                <a16:creationId xmlns:a16="http://schemas.microsoft.com/office/drawing/2014/main" id="{AE2C6082-3188-4C5F-A228-9C3B1319F9B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>
            <a:extLst>
              <a:ext uri="{FF2B5EF4-FFF2-40B4-BE49-F238E27FC236}">
                <a16:creationId xmlns:a16="http://schemas.microsoft.com/office/drawing/2014/main" id="{8C10A2CC-5749-4DE3-9B36-A99371B2406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>
            <a:extLst>
              <a:ext uri="{FF2B5EF4-FFF2-40B4-BE49-F238E27FC236}">
                <a16:creationId xmlns:a16="http://schemas.microsoft.com/office/drawing/2014/main" id="{931DD6EB-8FC2-437F-991B-6BA3400D511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17228382-7464-0B87-9EFC-774A1737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20" y="146057"/>
            <a:ext cx="9299277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>
            <a:extLst>
              <a:ext uri="{FF2B5EF4-FFF2-40B4-BE49-F238E27FC236}">
                <a16:creationId xmlns:a16="http://schemas.microsoft.com/office/drawing/2014/main" id="{ACE50930-DF00-45E4-9D50-C06E64592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1">
            <a:extLst>
              <a:ext uri="{FF2B5EF4-FFF2-40B4-BE49-F238E27FC236}">
                <a16:creationId xmlns:a16="http://schemas.microsoft.com/office/drawing/2014/main" id="{2B8074DE-13C6-4D2D-AB30-9FDDFFA700D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>
            <a:extLst>
              <a:ext uri="{FF2B5EF4-FFF2-40B4-BE49-F238E27FC236}">
                <a16:creationId xmlns:a16="http://schemas.microsoft.com/office/drawing/2014/main" id="{84E83223-3450-45BE-98B2-7645F63FB6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1">
            <a:extLst>
              <a:ext uri="{FF2B5EF4-FFF2-40B4-BE49-F238E27FC236}">
                <a16:creationId xmlns:a16="http://schemas.microsoft.com/office/drawing/2014/main" id="{D7A3993C-81E4-423A-A088-D86A2AFFED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5D243A25-F706-5C6D-B809-FA1CD218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21" y="146057"/>
            <a:ext cx="9394168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>
            <a:extLst>
              <a:ext uri="{FF2B5EF4-FFF2-40B4-BE49-F238E27FC236}">
                <a16:creationId xmlns:a16="http://schemas.microsoft.com/office/drawing/2014/main" id="{31023F03-1E58-4C7F-8FD2-EDA56F604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40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>
                <a:latin typeface="Aptos"/>
                <a:ea typeface="Aptos"/>
                <a:cs typeface="Aptos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>
            <a:extLst>
              <a:ext uri="{FF2B5EF4-FFF2-40B4-BE49-F238E27FC236}">
                <a16:creationId xmlns:a16="http://schemas.microsoft.com/office/drawing/2014/main" id="{12217C83-ADF1-4EA0-98B7-E21A57C5C7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25340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>
                <a:latin typeface="Aptos"/>
                <a:ea typeface="Aptos"/>
                <a:cs typeface="Aptos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>
            <a:extLst>
              <a:ext uri="{FF2B5EF4-FFF2-40B4-BE49-F238E27FC236}">
                <a16:creationId xmlns:a16="http://schemas.microsoft.com/office/drawing/2014/main" id="{5F6644A3-63AD-490D-9C6D-DD0BEA6461D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>
            <a:extLst>
              <a:ext uri="{FF2B5EF4-FFF2-40B4-BE49-F238E27FC236}">
                <a16:creationId xmlns:a16="http://schemas.microsoft.com/office/drawing/2014/main" id="{2ECAB06F-7182-46BC-899A-053261F2A0D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>
            <a:extLst>
              <a:ext uri="{FF2B5EF4-FFF2-40B4-BE49-F238E27FC236}">
                <a16:creationId xmlns:a16="http://schemas.microsoft.com/office/drawing/2014/main" id="{AAE3AC3B-6A59-422F-9945-D3F37CF8DF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2" name="Google Shape;25;p3">
            <a:extLst>
              <a:ext uri="{FF2B5EF4-FFF2-40B4-BE49-F238E27FC236}">
                <a16:creationId xmlns:a16="http://schemas.microsoft.com/office/drawing/2014/main" id="{B01E623F-61D5-0141-AEAE-1C1DE6CDF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421" y="146057"/>
            <a:ext cx="9351036" cy="494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Aptos"/>
                <a:ea typeface="Aptos"/>
                <a:cs typeface="Aptos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>
            <a:extLst>
              <a:ext uri="{FF2B5EF4-FFF2-40B4-BE49-F238E27FC236}">
                <a16:creationId xmlns:a16="http://schemas.microsoft.com/office/drawing/2014/main" id="{BE17286A-7ABD-4C49-8BB8-C9130873A2F6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Google Shape;94;p10">
            <a:extLst>
              <a:ext uri="{FF2B5EF4-FFF2-40B4-BE49-F238E27FC236}">
                <a16:creationId xmlns:a16="http://schemas.microsoft.com/office/drawing/2014/main" id="{97D41FCC-034C-41B5-9CAB-EF61FCEA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95" name="Google Shape;95;p10">
            <a:extLst>
              <a:ext uri="{FF2B5EF4-FFF2-40B4-BE49-F238E27FC236}">
                <a16:creationId xmlns:a16="http://schemas.microsoft.com/office/drawing/2014/main" id="{0150BFE2-2518-4196-AD51-57C0639A1AB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0">
            <a:extLst>
              <a:ext uri="{FF2B5EF4-FFF2-40B4-BE49-F238E27FC236}">
                <a16:creationId xmlns:a16="http://schemas.microsoft.com/office/drawing/2014/main" id="{864428E8-2A6A-4B9A-A927-01D933A835B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0">
            <a:extLst>
              <a:ext uri="{FF2B5EF4-FFF2-40B4-BE49-F238E27FC236}">
                <a16:creationId xmlns:a16="http://schemas.microsoft.com/office/drawing/2014/main" id="{8CD0283F-FE7D-4B5D-99F6-26CCA4C8C8F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endParaRPr/>
          </a:p>
        </p:txBody>
      </p:sp>
      <p:sp>
        <p:nvSpPr>
          <p:cNvPr id="2" name="Google Shape;86;p9">
            <a:extLst>
              <a:ext uri="{FF2B5EF4-FFF2-40B4-BE49-F238E27FC236}">
                <a16:creationId xmlns:a16="http://schemas.microsoft.com/office/drawing/2014/main" id="{BE6E3621-4F46-4C03-D6DD-7DD18C357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755" y="71125"/>
            <a:ext cx="8842226" cy="59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>
            <a:extLst>
              <a:ext uri="{FF2B5EF4-FFF2-40B4-BE49-F238E27FC236}">
                <a16:creationId xmlns:a16="http://schemas.microsoft.com/office/drawing/2014/main" id="{FC2487E7-E5A2-480E-9DDD-A46659CA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AEF7B81C-782A-4166-BEEB-09D839D054E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B5E1BF0D-622C-4FA9-A563-F644D031A3C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8DDEAEB6-7589-45D5-85FB-70FA449F8A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430">
            <a:extLst>
              <a:ext uri="{FF2B5EF4-FFF2-40B4-BE49-F238E27FC236}">
                <a16:creationId xmlns:a16="http://schemas.microsoft.com/office/drawing/2014/main" id="{7E67B4EE-02F1-4882-8566-1385896F9CD1}"/>
              </a:ext>
            </a:extLst>
          </p:cNvPr>
          <p:cNvSpPr>
            <a:spLocks noGrp="1"/>
          </p:cNvSpPr>
          <p:nvPr/>
        </p:nvSpPr>
        <p:spPr>
          <a:xfrm>
            <a:off x="914400" y="1447800"/>
            <a:ext cx="5238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dirty="0"/>
              <a:t>DECK 1: MODEL TRAINING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ACE6532E-C68F-4148-9D1A-DC69404BE718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8763000" cy="1123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rPr dirty="0"/>
              <a:t>Teaching a Computer to Recognize Faces</a:t>
            </a: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1683EE2D-FB88-42A8-8868-48AAE6D192BE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74295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rPr dirty="0"/>
              <a:t>Model training concepts for the AI &amp; Semiconductor Summer Institute</a:t>
            </a:r>
          </a:p>
        </p:txBody>
      </p:sp>
      <p:sp>
        <p:nvSpPr>
          <p:cNvPr id="434" name="Rounded Rectangle 433">
            <a:extLst>
              <a:ext uri="{FF2B5EF4-FFF2-40B4-BE49-F238E27FC236}">
                <a16:creationId xmlns:a16="http://schemas.microsoft.com/office/drawing/2014/main" id="{4A7E8235-AE28-484A-BD67-D148EA58DD26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3143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9F5AD251-F6EC-4531-9E99-B26463D6D6C9}"/>
              </a:ext>
            </a:extLst>
          </p:cNvPr>
          <p:cNvSpPr>
            <a:spLocks noGrp="1"/>
          </p:cNvSpPr>
          <p:nvPr/>
        </p:nvSpPr>
        <p:spPr>
          <a:xfrm>
            <a:off x="914400" y="4429125"/>
            <a:ext cx="3143250" cy="57150"/>
          </a:xfrm>
          <a:prstGeom prst="rect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D778C264-B3E3-4533-ABED-13C0D30A75F6}"/>
              </a:ext>
            </a:extLst>
          </p:cNvPr>
          <p:cNvSpPr>
            <a:spLocks noGrp="1"/>
          </p:cNvSpPr>
          <p:nvPr/>
        </p:nvSpPr>
        <p:spPr>
          <a:xfrm>
            <a:off x="1104900" y="4638675"/>
            <a:ext cx="2762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Audience</a:t>
            </a: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B7A703FB-1F2C-4908-A08E-DBB5AEC4EB41}"/>
              </a:ext>
            </a:extLst>
          </p:cNvPr>
          <p:cNvSpPr>
            <a:spLocks noGrp="1"/>
          </p:cNvSpPr>
          <p:nvPr/>
        </p:nvSpPr>
        <p:spPr>
          <a:xfrm>
            <a:off x="1104900" y="5095875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High school STEM educators, including first-time AI learners.</a:t>
            </a:r>
          </a:p>
        </p:txBody>
      </p:sp>
      <p:sp>
        <p:nvSpPr>
          <p:cNvPr id="438" name="Rounded Rectangle 437">
            <a:extLst>
              <a:ext uri="{FF2B5EF4-FFF2-40B4-BE49-F238E27FC236}">
                <a16:creationId xmlns:a16="http://schemas.microsoft.com/office/drawing/2014/main" id="{271A5764-D39C-4AF2-B074-24790D100A3E}"/>
              </a:ext>
            </a:extLst>
          </p:cNvPr>
          <p:cNvSpPr>
            <a:spLocks noGrp="1"/>
          </p:cNvSpPr>
          <p:nvPr/>
        </p:nvSpPr>
        <p:spPr>
          <a:xfrm>
            <a:off x="4343400" y="4429125"/>
            <a:ext cx="3143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A9FACCB1-F9A4-48F0-8CA7-CEC552BB9C2B}"/>
              </a:ext>
            </a:extLst>
          </p:cNvPr>
          <p:cNvSpPr>
            <a:spLocks noGrp="1"/>
          </p:cNvSpPr>
          <p:nvPr/>
        </p:nvSpPr>
        <p:spPr>
          <a:xfrm>
            <a:off x="4343400" y="4429125"/>
            <a:ext cx="3143250" cy="5715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16723D8-1492-43CB-AED1-14754F7D876B}"/>
              </a:ext>
            </a:extLst>
          </p:cNvPr>
          <p:cNvSpPr>
            <a:spLocks noGrp="1"/>
          </p:cNvSpPr>
          <p:nvPr/>
        </p:nvSpPr>
        <p:spPr>
          <a:xfrm>
            <a:off x="4533900" y="4638675"/>
            <a:ext cx="2762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Larger Theme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209FE205-6B5C-4E06-8226-00DC6600562E}"/>
              </a:ext>
            </a:extLst>
          </p:cNvPr>
          <p:cNvSpPr>
            <a:spLocks noGrp="1"/>
          </p:cNvSpPr>
          <p:nvPr/>
        </p:nvSpPr>
        <p:spPr>
          <a:xfrm>
            <a:off x="4533900" y="5095875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AI is powered by algorithms, software, hardware, and silicon.</a:t>
            </a:r>
          </a:p>
        </p:txBody>
      </p:sp>
      <p:sp>
        <p:nvSpPr>
          <p:cNvPr id="442" name="Rounded Rectangle 441">
            <a:extLst>
              <a:ext uri="{FF2B5EF4-FFF2-40B4-BE49-F238E27FC236}">
                <a16:creationId xmlns:a16="http://schemas.microsoft.com/office/drawing/2014/main" id="{7A42CAE9-1122-4B30-A441-01D03708E119}"/>
              </a:ext>
            </a:extLst>
          </p:cNvPr>
          <p:cNvSpPr>
            <a:spLocks noGrp="1"/>
          </p:cNvSpPr>
          <p:nvPr/>
        </p:nvSpPr>
        <p:spPr>
          <a:xfrm>
            <a:off x="7772400" y="4429125"/>
            <a:ext cx="3143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DE683634-9E7D-4279-98DF-AAEB739B95F8}"/>
              </a:ext>
            </a:extLst>
          </p:cNvPr>
          <p:cNvSpPr>
            <a:spLocks noGrp="1"/>
          </p:cNvSpPr>
          <p:nvPr/>
        </p:nvSpPr>
        <p:spPr>
          <a:xfrm>
            <a:off x="7772400" y="4429125"/>
            <a:ext cx="3143250" cy="5715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59C5ABD0-2CBA-40A2-AB0A-4B3527CC0085}"/>
              </a:ext>
            </a:extLst>
          </p:cNvPr>
          <p:cNvSpPr>
            <a:spLocks noGrp="1"/>
          </p:cNvSpPr>
          <p:nvPr/>
        </p:nvSpPr>
        <p:spPr>
          <a:xfrm>
            <a:off x="7962900" y="4638675"/>
            <a:ext cx="2762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Lab Goal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6EF63AE8-744B-4F7E-AC83-B462C3808FA2}"/>
              </a:ext>
            </a:extLst>
          </p:cNvPr>
          <p:cNvSpPr>
            <a:spLocks noGrp="1"/>
          </p:cNvSpPr>
          <p:nvPr/>
        </p:nvSpPr>
        <p:spPr>
          <a:xfrm>
            <a:off x="7962900" y="5095875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Connect a real model to real laptop compute constraints.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3E61073-4A25-4021-BD54-FA0D962383C0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1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430">
            <a:extLst>
              <a:ext uri="{FF2B5EF4-FFF2-40B4-BE49-F238E27FC236}">
                <a16:creationId xmlns:a16="http://schemas.microsoft.com/office/drawing/2014/main" id="{E5D556A1-87EA-4F2C-808B-8C5E531856CC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EMBEDDINGS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27C1A9E7-C448-4F11-B6E8-FB7886955075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 face passport becomes the technical idea: an embedding.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5BC8CC7D-4C3E-4B85-8250-7F3FC3F397E3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371475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60AA7C15-631F-48E7-AC12-BF14C4C17227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3714750" cy="5715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7AF4D24A-3BE4-4A4A-9D00-34BCC15256F4}"/>
              </a:ext>
            </a:extLst>
          </p:cNvPr>
          <p:cNvSpPr>
            <a:spLocks noGrp="1"/>
          </p:cNvSpPr>
          <p:nvPr/>
        </p:nvSpPr>
        <p:spPr>
          <a:xfrm>
            <a:off x="1104900" y="2343150"/>
            <a:ext cx="3333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Classroom analogy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ABC53E7D-CEEE-4BCF-8C8C-99A6CD5B6DD0}"/>
              </a:ext>
            </a:extLst>
          </p:cNvPr>
          <p:cNvSpPr>
            <a:spLocks noGrp="1"/>
          </p:cNvSpPr>
          <p:nvPr/>
        </p:nvSpPr>
        <p:spPr>
          <a:xfrm>
            <a:off x="1104900" y="2800350"/>
            <a:ext cx="3333750" cy="1514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Imagine a passport that lists 128 precise numbers about a face instead of showing a photo.</a:t>
            </a:r>
          </a:p>
        </p:txBody>
      </p:sp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11B8A7B7-D585-4AAE-BD73-B87BA9A17B41}"/>
              </a:ext>
            </a:extLst>
          </p:cNvPr>
          <p:cNvSpPr>
            <a:spLocks noGrp="1"/>
          </p:cNvSpPr>
          <p:nvPr/>
        </p:nvSpPr>
        <p:spPr>
          <a:xfrm>
            <a:off x="4953000" y="2133600"/>
            <a:ext cx="533400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BBD8ABD4-727F-48EA-889C-FE84A65D6016}"/>
              </a:ext>
            </a:extLst>
          </p:cNvPr>
          <p:cNvSpPr>
            <a:spLocks noGrp="1"/>
          </p:cNvSpPr>
          <p:nvPr/>
        </p:nvSpPr>
        <p:spPr>
          <a:xfrm>
            <a:off x="4953000" y="2133600"/>
            <a:ext cx="5334000" cy="5715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878944E9-DA59-44DD-B113-98608E8F9F53}"/>
              </a:ext>
            </a:extLst>
          </p:cNvPr>
          <p:cNvSpPr>
            <a:spLocks noGrp="1"/>
          </p:cNvSpPr>
          <p:nvPr/>
        </p:nvSpPr>
        <p:spPr>
          <a:xfrm>
            <a:off x="5143500" y="2343150"/>
            <a:ext cx="4953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Technical term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D854E9F-AF74-413E-B2D3-1B06C45D5963}"/>
              </a:ext>
            </a:extLst>
          </p:cNvPr>
          <p:cNvSpPr>
            <a:spLocks noGrp="1"/>
          </p:cNvSpPr>
          <p:nvPr/>
        </p:nvSpPr>
        <p:spPr>
          <a:xfrm>
            <a:off x="5143500" y="2800350"/>
            <a:ext cx="4953000" cy="1514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An embedding is a compact vector. In this lab, the model maps each face image to 128 numbers. Similar faces should land near each other in embedding space.</a:t>
            </a:r>
          </a:p>
        </p:txBody>
      </p:sp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A81ECE7D-AE68-4820-9760-F9DD04322598}"/>
              </a:ext>
            </a:extLst>
          </p:cNvPr>
          <p:cNvSpPr>
            <a:spLocks noGrp="1"/>
          </p:cNvSpPr>
          <p:nvPr/>
        </p:nvSpPr>
        <p:spPr>
          <a:xfrm>
            <a:off x="5048250" y="4762500"/>
            <a:ext cx="171450" cy="266700"/>
          </a:xfrm>
          <a:prstGeom prst="roundRect">
            <a:avLst>
              <a:gd name="adj" fmla="val 16667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Rounded Rectangle 441">
            <a:extLst>
              <a:ext uri="{FF2B5EF4-FFF2-40B4-BE49-F238E27FC236}">
                <a16:creationId xmlns:a16="http://schemas.microsoft.com/office/drawing/2014/main" id="{FA13F017-93A5-4F53-A192-94A738C21BDA}"/>
              </a:ext>
            </a:extLst>
          </p:cNvPr>
          <p:cNvSpPr>
            <a:spLocks noGrp="1"/>
          </p:cNvSpPr>
          <p:nvPr/>
        </p:nvSpPr>
        <p:spPr>
          <a:xfrm>
            <a:off x="5314950" y="4610100"/>
            <a:ext cx="171450" cy="419100"/>
          </a:xfrm>
          <a:prstGeom prst="roundRect">
            <a:avLst>
              <a:gd name="adj" fmla="val 16667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3" name="Rounded Rectangle 442">
            <a:extLst>
              <a:ext uri="{FF2B5EF4-FFF2-40B4-BE49-F238E27FC236}">
                <a16:creationId xmlns:a16="http://schemas.microsoft.com/office/drawing/2014/main" id="{AFFEC37F-6085-4539-B5EB-7588224A5651}"/>
              </a:ext>
            </a:extLst>
          </p:cNvPr>
          <p:cNvSpPr>
            <a:spLocks noGrp="1"/>
          </p:cNvSpPr>
          <p:nvPr/>
        </p:nvSpPr>
        <p:spPr>
          <a:xfrm>
            <a:off x="5581650" y="4457700"/>
            <a:ext cx="171450" cy="571500"/>
          </a:xfrm>
          <a:prstGeom prst="roundRect">
            <a:avLst>
              <a:gd name="adj" fmla="val 16667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Rounded Rectangle 443">
            <a:extLst>
              <a:ext uri="{FF2B5EF4-FFF2-40B4-BE49-F238E27FC236}">
                <a16:creationId xmlns:a16="http://schemas.microsoft.com/office/drawing/2014/main" id="{23C271AC-213E-4515-9516-8AC394C6D262}"/>
              </a:ext>
            </a:extLst>
          </p:cNvPr>
          <p:cNvSpPr>
            <a:spLocks noGrp="1"/>
          </p:cNvSpPr>
          <p:nvPr/>
        </p:nvSpPr>
        <p:spPr>
          <a:xfrm>
            <a:off x="5848350" y="4305300"/>
            <a:ext cx="171450" cy="723900"/>
          </a:xfrm>
          <a:prstGeom prst="roundRect">
            <a:avLst>
              <a:gd name="adj" fmla="val 16667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45" name="Rounded Rectangle 444">
            <a:extLst>
              <a:ext uri="{FF2B5EF4-FFF2-40B4-BE49-F238E27FC236}">
                <a16:creationId xmlns:a16="http://schemas.microsoft.com/office/drawing/2014/main" id="{BE3CE2EE-7FCE-4244-8790-FBBCDA750F82}"/>
              </a:ext>
            </a:extLst>
          </p:cNvPr>
          <p:cNvSpPr>
            <a:spLocks noGrp="1"/>
          </p:cNvSpPr>
          <p:nvPr/>
        </p:nvSpPr>
        <p:spPr>
          <a:xfrm>
            <a:off x="6115050" y="4152900"/>
            <a:ext cx="171450" cy="876300"/>
          </a:xfrm>
          <a:prstGeom prst="roundRect">
            <a:avLst>
              <a:gd name="adj" fmla="val 16667"/>
            </a:avLst>
          </a:prstGeom>
          <a:solidFill>
            <a:srgbClr val="0F9ED5"/>
          </a:solidFill>
        </p:spPr>
        <p:txBody>
          <a:bodyPr/>
          <a:lstStyle/>
          <a:p>
            <a:endParaRPr lang="en-US"/>
          </a:p>
        </p:txBody>
      </p:sp>
      <p:sp>
        <p:nvSpPr>
          <p:cNvPr id="446" name="Rounded Rectangle 445">
            <a:extLst>
              <a:ext uri="{FF2B5EF4-FFF2-40B4-BE49-F238E27FC236}">
                <a16:creationId xmlns:a16="http://schemas.microsoft.com/office/drawing/2014/main" id="{2F33526A-0E40-43F7-A1D2-F0F6A1703968}"/>
              </a:ext>
            </a:extLst>
          </p:cNvPr>
          <p:cNvSpPr>
            <a:spLocks noGrp="1"/>
          </p:cNvSpPr>
          <p:nvPr/>
        </p:nvSpPr>
        <p:spPr>
          <a:xfrm>
            <a:off x="6381750" y="4762500"/>
            <a:ext cx="171450" cy="266700"/>
          </a:xfrm>
          <a:prstGeom prst="roundRect">
            <a:avLst>
              <a:gd name="adj" fmla="val 16667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7" name="Rounded Rectangle 446">
            <a:extLst>
              <a:ext uri="{FF2B5EF4-FFF2-40B4-BE49-F238E27FC236}">
                <a16:creationId xmlns:a16="http://schemas.microsoft.com/office/drawing/2014/main" id="{3FEF0D47-5E99-45C5-8786-F4741A43F504}"/>
              </a:ext>
            </a:extLst>
          </p:cNvPr>
          <p:cNvSpPr>
            <a:spLocks noGrp="1"/>
          </p:cNvSpPr>
          <p:nvPr/>
        </p:nvSpPr>
        <p:spPr>
          <a:xfrm>
            <a:off x="6648450" y="4610100"/>
            <a:ext cx="171450" cy="419100"/>
          </a:xfrm>
          <a:prstGeom prst="roundRect">
            <a:avLst>
              <a:gd name="adj" fmla="val 16667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075B8084-F363-47F9-B305-C00C7079CF15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171450" cy="571500"/>
          </a:xfrm>
          <a:prstGeom prst="roundRect">
            <a:avLst>
              <a:gd name="adj" fmla="val 16667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9" name="Rounded Rectangle 448">
            <a:extLst>
              <a:ext uri="{FF2B5EF4-FFF2-40B4-BE49-F238E27FC236}">
                <a16:creationId xmlns:a16="http://schemas.microsoft.com/office/drawing/2014/main" id="{98926FF3-B10D-4A60-BE95-0D52479C4D93}"/>
              </a:ext>
            </a:extLst>
          </p:cNvPr>
          <p:cNvSpPr>
            <a:spLocks noGrp="1"/>
          </p:cNvSpPr>
          <p:nvPr/>
        </p:nvSpPr>
        <p:spPr>
          <a:xfrm>
            <a:off x="7181850" y="4305300"/>
            <a:ext cx="171450" cy="723900"/>
          </a:xfrm>
          <a:prstGeom prst="roundRect">
            <a:avLst>
              <a:gd name="adj" fmla="val 16667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50" name="Rounded Rectangle 449">
            <a:extLst>
              <a:ext uri="{FF2B5EF4-FFF2-40B4-BE49-F238E27FC236}">
                <a16:creationId xmlns:a16="http://schemas.microsoft.com/office/drawing/2014/main" id="{4B86C653-94E1-4D9A-B0E4-3B1E762B96BD}"/>
              </a:ext>
            </a:extLst>
          </p:cNvPr>
          <p:cNvSpPr>
            <a:spLocks noGrp="1"/>
          </p:cNvSpPr>
          <p:nvPr/>
        </p:nvSpPr>
        <p:spPr>
          <a:xfrm>
            <a:off x="7448550" y="4152900"/>
            <a:ext cx="171450" cy="876300"/>
          </a:xfrm>
          <a:prstGeom prst="roundRect">
            <a:avLst>
              <a:gd name="adj" fmla="val 16667"/>
            </a:avLst>
          </a:prstGeom>
          <a:solidFill>
            <a:srgbClr val="0F9ED5"/>
          </a:solidFill>
        </p:spPr>
        <p:txBody>
          <a:bodyPr/>
          <a:lstStyle/>
          <a:p>
            <a:endParaRPr lang="en-US"/>
          </a:p>
        </p:txBody>
      </p:sp>
      <p:sp>
        <p:nvSpPr>
          <p:cNvPr id="451" name="Rounded Rectangle 450">
            <a:extLst>
              <a:ext uri="{FF2B5EF4-FFF2-40B4-BE49-F238E27FC236}">
                <a16:creationId xmlns:a16="http://schemas.microsoft.com/office/drawing/2014/main" id="{7505D328-27FA-4BB9-B7DA-999814569E73}"/>
              </a:ext>
            </a:extLst>
          </p:cNvPr>
          <p:cNvSpPr>
            <a:spLocks noGrp="1"/>
          </p:cNvSpPr>
          <p:nvPr/>
        </p:nvSpPr>
        <p:spPr>
          <a:xfrm>
            <a:off x="7715250" y="4762500"/>
            <a:ext cx="171450" cy="266700"/>
          </a:xfrm>
          <a:prstGeom prst="roundRect">
            <a:avLst>
              <a:gd name="adj" fmla="val 16667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52" name="Rounded Rectangle 451">
            <a:extLst>
              <a:ext uri="{FF2B5EF4-FFF2-40B4-BE49-F238E27FC236}">
                <a16:creationId xmlns:a16="http://schemas.microsoft.com/office/drawing/2014/main" id="{A13BCDCB-268F-4A99-A5F6-61301B87F8A6}"/>
              </a:ext>
            </a:extLst>
          </p:cNvPr>
          <p:cNvSpPr>
            <a:spLocks noGrp="1"/>
          </p:cNvSpPr>
          <p:nvPr/>
        </p:nvSpPr>
        <p:spPr>
          <a:xfrm>
            <a:off x="7981950" y="4610100"/>
            <a:ext cx="171450" cy="419100"/>
          </a:xfrm>
          <a:prstGeom prst="roundRect">
            <a:avLst>
              <a:gd name="adj" fmla="val 16667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53" name="Rounded Rectangle 452">
            <a:extLst>
              <a:ext uri="{FF2B5EF4-FFF2-40B4-BE49-F238E27FC236}">
                <a16:creationId xmlns:a16="http://schemas.microsoft.com/office/drawing/2014/main" id="{90F5FC61-F554-4A7F-B737-F6D137E7E7F8}"/>
              </a:ext>
            </a:extLst>
          </p:cNvPr>
          <p:cNvSpPr>
            <a:spLocks noGrp="1"/>
          </p:cNvSpPr>
          <p:nvPr/>
        </p:nvSpPr>
        <p:spPr>
          <a:xfrm>
            <a:off x="8248650" y="4457700"/>
            <a:ext cx="171450" cy="571500"/>
          </a:xfrm>
          <a:prstGeom prst="roundRect">
            <a:avLst>
              <a:gd name="adj" fmla="val 16667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54" name="Rounded Rectangle 453">
            <a:extLst>
              <a:ext uri="{FF2B5EF4-FFF2-40B4-BE49-F238E27FC236}">
                <a16:creationId xmlns:a16="http://schemas.microsoft.com/office/drawing/2014/main" id="{955DB94A-DBE7-4511-BFF5-2C888443DC76}"/>
              </a:ext>
            </a:extLst>
          </p:cNvPr>
          <p:cNvSpPr>
            <a:spLocks noGrp="1"/>
          </p:cNvSpPr>
          <p:nvPr/>
        </p:nvSpPr>
        <p:spPr>
          <a:xfrm>
            <a:off x="8515350" y="4305300"/>
            <a:ext cx="171450" cy="723900"/>
          </a:xfrm>
          <a:prstGeom prst="roundRect">
            <a:avLst>
              <a:gd name="adj" fmla="val 16667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55" name="Rounded Rectangle 454">
            <a:extLst>
              <a:ext uri="{FF2B5EF4-FFF2-40B4-BE49-F238E27FC236}">
                <a16:creationId xmlns:a16="http://schemas.microsoft.com/office/drawing/2014/main" id="{1A0732C5-12AC-43AC-B5EE-D7380BD54019}"/>
              </a:ext>
            </a:extLst>
          </p:cNvPr>
          <p:cNvSpPr>
            <a:spLocks noGrp="1"/>
          </p:cNvSpPr>
          <p:nvPr/>
        </p:nvSpPr>
        <p:spPr>
          <a:xfrm>
            <a:off x="8782050" y="4152900"/>
            <a:ext cx="171450" cy="876300"/>
          </a:xfrm>
          <a:prstGeom prst="roundRect">
            <a:avLst>
              <a:gd name="adj" fmla="val 16667"/>
            </a:avLst>
          </a:prstGeom>
          <a:solidFill>
            <a:srgbClr val="0F9ED5"/>
          </a:solidFill>
        </p:spPr>
        <p:txBody>
          <a:bodyPr/>
          <a:lstStyle/>
          <a:p>
            <a:endParaRPr lang="en-US"/>
          </a:p>
        </p:txBody>
      </p:sp>
      <p:sp>
        <p:nvSpPr>
          <p:cNvPr id="456" name="Rounded Rectangle 455">
            <a:extLst>
              <a:ext uri="{FF2B5EF4-FFF2-40B4-BE49-F238E27FC236}">
                <a16:creationId xmlns:a16="http://schemas.microsoft.com/office/drawing/2014/main" id="{34B49559-D071-476B-976F-52DEC2F90250}"/>
              </a:ext>
            </a:extLst>
          </p:cNvPr>
          <p:cNvSpPr>
            <a:spLocks noGrp="1"/>
          </p:cNvSpPr>
          <p:nvPr/>
        </p:nvSpPr>
        <p:spPr>
          <a:xfrm>
            <a:off x="9048750" y="4762500"/>
            <a:ext cx="171450" cy="266700"/>
          </a:xfrm>
          <a:prstGeom prst="roundRect">
            <a:avLst>
              <a:gd name="adj" fmla="val 16667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D0E5D43-67B8-45A5-BEFF-31A9DA6CBC1F}"/>
              </a:ext>
            </a:extLst>
          </p:cNvPr>
          <p:cNvSpPr>
            <a:spLocks noGrp="1"/>
          </p:cNvSpPr>
          <p:nvPr/>
        </p:nvSpPr>
        <p:spPr>
          <a:xfrm>
            <a:off x="4953000" y="5572125"/>
            <a:ext cx="4953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128-dimensional embedding vector</a:t>
            </a: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A4D7B486-D3DE-4114-9ED5-51929CEC04B6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2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430">
            <a:extLst>
              <a:ext uri="{FF2B5EF4-FFF2-40B4-BE49-F238E27FC236}">
                <a16:creationId xmlns:a16="http://schemas.microsoft.com/office/drawing/2014/main" id="{E845C949-4442-449F-B809-303F1798B3D4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WHY NOT CLASSIFICATION?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FB00EC22-2D85-40ED-AC0B-F64DECEEE558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rPr dirty="0"/>
              <a:t>Face recognition needs a flexible database, not a fixed class list.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AF767B3F-1BB2-41FE-8CC0-FD9276028E5F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4476750" cy="2714625"/>
          </a:xfrm>
          <a:prstGeom prst="roundRect">
            <a:avLst>
              <a:gd name="adj" fmla="val 2807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8A5F9E12-0D52-4074-81A9-F4A66B4C10D8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4476750" cy="57150"/>
          </a:xfrm>
          <a:prstGeom prst="rect">
            <a:avLst/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4E5F674C-8C1E-4BAC-B845-97A601558A7F}"/>
              </a:ext>
            </a:extLst>
          </p:cNvPr>
          <p:cNvSpPr>
            <a:spLocks noGrp="1"/>
          </p:cNvSpPr>
          <p:nvPr/>
        </p:nvSpPr>
        <p:spPr>
          <a:xfrm>
            <a:off x="1104900" y="2400300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A02B93"/>
                </a:solidFill>
                <a:latin typeface="Arial"/>
                <a:ea typeface="Arial"/>
                <a:cs typeface="Arial"/>
              </a:defRPr>
            </a:pPr>
            <a:r>
              <a:t>Classification model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4F89D27E-57F7-4D2B-94A3-5FF082210CAD}"/>
              </a:ext>
            </a:extLst>
          </p:cNvPr>
          <p:cNvSpPr>
            <a:spLocks noGrp="1"/>
          </p:cNvSpPr>
          <p:nvPr/>
        </p:nvSpPr>
        <p:spPr>
          <a:xfrm>
            <a:off x="1104900" y="2857500"/>
            <a:ext cx="4095750" cy="1895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Good for fixed categories like cat, dog, or car. A new student usually means changing the class list and retraining.</a:t>
            </a:r>
          </a:p>
        </p:txBody>
      </p:sp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FE978F63-8C2D-4CB1-BA6E-A8A2A2A3CFBE}"/>
              </a:ext>
            </a:extLst>
          </p:cNvPr>
          <p:cNvSpPr>
            <a:spLocks noGrp="1"/>
          </p:cNvSpPr>
          <p:nvPr/>
        </p:nvSpPr>
        <p:spPr>
          <a:xfrm>
            <a:off x="6000750" y="2190750"/>
            <a:ext cx="4476750" cy="2714625"/>
          </a:xfrm>
          <a:prstGeom prst="roundRect">
            <a:avLst>
              <a:gd name="adj" fmla="val 2807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16C0A588-20FA-4F5E-BBBF-CB0E4CB9B38A}"/>
              </a:ext>
            </a:extLst>
          </p:cNvPr>
          <p:cNvSpPr>
            <a:spLocks noGrp="1"/>
          </p:cNvSpPr>
          <p:nvPr/>
        </p:nvSpPr>
        <p:spPr>
          <a:xfrm>
            <a:off x="6000750" y="2190750"/>
            <a:ext cx="4476750" cy="57150"/>
          </a:xfrm>
          <a:prstGeom prst="rect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FDD502B9-69A5-4B98-8C01-2D9B521A9DE2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40957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Embedding model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450D24D9-4511-4F72-AD10-8E8523020A47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4095750" cy="1895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Stores one or more embeddings per person. Adding someone means adding examples to the database, not retraining the whole network.</a:t>
            </a:r>
          </a:p>
        </p:txBody>
      </p:sp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38DB88CE-2840-4E2A-82EC-79A0C089D591}"/>
              </a:ext>
            </a:extLst>
          </p:cNvPr>
          <p:cNvSpPr>
            <a:spLocks noGrp="1"/>
          </p:cNvSpPr>
          <p:nvPr/>
        </p:nvSpPr>
        <p:spPr>
          <a:xfrm>
            <a:off x="3733800" y="5286375"/>
            <a:ext cx="4762500" cy="457200"/>
          </a:xfrm>
          <a:prstGeom prst="roundRect">
            <a:avLst>
              <a:gd name="adj" fmla="val 16667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84819B9D-5004-4B97-9DF7-EA2B8F4270F1}"/>
              </a:ext>
            </a:extLst>
          </p:cNvPr>
          <p:cNvSpPr>
            <a:spLocks noGrp="1"/>
          </p:cNvSpPr>
          <p:nvPr/>
        </p:nvSpPr>
        <p:spPr>
          <a:xfrm>
            <a:off x="3829050" y="5353050"/>
            <a:ext cx="4572000" cy="3619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Add person -&gt; add embedding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4D239C35-5F21-41E0-960A-645074731BB7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3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6A026-7088-9334-18A8-05481F185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24EF5FBE-FD27-408E-B278-646B83F1905B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EMBEDDING MODEL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E16666D8-313B-496C-B8A8-18598D740259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MobileNetV2 turns each image into one normalized 128-number embedding.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960B9EF9-DB63-411A-BDD1-75B568325C33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1543050" cy="876300"/>
          </a:xfrm>
          <a:prstGeom prst="roundRect">
            <a:avLst>
              <a:gd name="adj" fmla="val 8696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9D8025C9-E3F1-42F3-B27A-DE4CE00BA436}"/>
              </a:ext>
            </a:extLst>
          </p:cNvPr>
          <p:cNvSpPr>
            <a:spLocks noGrp="1"/>
          </p:cNvSpPr>
          <p:nvPr/>
        </p:nvSpPr>
        <p:spPr>
          <a:xfrm>
            <a:off x="1085850" y="2647950"/>
            <a:ext cx="135255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Face image 224 x 224 x 3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4314DAE5-2A17-404C-B031-0238EB6E749E}"/>
              </a:ext>
            </a:extLst>
          </p:cNvPr>
          <p:cNvSpPr>
            <a:spLocks noGrp="1"/>
          </p:cNvSpPr>
          <p:nvPr/>
        </p:nvSpPr>
        <p:spPr>
          <a:xfrm>
            <a:off x="2609850" y="3009900"/>
            <a:ext cx="9525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36" name="Triangle 435">
            <a:extLst>
              <a:ext uri="{FF2B5EF4-FFF2-40B4-BE49-F238E27FC236}">
                <a16:creationId xmlns:a16="http://schemas.microsoft.com/office/drawing/2014/main" id="{F551B2D9-A37B-4055-A6B2-9603D05034DC}"/>
              </a:ext>
            </a:extLst>
          </p:cNvPr>
          <p:cNvSpPr>
            <a:spLocks noGrp="1"/>
          </p:cNvSpPr>
          <p:nvPr/>
        </p:nvSpPr>
        <p:spPr>
          <a:xfrm>
            <a:off x="2667000" y="2952750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A0C4C013-0099-45C6-9486-A1AA1575823C}"/>
              </a:ext>
            </a:extLst>
          </p:cNvPr>
          <p:cNvSpPr>
            <a:spLocks noGrp="1"/>
          </p:cNvSpPr>
          <p:nvPr/>
        </p:nvSpPr>
        <p:spPr>
          <a:xfrm>
            <a:off x="2914650" y="2571750"/>
            <a:ext cx="1543050" cy="876300"/>
          </a:xfrm>
          <a:prstGeom prst="roundRect">
            <a:avLst>
              <a:gd name="adj" fmla="val 8696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162B7810-F1A5-4A83-A102-BDF3F9912299}"/>
              </a:ext>
            </a:extLst>
          </p:cNvPr>
          <p:cNvSpPr>
            <a:spLocks noGrp="1"/>
          </p:cNvSpPr>
          <p:nvPr/>
        </p:nvSpPr>
        <p:spPr>
          <a:xfrm>
            <a:off x="3009900" y="2647950"/>
            <a:ext cx="135255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MobileNetV2 backbone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57BC850D-2894-41C1-AE7F-0603626E318B}"/>
              </a:ext>
            </a:extLst>
          </p:cNvPr>
          <p:cNvSpPr>
            <a:spLocks noGrp="1"/>
          </p:cNvSpPr>
          <p:nvPr/>
        </p:nvSpPr>
        <p:spPr>
          <a:xfrm>
            <a:off x="4533900" y="3009900"/>
            <a:ext cx="20955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0" name="Triangle 439">
            <a:extLst>
              <a:ext uri="{FF2B5EF4-FFF2-40B4-BE49-F238E27FC236}">
                <a16:creationId xmlns:a16="http://schemas.microsoft.com/office/drawing/2014/main" id="{13C43354-4039-44B8-8023-57A90225B66D}"/>
              </a:ext>
            </a:extLst>
          </p:cNvPr>
          <p:cNvSpPr>
            <a:spLocks noGrp="1"/>
          </p:cNvSpPr>
          <p:nvPr/>
        </p:nvSpPr>
        <p:spPr>
          <a:xfrm>
            <a:off x="4705350" y="2952750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3BF6142F-179B-4F42-8B6A-E632220D2E57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1543050" cy="876300"/>
          </a:xfrm>
          <a:prstGeom prst="roundRect">
            <a:avLst>
              <a:gd name="adj" fmla="val 8696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A4073C6-09D5-46A5-9DDC-399E7AAA6343}"/>
              </a:ext>
            </a:extLst>
          </p:cNvPr>
          <p:cNvSpPr>
            <a:spLocks noGrp="1"/>
          </p:cNvSpPr>
          <p:nvPr/>
        </p:nvSpPr>
        <p:spPr>
          <a:xfrm>
            <a:off x="5048250" y="2647950"/>
            <a:ext cx="135255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Global average pooling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FC8CEA07-432C-4C13-BE8C-B7D4F909040D}"/>
              </a:ext>
            </a:extLst>
          </p:cNvPr>
          <p:cNvSpPr>
            <a:spLocks noGrp="1"/>
          </p:cNvSpPr>
          <p:nvPr/>
        </p:nvSpPr>
        <p:spPr>
          <a:xfrm>
            <a:off x="6572250" y="3009900"/>
            <a:ext cx="17145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Triangle 443">
            <a:extLst>
              <a:ext uri="{FF2B5EF4-FFF2-40B4-BE49-F238E27FC236}">
                <a16:creationId xmlns:a16="http://schemas.microsoft.com/office/drawing/2014/main" id="{2CBA9CA3-6058-4690-912A-731C40E89C95}"/>
              </a:ext>
            </a:extLst>
          </p:cNvPr>
          <p:cNvSpPr>
            <a:spLocks noGrp="1"/>
          </p:cNvSpPr>
          <p:nvPr/>
        </p:nvSpPr>
        <p:spPr>
          <a:xfrm>
            <a:off x="6705600" y="2952750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5" name="Rounded Rectangle 444">
            <a:extLst>
              <a:ext uri="{FF2B5EF4-FFF2-40B4-BE49-F238E27FC236}">
                <a16:creationId xmlns:a16="http://schemas.microsoft.com/office/drawing/2014/main" id="{80D2F80E-5FC6-4A0D-B29A-58E4C7ABC6D6}"/>
              </a:ext>
            </a:extLst>
          </p:cNvPr>
          <p:cNvSpPr>
            <a:spLocks noGrp="1"/>
          </p:cNvSpPr>
          <p:nvPr/>
        </p:nvSpPr>
        <p:spPr>
          <a:xfrm>
            <a:off x="6953250" y="2571750"/>
            <a:ext cx="1543050" cy="876300"/>
          </a:xfrm>
          <a:prstGeom prst="roundRect">
            <a:avLst>
              <a:gd name="adj" fmla="val 8696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9000491-8918-4C43-BBF3-4EF0BB069E00}"/>
              </a:ext>
            </a:extLst>
          </p:cNvPr>
          <p:cNvSpPr>
            <a:spLocks noGrp="1"/>
          </p:cNvSpPr>
          <p:nvPr/>
        </p:nvSpPr>
        <p:spPr>
          <a:xfrm>
            <a:off x="7048500" y="2647950"/>
            <a:ext cx="135255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Dense layer 128 values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60A443D9-AAE1-4FF1-BC82-CB45BE3A127C}"/>
              </a:ext>
            </a:extLst>
          </p:cNvPr>
          <p:cNvSpPr>
            <a:spLocks noGrp="1"/>
          </p:cNvSpPr>
          <p:nvPr/>
        </p:nvSpPr>
        <p:spPr>
          <a:xfrm>
            <a:off x="8572500" y="3009900"/>
            <a:ext cx="13335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8" name="Triangle 447">
            <a:extLst>
              <a:ext uri="{FF2B5EF4-FFF2-40B4-BE49-F238E27FC236}">
                <a16:creationId xmlns:a16="http://schemas.microsoft.com/office/drawing/2014/main" id="{471975E9-CC7B-4FCF-9651-3AA601B4BDE7}"/>
              </a:ext>
            </a:extLst>
          </p:cNvPr>
          <p:cNvSpPr>
            <a:spLocks noGrp="1"/>
          </p:cNvSpPr>
          <p:nvPr/>
        </p:nvSpPr>
        <p:spPr>
          <a:xfrm>
            <a:off x="8667750" y="2952750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9" name="Rounded Rectangle 448">
            <a:extLst>
              <a:ext uri="{FF2B5EF4-FFF2-40B4-BE49-F238E27FC236}">
                <a16:creationId xmlns:a16="http://schemas.microsoft.com/office/drawing/2014/main" id="{B7BFB088-01D5-451A-AE7B-EA8E67F02486}"/>
              </a:ext>
            </a:extLst>
          </p:cNvPr>
          <p:cNvSpPr>
            <a:spLocks noGrp="1"/>
          </p:cNvSpPr>
          <p:nvPr/>
        </p:nvSpPr>
        <p:spPr>
          <a:xfrm>
            <a:off x="8915400" y="2571750"/>
            <a:ext cx="1543050" cy="876300"/>
          </a:xfrm>
          <a:prstGeom prst="roundRect">
            <a:avLst>
              <a:gd name="adj" fmla="val 8696"/>
            </a:avLst>
          </a:prstGeom>
          <a:solidFill>
            <a:srgbClr val="0F9ED5"/>
          </a:solidFill>
        </p:spPr>
        <p:txBody>
          <a:bodyPr/>
          <a:lstStyle/>
          <a:p>
            <a:endParaRPr lang="en-US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4E5D2C31-1454-46A4-BA6E-74CFFA911536}"/>
              </a:ext>
            </a:extLst>
          </p:cNvPr>
          <p:cNvSpPr>
            <a:spLocks noGrp="1"/>
          </p:cNvSpPr>
          <p:nvPr/>
        </p:nvSpPr>
        <p:spPr>
          <a:xfrm>
            <a:off x="9010650" y="2647950"/>
            <a:ext cx="135255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L2 normalized embedding</a:t>
            </a:r>
          </a:p>
        </p:txBody>
      </p:sp>
      <p:sp>
        <p:nvSpPr>
          <p:cNvPr id="451" name="Rounded Rectangle 450">
            <a:extLst>
              <a:ext uri="{FF2B5EF4-FFF2-40B4-BE49-F238E27FC236}">
                <a16:creationId xmlns:a16="http://schemas.microsoft.com/office/drawing/2014/main" id="{C4892F0F-1E41-4BB3-B8A8-3FCFB1F13A78}"/>
              </a:ext>
            </a:extLst>
          </p:cNvPr>
          <p:cNvSpPr>
            <a:spLocks noGrp="1"/>
          </p:cNvSpPr>
          <p:nvPr/>
        </p:nvSpPr>
        <p:spPr>
          <a:xfrm>
            <a:off x="2286000" y="4429125"/>
            <a:ext cx="7239000" cy="1162050"/>
          </a:xfrm>
          <a:prstGeom prst="roundRect">
            <a:avLst>
              <a:gd name="adj" fmla="val 6557"/>
            </a:avLst>
          </a:prstGeom>
          <a:solidFill>
            <a:srgbClr val="111827"/>
          </a:solidFill>
        </p:spPr>
        <p:txBody>
          <a:bodyPr/>
          <a:lstStyle/>
          <a:p>
            <a:endParaRPr lang="en-US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6B80D46D-2133-47CF-A881-9BE8A0DA52A4}"/>
              </a:ext>
            </a:extLst>
          </p:cNvPr>
          <p:cNvSpPr>
            <a:spLocks noGrp="1"/>
          </p:cNvSpPr>
          <p:nvPr/>
        </p:nvSpPr>
        <p:spPr>
          <a:xfrm>
            <a:off x="2457450" y="4562475"/>
            <a:ext cx="6896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MobileNetV2(include_top=False)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57A9B336-A5D3-461B-8951-E378C91D9EFD}"/>
              </a:ext>
            </a:extLst>
          </p:cNvPr>
          <p:cNvSpPr>
            <a:spLocks noGrp="1"/>
          </p:cNvSpPr>
          <p:nvPr/>
        </p:nvSpPr>
        <p:spPr>
          <a:xfrm>
            <a:off x="2457450" y="4791075"/>
            <a:ext cx="6896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GlobalAveragePooling2D()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FD116212-DEB0-47FA-8EB4-B09DC3C87A69}"/>
              </a:ext>
            </a:extLst>
          </p:cNvPr>
          <p:cNvSpPr>
            <a:spLocks noGrp="1"/>
          </p:cNvSpPr>
          <p:nvPr/>
        </p:nvSpPr>
        <p:spPr>
          <a:xfrm>
            <a:off x="2457450" y="5019675"/>
            <a:ext cx="6896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Dense(128)</a:t>
            </a: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F7C8E6A8-ADB1-48F9-B24E-3572BD317799}"/>
              </a:ext>
            </a:extLst>
          </p:cNvPr>
          <p:cNvSpPr>
            <a:spLocks noGrp="1"/>
          </p:cNvSpPr>
          <p:nvPr/>
        </p:nvSpPr>
        <p:spPr>
          <a:xfrm>
            <a:off x="2457450" y="5248275"/>
            <a:ext cx="6896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L2 normalize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30F0C0A8-CCD2-49C6-8471-6BC082DE1053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4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1C78-B100-E28B-5D77-71578250E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EC48549D-0C4F-4CE9-9C9D-5D75B58DE45B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TRANSFER LEARNING SAVES COMPUTE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5C9F65D1-07D3-4D67-A7B5-8FC46F5FB413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laptop reuses visual features instead of learning everything from scratch.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4D771232-0A8C-4B4B-8411-B5B8B13E2110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3048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C8102E49-46C9-4C3E-BA14-68679A0A95AD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3048000" cy="5715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6034F252-5611-4FA7-ADD2-2E1BF2B5B535}"/>
              </a:ext>
            </a:extLst>
          </p:cNvPr>
          <p:cNvSpPr>
            <a:spLocks noGrp="1"/>
          </p:cNvSpPr>
          <p:nvPr/>
        </p:nvSpPr>
        <p:spPr>
          <a:xfrm>
            <a:off x="1104900" y="2352675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Pretrained knowledge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5A77CFB-008D-4CFA-B92D-9132C244A407}"/>
              </a:ext>
            </a:extLst>
          </p:cNvPr>
          <p:cNvSpPr>
            <a:spLocks noGrp="1"/>
          </p:cNvSpPr>
          <p:nvPr/>
        </p:nvSpPr>
        <p:spPr>
          <a:xfrm>
            <a:off x="1104900" y="2809875"/>
            <a:ext cx="2667000" cy="1562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MobileNetV2 already learned useful visual patterns from ImageNet: edges, curves, textures, and simple shapes.</a:t>
            </a:r>
          </a:p>
        </p:txBody>
      </p:sp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9AE6A65E-BFBA-4956-9C56-A7A9FD012F95}"/>
              </a:ext>
            </a:extLst>
          </p:cNvPr>
          <p:cNvSpPr>
            <a:spLocks noGrp="1"/>
          </p:cNvSpPr>
          <p:nvPr/>
        </p:nvSpPr>
        <p:spPr>
          <a:xfrm>
            <a:off x="4572000" y="2143125"/>
            <a:ext cx="3048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061BFFF0-A22B-4ED1-A794-5AE84F65BA96}"/>
              </a:ext>
            </a:extLst>
          </p:cNvPr>
          <p:cNvSpPr>
            <a:spLocks noGrp="1"/>
          </p:cNvSpPr>
          <p:nvPr/>
        </p:nvSpPr>
        <p:spPr>
          <a:xfrm>
            <a:off x="4572000" y="2143125"/>
            <a:ext cx="3048000" cy="57150"/>
          </a:xfrm>
          <a:prstGeom prst="rect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1C12FB26-CC0F-4BEF-87BF-301500FD5B2C}"/>
              </a:ext>
            </a:extLst>
          </p:cNvPr>
          <p:cNvSpPr>
            <a:spLocks noGrp="1"/>
          </p:cNvSpPr>
          <p:nvPr/>
        </p:nvSpPr>
        <p:spPr>
          <a:xfrm>
            <a:off x="4762500" y="2352675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Lab task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DE94488C-B4E6-4A63-92BD-93E662B8D189}"/>
              </a:ext>
            </a:extLst>
          </p:cNvPr>
          <p:cNvSpPr>
            <a:spLocks noGrp="1"/>
          </p:cNvSpPr>
          <p:nvPr/>
        </p:nvSpPr>
        <p:spPr>
          <a:xfrm>
            <a:off x="4762500" y="2809875"/>
            <a:ext cx="2667000" cy="1562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face lab only needs to learn how to arrange those features into useful face embeddings.</a:t>
            </a:r>
          </a:p>
        </p:txBody>
      </p:sp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AD09865A-B830-4A47-83C7-940082C4C328}"/>
              </a:ext>
            </a:extLst>
          </p:cNvPr>
          <p:cNvSpPr>
            <a:spLocks noGrp="1"/>
          </p:cNvSpPr>
          <p:nvPr/>
        </p:nvSpPr>
        <p:spPr>
          <a:xfrm>
            <a:off x="8229600" y="2143125"/>
            <a:ext cx="3048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746F4AA-D146-4F69-B9A3-E75CA7A1C5A4}"/>
              </a:ext>
            </a:extLst>
          </p:cNvPr>
          <p:cNvSpPr>
            <a:spLocks noGrp="1"/>
          </p:cNvSpPr>
          <p:nvPr/>
        </p:nvSpPr>
        <p:spPr>
          <a:xfrm>
            <a:off x="8229600" y="2143125"/>
            <a:ext cx="3048000" cy="5715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8D6235A3-B170-4B57-BB5B-CFF8C88DAF68}"/>
              </a:ext>
            </a:extLst>
          </p:cNvPr>
          <p:cNvSpPr>
            <a:spLocks noGrp="1"/>
          </p:cNvSpPr>
          <p:nvPr/>
        </p:nvSpPr>
        <p:spPr>
          <a:xfrm>
            <a:off x="8420100" y="2352675"/>
            <a:ext cx="266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Compute saved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3E7A4B9-45BF-4094-8CE4-9EADCC98BC41}"/>
              </a:ext>
            </a:extLst>
          </p:cNvPr>
          <p:cNvSpPr>
            <a:spLocks noGrp="1"/>
          </p:cNvSpPr>
          <p:nvPr/>
        </p:nvSpPr>
        <p:spPr>
          <a:xfrm>
            <a:off x="8420100" y="2809875"/>
            <a:ext cx="2667000" cy="1562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Less training time, lower memory use, and less energy than training every layer from zero.</a:t>
            </a:r>
          </a:p>
        </p:txBody>
      </p:sp>
      <p:sp>
        <p:nvSpPr>
          <p:cNvPr id="445" name="Rounded Rectangle 444">
            <a:extLst>
              <a:ext uri="{FF2B5EF4-FFF2-40B4-BE49-F238E27FC236}">
                <a16:creationId xmlns:a16="http://schemas.microsoft.com/office/drawing/2014/main" id="{3DCE27D6-3868-457B-9356-D51B831269BD}"/>
              </a:ext>
            </a:extLst>
          </p:cNvPr>
          <p:cNvSpPr>
            <a:spLocks noGrp="1"/>
          </p:cNvSpPr>
          <p:nvPr/>
        </p:nvSpPr>
        <p:spPr>
          <a:xfrm>
            <a:off x="2590800" y="5048250"/>
            <a:ext cx="7010400" cy="495300"/>
          </a:xfrm>
          <a:prstGeom prst="roundRect">
            <a:avLst>
              <a:gd name="adj" fmla="val 15385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18A3295-9CF1-4294-AB6E-9C751852DEAA}"/>
              </a:ext>
            </a:extLst>
          </p:cNvPr>
          <p:cNvSpPr>
            <a:spLocks noGrp="1"/>
          </p:cNvSpPr>
          <p:nvPr/>
        </p:nvSpPr>
        <p:spPr>
          <a:xfrm>
            <a:off x="2686050" y="5114925"/>
            <a:ext cx="6819900" cy="4000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Transfer learning = reuse the expensive early learning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6D7DEA71-41E9-4AEA-9D95-0591E5406BDB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5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2979-C848-5BB8-5D48-E24FA2DB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A5969E93-7129-4298-94FF-E0C1543BB293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FROZEN BACKBONE ECONOMICS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773DF2E4-688E-47E2-ADC1-6FA9DC87D61A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Most weights stay fixed, so training focuses on the small embedding head.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A897AB74-D15E-497B-82E2-7DA318F46318}"/>
              </a:ext>
            </a:extLst>
          </p:cNvPr>
          <p:cNvSpPr>
            <a:spLocks noGrp="1"/>
          </p:cNvSpPr>
          <p:nvPr/>
        </p:nvSpPr>
        <p:spPr>
          <a:xfrm>
            <a:off x="1238250" y="2381250"/>
            <a:ext cx="6286500" cy="904875"/>
          </a:xfrm>
          <a:prstGeom prst="roundRect">
            <a:avLst>
              <a:gd name="adj" fmla="val 8421"/>
            </a:avLst>
          </a:prstGeom>
          <a:solidFill>
            <a:srgbClr val="DDEAF0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4949E1BE-D0D2-4B67-92D8-FF14EBBFD535}"/>
              </a:ext>
            </a:extLst>
          </p:cNvPr>
          <p:cNvSpPr>
            <a:spLocks noGrp="1"/>
          </p:cNvSpPr>
          <p:nvPr/>
        </p:nvSpPr>
        <p:spPr>
          <a:xfrm>
            <a:off x="1476375" y="2609850"/>
            <a:ext cx="5810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MobileNetV2 backbone: about 2.2M parameters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D3374E35-102B-4A2A-B034-8298DA473C45}"/>
              </a:ext>
            </a:extLst>
          </p:cNvPr>
          <p:cNvSpPr>
            <a:spLocks noGrp="1"/>
          </p:cNvSpPr>
          <p:nvPr/>
        </p:nvSpPr>
        <p:spPr>
          <a:xfrm>
            <a:off x="1476375" y="3028950"/>
            <a:ext cx="5810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Frozen: forward pass only; no weight updates</a:t>
            </a:r>
          </a:p>
        </p:txBody>
      </p:sp>
      <p:sp>
        <p:nvSpPr>
          <p:cNvPr id="436" name="Rounded Rectangle 435">
            <a:extLst>
              <a:ext uri="{FF2B5EF4-FFF2-40B4-BE49-F238E27FC236}">
                <a16:creationId xmlns:a16="http://schemas.microsoft.com/office/drawing/2014/main" id="{07EE5343-1C23-405F-818D-CEF73D1CC754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CE6D9"/>
          </a:solidFill>
        </p:spPr>
        <p:txBody>
          <a:bodyPr/>
          <a:lstStyle/>
          <a:p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A8C94381-D9E6-4322-BD7C-702CA0B2D853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1857375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Embedding head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F376B14C-64CE-4F40-84A9-DCB9C393CCAF}"/>
              </a:ext>
            </a:extLst>
          </p:cNvPr>
          <p:cNvSpPr>
            <a:spLocks noGrp="1"/>
          </p:cNvSpPr>
          <p:nvPr/>
        </p:nvSpPr>
        <p:spPr>
          <a:xfrm>
            <a:off x="1476375" y="4124325"/>
            <a:ext cx="1857375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about 164K trainable parameters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7C505202-86DF-4368-9124-F481108B759B}"/>
              </a:ext>
            </a:extLst>
          </p:cNvPr>
          <p:cNvSpPr>
            <a:spLocks noGrp="1"/>
          </p:cNvSpPr>
          <p:nvPr/>
        </p:nvSpPr>
        <p:spPr>
          <a:xfrm>
            <a:off x="8001000" y="2400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CC232CF-9AB7-40FF-BDD4-FD8CEA632BDA}"/>
              </a:ext>
            </a:extLst>
          </p:cNvPr>
          <p:cNvSpPr>
            <a:spLocks noGrp="1"/>
          </p:cNvSpPr>
          <p:nvPr/>
        </p:nvSpPr>
        <p:spPr>
          <a:xfrm>
            <a:off x="8229600" y="2381250"/>
            <a:ext cx="3009900" cy="698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Skipped for frozen layers: weight gradients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43A7DB27-678C-433D-94AF-392D5CE363D5}"/>
              </a:ext>
            </a:extLst>
          </p:cNvPr>
          <p:cNvSpPr>
            <a:spLocks noGrp="1"/>
          </p:cNvSpPr>
          <p:nvPr/>
        </p:nvSpPr>
        <p:spPr>
          <a:xfrm>
            <a:off x="8001000" y="3098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9CBC1E6B-B0DE-46C7-A9A0-12EFF9B3D6F9}"/>
              </a:ext>
            </a:extLst>
          </p:cNvPr>
          <p:cNvSpPr>
            <a:spLocks noGrp="1"/>
          </p:cNvSpPr>
          <p:nvPr/>
        </p:nvSpPr>
        <p:spPr>
          <a:xfrm>
            <a:off x="8229600" y="3079750"/>
            <a:ext cx="3009900" cy="698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Skipped for frozen layers: optimizer updates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A2D0BF85-7B75-418C-840D-1B4707EC9842}"/>
              </a:ext>
            </a:extLst>
          </p:cNvPr>
          <p:cNvSpPr>
            <a:spLocks noGrp="1"/>
          </p:cNvSpPr>
          <p:nvPr/>
        </p:nvSpPr>
        <p:spPr>
          <a:xfrm>
            <a:off x="8001000" y="37973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86CB5852-C309-447A-BADD-B6B9EEFB06CA}"/>
              </a:ext>
            </a:extLst>
          </p:cNvPr>
          <p:cNvSpPr>
            <a:spLocks noGrp="1"/>
          </p:cNvSpPr>
          <p:nvPr/>
        </p:nvSpPr>
        <p:spPr>
          <a:xfrm>
            <a:off x="8229600" y="3778250"/>
            <a:ext cx="3009900" cy="698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Saved: memory pressure, time, and energy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3C43AD69-BC10-48F4-9AA1-7CE2AAB7D6D6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6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876D-5ABA-0957-4404-3A860F5E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4D5EFA1C-4CD1-45D1-987F-CBEC349D496F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SIAMESE NETWORK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E9CE9B72-E44F-48AC-A683-9AE8775E54A0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shared brain is one embedding model reused three times.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BB2F19C9-11A6-4D1F-A82C-DBACEB36B250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1524000" cy="552450"/>
          </a:xfrm>
          <a:prstGeom prst="roundRect">
            <a:avLst>
              <a:gd name="adj" fmla="val 13793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29FBC5F-E595-4749-9789-B6F2D7A4D756}"/>
              </a:ext>
            </a:extLst>
          </p:cNvPr>
          <p:cNvSpPr>
            <a:spLocks noGrp="1"/>
          </p:cNvSpPr>
          <p:nvPr/>
        </p:nvSpPr>
        <p:spPr>
          <a:xfrm>
            <a:off x="1238250" y="2362200"/>
            <a:ext cx="1333500" cy="4381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Anchor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0BBE6982-9A87-4075-8CD6-7E64BCE27D94}"/>
              </a:ext>
            </a:extLst>
          </p:cNvPr>
          <p:cNvSpPr>
            <a:spLocks noGrp="1"/>
          </p:cNvSpPr>
          <p:nvPr/>
        </p:nvSpPr>
        <p:spPr>
          <a:xfrm>
            <a:off x="2857500" y="2562225"/>
            <a:ext cx="121920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36" name="Triangle 435">
            <a:extLst>
              <a:ext uri="{FF2B5EF4-FFF2-40B4-BE49-F238E27FC236}">
                <a16:creationId xmlns:a16="http://schemas.microsoft.com/office/drawing/2014/main" id="{34E8584A-4110-4BB4-B698-0E9CBB5BE274}"/>
              </a:ext>
            </a:extLst>
          </p:cNvPr>
          <p:cNvSpPr>
            <a:spLocks noGrp="1"/>
          </p:cNvSpPr>
          <p:nvPr/>
        </p:nvSpPr>
        <p:spPr>
          <a:xfrm>
            <a:off x="4038600" y="2505075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7954E28B-F7CB-4F14-982D-3964C268F110}"/>
              </a:ext>
            </a:extLst>
          </p:cNvPr>
          <p:cNvSpPr>
            <a:spLocks noGrp="1"/>
          </p:cNvSpPr>
          <p:nvPr/>
        </p:nvSpPr>
        <p:spPr>
          <a:xfrm>
            <a:off x="4333875" y="2209800"/>
            <a:ext cx="2286000" cy="723900"/>
          </a:xfrm>
          <a:prstGeom prst="roundRect">
            <a:avLst>
              <a:gd name="adj" fmla="val 10526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41A35E2D-1257-49A7-BA02-64FA557FD685}"/>
              </a:ext>
            </a:extLst>
          </p:cNvPr>
          <p:cNvSpPr>
            <a:spLocks noGrp="1"/>
          </p:cNvSpPr>
          <p:nvPr/>
        </p:nvSpPr>
        <p:spPr>
          <a:xfrm>
            <a:off x="4429125" y="2286000"/>
            <a:ext cx="2095500" cy="609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Same embedding model weights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0C4FE90A-4FF4-4DF7-8D85-F59CF9BB4540}"/>
              </a:ext>
            </a:extLst>
          </p:cNvPr>
          <p:cNvSpPr>
            <a:spLocks noGrp="1"/>
          </p:cNvSpPr>
          <p:nvPr/>
        </p:nvSpPr>
        <p:spPr>
          <a:xfrm>
            <a:off x="6858000" y="2562225"/>
            <a:ext cx="102870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0" name="Triangle 439">
            <a:extLst>
              <a:ext uri="{FF2B5EF4-FFF2-40B4-BE49-F238E27FC236}">
                <a16:creationId xmlns:a16="http://schemas.microsoft.com/office/drawing/2014/main" id="{3603770F-2239-4DFA-8FF3-E7C6A58CCF2B}"/>
              </a:ext>
            </a:extLst>
          </p:cNvPr>
          <p:cNvSpPr>
            <a:spLocks noGrp="1"/>
          </p:cNvSpPr>
          <p:nvPr/>
        </p:nvSpPr>
        <p:spPr>
          <a:xfrm>
            <a:off x="7848600" y="2505075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65568B97-FB81-4292-900F-A2E8C186E76F}"/>
              </a:ext>
            </a:extLst>
          </p:cNvPr>
          <p:cNvSpPr>
            <a:spLocks noGrp="1"/>
          </p:cNvSpPr>
          <p:nvPr/>
        </p:nvSpPr>
        <p:spPr>
          <a:xfrm>
            <a:off x="8143875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DBC23CCB-7C5B-4E7E-81ED-C48901A2ABE5}"/>
              </a:ext>
            </a:extLst>
          </p:cNvPr>
          <p:cNvSpPr>
            <a:spLocks noGrp="1"/>
          </p:cNvSpPr>
          <p:nvPr/>
        </p:nvSpPr>
        <p:spPr>
          <a:xfrm>
            <a:off x="8239125" y="2362200"/>
            <a:ext cx="1238250" cy="4381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 f(A)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39C9E51A-61D6-422B-8D4E-FC40E4AD26FC}"/>
              </a:ext>
            </a:extLst>
          </p:cNvPr>
          <p:cNvSpPr>
            <a:spLocks noGrp="1"/>
          </p:cNvSpPr>
          <p:nvPr/>
        </p:nvSpPr>
        <p:spPr>
          <a:xfrm>
            <a:off x="9906000" y="2362200"/>
            <a:ext cx="1381125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photo of the target person</a:t>
            </a:r>
          </a:p>
        </p:txBody>
      </p:sp>
      <p:sp>
        <p:nvSpPr>
          <p:cNvPr id="444" name="Rounded Rectangle 443">
            <a:extLst>
              <a:ext uri="{FF2B5EF4-FFF2-40B4-BE49-F238E27FC236}">
                <a16:creationId xmlns:a16="http://schemas.microsoft.com/office/drawing/2014/main" id="{2EE305F9-4021-45A9-BC63-73EB7618E37B}"/>
              </a:ext>
            </a:extLst>
          </p:cNvPr>
          <p:cNvSpPr>
            <a:spLocks noGrp="1"/>
          </p:cNvSpPr>
          <p:nvPr/>
        </p:nvSpPr>
        <p:spPr>
          <a:xfrm>
            <a:off x="1143000" y="3429000"/>
            <a:ext cx="1524000" cy="552450"/>
          </a:xfrm>
          <a:prstGeom prst="roundRect">
            <a:avLst>
              <a:gd name="adj" fmla="val 13793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0DCB6CB-F2E6-4871-B68B-EDCD49C1F387}"/>
              </a:ext>
            </a:extLst>
          </p:cNvPr>
          <p:cNvSpPr>
            <a:spLocks noGrp="1"/>
          </p:cNvSpPr>
          <p:nvPr/>
        </p:nvSpPr>
        <p:spPr>
          <a:xfrm>
            <a:off x="1238250" y="3505200"/>
            <a:ext cx="1333500" cy="4381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Positive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48231847-89F2-4395-BC20-F5D482BBE5CD}"/>
              </a:ext>
            </a:extLst>
          </p:cNvPr>
          <p:cNvSpPr>
            <a:spLocks noGrp="1"/>
          </p:cNvSpPr>
          <p:nvPr/>
        </p:nvSpPr>
        <p:spPr>
          <a:xfrm>
            <a:off x="2857500" y="3705225"/>
            <a:ext cx="121920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7" name="Triangle 446">
            <a:extLst>
              <a:ext uri="{FF2B5EF4-FFF2-40B4-BE49-F238E27FC236}">
                <a16:creationId xmlns:a16="http://schemas.microsoft.com/office/drawing/2014/main" id="{9D340419-9869-4DA0-9DFD-3A1696A0FA27}"/>
              </a:ext>
            </a:extLst>
          </p:cNvPr>
          <p:cNvSpPr>
            <a:spLocks noGrp="1"/>
          </p:cNvSpPr>
          <p:nvPr/>
        </p:nvSpPr>
        <p:spPr>
          <a:xfrm>
            <a:off x="4038600" y="3648075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2F69917F-7069-4F90-BC09-412C07C775DA}"/>
              </a:ext>
            </a:extLst>
          </p:cNvPr>
          <p:cNvSpPr>
            <a:spLocks noGrp="1"/>
          </p:cNvSpPr>
          <p:nvPr/>
        </p:nvSpPr>
        <p:spPr>
          <a:xfrm>
            <a:off x="4333875" y="3352800"/>
            <a:ext cx="2286000" cy="723900"/>
          </a:xfrm>
          <a:prstGeom prst="roundRect">
            <a:avLst>
              <a:gd name="adj" fmla="val 10526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62CB9081-1D21-49AC-95BD-89C58FB21F68}"/>
              </a:ext>
            </a:extLst>
          </p:cNvPr>
          <p:cNvSpPr>
            <a:spLocks noGrp="1"/>
          </p:cNvSpPr>
          <p:nvPr/>
        </p:nvSpPr>
        <p:spPr>
          <a:xfrm>
            <a:off x="4429125" y="3429000"/>
            <a:ext cx="2095500" cy="609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Same embedding model weights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A45106D6-10DE-4AF9-B533-6806340E1BCD}"/>
              </a:ext>
            </a:extLst>
          </p:cNvPr>
          <p:cNvSpPr>
            <a:spLocks noGrp="1"/>
          </p:cNvSpPr>
          <p:nvPr/>
        </p:nvSpPr>
        <p:spPr>
          <a:xfrm>
            <a:off x="6858000" y="3705225"/>
            <a:ext cx="102870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51" name="Triangle 450">
            <a:extLst>
              <a:ext uri="{FF2B5EF4-FFF2-40B4-BE49-F238E27FC236}">
                <a16:creationId xmlns:a16="http://schemas.microsoft.com/office/drawing/2014/main" id="{8CEF53A2-848B-4C1F-9483-BEE0CC9021B1}"/>
              </a:ext>
            </a:extLst>
          </p:cNvPr>
          <p:cNvSpPr>
            <a:spLocks noGrp="1"/>
          </p:cNvSpPr>
          <p:nvPr/>
        </p:nvSpPr>
        <p:spPr>
          <a:xfrm>
            <a:off x="7848600" y="3648075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52" name="Rounded Rectangle 451">
            <a:extLst>
              <a:ext uri="{FF2B5EF4-FFF2-40B4-BE49-F238E27FC236}">
                <a16:creationId xmlns:a16="http://schemas.microsoft.com/office/drawing/2014/main" id="{8DC3A2AE-A051-407B-8744-0191E43B8379}"/>
              </a:ext>
            </a:extLst>
          </p:cNvPr>
          <p:cNvSpPr>
            <a:spLocks noGrp="1"/>
          </p:cNvSpPr>
          <p:nvPr/>
        </p:nvSpPr>
        <p:spPr>
          <a:xfrm>
            <a:off x="8143875" y="3429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D56D185C-CF8F-42A5-93AB-61FCC81A22BE}"/>
              </a:ext>
            </a:extLst>
          </p:cNvPr>
          <p:cNvSpPr>
            <a:spLocks noGrp="1"/>
          </p:cNvSpPr>
          <p:nvPr/>
        </p:nvSpPr>
        <p:spPr>
          <a:xfrm>
            <a:off x="8239125" y="3505200"/>
            <a:ext cx="1238250" cy="4381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 f(P)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CD5E4EBF-6408-4BA0-A22C-8C725E6270EE}"/>
              </a:ext>
            </a:extLst>
          </p:cNvPr>
          <p:cNvSpPr>
            <a:spLocks noGrp="1"/>
          </p:cNvSpPr>
          <p:nvPr/>
        </p:nvSpPr>
        <p:spPr>
          <a:xfrm>
            <a:off x="9906000" y="3505200"/>
            <a:ext cx="1381125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another photo of the same person</a:t>
            </a:r>
          </a:p>
        </p:txBody>
      </p:sp>
      <p:sp>
        <p:nvSpPr>
          <p:cNvPr id="455" name="Rounded Rectangle 454">
            <a:extLst>
              <a:ext uri="{FF2B5EF4-FFF2-40B4-BE49-F238E27FC236}">
                <a16:creationId xmlns:a16="http://schemas.microsoft.com/office/drawing/2014/main" id="{2385A2D1-B2B5-48B3-9F58-737642AC49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524000" cy="552450"/>
          </a:xfrm>
          <a:prstGeom prst="roundRect">
            <a:avLst>
              <a:gd name="adj" fmla="val 13793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AC5A1647-80F1-45D8-839D-15A787287E0A}"/>
              </a:ext>
            </a:extLst>
          </p:cNvPr>
          <p:cNvSpPr>
            <a:spLocks noGrp="1"/>
          </p:cNvSpPr>
          <p:nvPr/>
        </p:nvSpPr>
        <p:spPr>
          <a:xfrm>
            <a:off x="1238250" y="4648200"/>
            <a:ext cx="1333500" cy="4381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Negative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1BF06545-203E-408F-A88B-4C43C4B219C7}"/>
              </a:ext>
            </a:extLst>
          </p:cNvPr>
          <p:cNvSpPr>
            <a:spLocks noGrp="1"/>
          </p:cNvSpPr>
          <p:nvPr/>
        </p:nvSpPr>
        <p:spPr>
          <a:xfrm>
            <a:off x="2857500" y="4848225"/>
            <a:ext cx="121920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58" name="Triangle 457">
            <a:extLst>
              <a:ext uri="{FF2B5EF4-FFF2-40B4-BE49-F238E27FC236}">
                <a16:creationId xmlns:a16="http://schemas.microsoft.com/office/drawing/2014/main" id="{5D105D3D-1C33-403C-9267-DF18900A0156}"/>
              </a:ext>
            </a:extLst>
          </p:cNvPr>
          <p:cNvSpPr>
            <a:spLocks noGrp="1"/>
          </p:cNvSpPr>
          <p:nvPr/>
        </p:nvSpPr>
        <p:spPr>
          <a:xfrm>
            <a:off x="4038600" y="4791075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59" name="Rounded Rectangle 458">
            <a:extLst>
              <a:ext uri="{FF2B5EF4-FFF2-40B4-BE49-F238E27FC236}">
                <a16:creationId xmlns:a16="http://schemas.microsoft.com/office/drawing/2014/main" id="{FF3526E2-4FA3-4049-AC6E-45EC7FF23B52}"/>
              </a:ext>
            </a:extLst>
          </p:cNvPr>
          <p:cNvSpPr>
            <a:spLocks noGrp="1"/>
          </p:cNvSpPr>
          <p:nvPr/>
        </p:nvSpPr>
        <p:spPr>
          <a:xfrm>
            <a:off x="4333875" y="4495800"/>
            <a:ext cx="2286000" cy="723900"/>
          </a:xfrm>
          <a:prstGeom prst="roundRect">
            <a:avLst>
              <a:gd name="adj" fmla="val 10526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984198CA-1A31-4A0D-B743-11EB4C227470}"/>
              </a:ext>
            </a:extLst>
          </p:cNvPr>
          <p:cNvSpPr>
            <a:spLocks noGrp="1"/>
          </p:cNvSpPr>
          <p:nvPr/>
        </p:nvSpPr>
        <p:spPr>
          <a:xfrm>
            <a:off x="4429125" y="4572000"/>
            <a:ext cx="2095500" cy="6096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Same embedding model weights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E964B8BA-EEA7-41E5-8450-49902DAE94E0}"/>
              </a:ext>
            </a:extLst>
          </p:cNvPr>
          <p:cNvSpPr>
            <a:spLocks noGrp="1"/>
          </p:cNvSpPr>
          <p:nvPr/>
        </p:nvSpPr>
        <p:spPr>
          <a:xfrm>
            <a:off x="6858000" y="4848225"/>
            <a:ext cx="1028700" cy="3810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62" name="Triangle 461">
            <a:extLst>
              <a:ext uri="{FF2B5EF4-FFF2-40B4-BE49-F238E27FC236}">
                <a16:creationId xmlns:a16="http://schemas.microsoft.com/office/drawing/2014/main" id="{99454A3A-BE35-44C7-97DE-6D9E5DD77459}"/>
              </a:ext>
            </a:extLst>
          </p:cNvPr>
          <p:cNvSpPr>
            <a:spLocks noGrp="1"/>
          </p:cNvSpPr>
          <p:nvPr/>
        </p:nvSpPr>
        <p:spPr>
          <a:xfrm>
            <a:off x="7848600" y="4791075"/>
            <a:ext cx="152400" cy="152400"/>
          </a:xfrm>
          <a:prstGeom prst="triangl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63" name="Rounded Rectangle 462">
            <a:extLst>
              <a:ext uri="{FF2B5EF4-FFF2-40B4-BE49-F238E27FC236}">
                <a16:creationId xmlns:a16="http://schemas.microsoft.com/office/drawing/2014/main" id="{287EF785-BD18-400B-B3D3-5161B08C8367}"/>
              </a:ext>
            </a:extLst>
          </p:cNvPr>
          <p:cNvSpPr>
            <a:spLocks noGrp="1"/>
          </p:cNvSpPr>
          <p:nvPr/>
        </p:nvSpPr>
        <p:spPr>
          <a:xfrm>
            <a:off x="8143875" y="4572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FCD46057-A174-41B3-BC84-2D011595AF3E}"/>
              </a:ext>
            </a:extLst>
          </p:cNvPr>
          <p:cNvSpPr>
            <a:spLocks noGrp="1"/>
          </p:cNvSpPr>
          <p:nvPr/>
        </p:nvSpPr>
        <p:spPr>
          <a:xfrm>
            <a:off x="8239125" y="4648200"/>
            <a:ext cx="1238250" cy="4381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 f(N)</a:t>
            </a: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D097AA68-8306-40A3-BB4C-A33EB7A37267}"/>
              </a:ext>
            </a:extLst>
          </p:cNvPr>
          <p:cNvSpPr>
            <a:spLocks noGrp="1"/>
          </p:cNvSpPr>
          <p:nvPr/>
        </p:nvSpPr>
        <p:spPr>
          <a:xfrm>
            <a:off x="9906000" y="4648200"/>
            <a:ext cx="1381125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photo of a different person</a:t>
            </a: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98DBAD9B-3BE1-42BE-9F64-04313A5DF910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7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E77B-8D30-D10F-CD11-BAF55F22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09442CD1-277C-4A9A-90D1-CC99EBC94472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TRIPLET LOSS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189BD3CE-C782-4CE0-8335-D4AF62DA7975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rubber band rule becomes a training signal for embeddings.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C6986AF2-3A58-48C1-82FE-9E3AD100896B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3143250" cy="2238375"/>
          </a:xfrm>
          <a:prstGeom prst="roundRect">
            <a:avLst>
              <a:gd name="adj" fmla="val 3404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3F1E1DB1-2560-4664-962A-DD2A5244732C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3143250" cy="5715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A2E9FB31-7A37-4E19-AC01-644D05FF9D6A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762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Analogy first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292691C7-0386-436A-9992-B43EDE40C057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2762250" cy="14192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Pull the anchor and positive together. Push the anchor and negative apart by a safety margin.</a:t>
            </a:r>
          </a:p>
        </p:txBody>
      </p:sp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B1FB52F7-2533-41EA-B786-3C44183D4A36}"/>
              </a:ext>
            </a:extLst>
          </p:cNvPr>
          <p:cNvSpPr>
            <a:spLocks noGrp="1"/>
          </p:cNvSpPr>
          <p:nvPr/>
        </p:nvSpPr>
        <p:spPr>
          <a:xfrm>
            <a:off x="4953000" y="2647950"/>
            <a:ext cx="1047750" cy="476250"/>
          </a:xfrm>
          <a:prstGeom prst="roundRect">
            <a:avLst>
              <a:gd name="adj" fmla="val 16000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1A515741-9C33-4177-93D8-641D114EED06}"/>
              </a:ext>
            </a:extLst>
          </p:cNvPr>
          <p:cNvSpPr>
            <a:spLocks noGrp="1"/>
          </p:cNvSpPr>
          <p:nvPr/>
        </p:nvSpPr>
        <p:spPr>
          <a:xfrm>
            <a:off x="5048250" y="2724150"/>
            <a:ext cx="857250" cy="3619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Anchor</a:t>
            </a:r>
          </a:p>
        </p:txBody>
      </p:sp>
      <p:sp>
        <p:nvSpPr>
          <p:cNvPr id="439" name="Rounded Rectangle 438">
            <a:extLst>
              <a:ext uri="{FF2B5EF4-FFF2-40B4-BE49-F238E27FC236}">
                <a16:creationId xmlns:a16="http://schemas.microsoft.com/office/drawing/2014/main" id="{AD1E03B3-ECEE-4034-B99B-5CE26C620953}"/>
              </a:ext>
            </a:extLst>
          </p:cNvPr>
          <p:cNvSpPr>
            <a:spLocks noGrp="1"/>
          </p:cNvSpPr>
          <p:nvPr/>
        </p:nvSpPr>
        <p:spPr>
          <a:xfrm>
            <a:off x="6572250" y="2647950"/>
            <a:ext cx="1143000" cy="476250"/>
          </a:xfrm>
          <a:prstGeom prst="roundRect">
            <a:avLst>
              <a:gd name="adj" fmla="val 16000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F782D7B-FE36-4F50-A92A-345591CDC476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952500" cy="3619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Positive</a:t>
            </a:r>
          </a:p>
        </p:txBody>
      </p:sp>
      <p:sp>
        <p:nvSpPr>
          <p:cNvPr id="441" name="Rounded Rectangle 440">
            <a:extLst>
              <a:ext uri="{FF2B5EF4-FFF2-40B4-BE49-F238E27FC236}">
                <a16:creationId xmlns:a16="http://schemas.microsoft.com/office/drawing/2014/main" id="{B4EC281C-993D-43E9-8683-52C2D6150EFA}"/>
              </a:ext>
            </a:extLst>
          </p:cNvPr>
          <p:cNvSpPr>
            <a:spLocks noGrp="1"/>
          </p:cNvSpPr>
          <p:nvPr/>
        </p:nvSpPr>
        <p:spPr>
          <a:xfrm>
            <a:off x="9144000" y="2647950"/>
            <a:ext cx="1143000" cy="476250"/>
          </a:xfrm>
          <a:prstGeom prst="roundRect">
            <a:avLst>
              <a:gd name="adj" fmla="val 16000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0F73C44-798B-44C4-89F0-7A6AA07EBE6D}"/>
              </a:ext>
            </a:extLst>
          </p:cNvPr>
          <p:cNvSpPr>
            <a:spLocks noGrp="1"/>
          </p:cNvSpPr>
          <p:nvPr/>
        </p:nvSpPr>
        <p:spPr>
          <a:xfrm>
            <a:off x="9239250" y="2724150"/>
            <a:ext cx="952500" cy="3619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Negative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35B7E4F7-37DA-4AB2-B287-262EA9D762DA}"/>
              </a:ext>
            </a:extLst>
          </p:cNvPr>
          <p:cNvSpPr>
            <a:spLocks noGrp="1"/>
          </p:cNvSpPr>
          <p:nvPr/>
        </p:nvSpPr>
        <p:spPr>
          <a:xfrm>
            <a:off x="6000750" y="2886075"/>
            <a:ext cx="571500" cy="47625"/>
          </a:xfrm>
          <a:prstGeom prst="rect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CA23160-09AC-4984-A38F-09D9F76919BF}"/>
              </a:ext>
            </a:extLst>
          </p:cNvPr>
          <p:cNvSpPr>
            <a:spLocks noGrp="1"/>
          </p:cNvSpPr>
          <p:nvPr/>
        </p:nvSpPr>
        <p:spPr>
          <a:xfrm>
            <a:off x="7734300" y="2886075"/>
            <a:ext cx="1314450" cy="47625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5" name="Rounded Rectangle 444">
            <a:extLst>
              <a:ext uri="{FF2B5EF4-FFF2-40B4-BE49-F238E27FC236}">
                <a16:creationId xmlns:a16="http://schemas.microsoft.com/office/drawing/2014/main" id="{17EDB7D0-4704-4B67-8A56-1637B980E354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5334000" cy="1200150"/>
          </a:xfrm>
          <a:prstGeom prst="roundRect">
            <a:avLst>
              <a:gd name="adj" fmla="val 6349"/>
            </a:avLst>
          </a:prstGeom>
          <a:solidFill>
            <a:srgbClr val="111827"/>
          </a:solidFill>
        </p:spPr>
        <p:txBody>
          <a:bodyPr/>
          <a:lstStyle/>
          <a:p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764BE84-D501-4048-ADB2-8C010F3A227B}"/>
              </a:ext>
            </a:extLst>
          </p:cNvPr>
          <p:cNvSpPr>
            <a:spLocks noGrp="1"/>
          </p:cNvSpPr>
          <p:nvPr/>
        </p:nvSpPr>
        <p:spPr>
          <a:xfrm>
            <a:off x="5124450" y="4229100"/>
            <a:ext cx="4991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Triplet loss = pos_dist - neg_dist + margin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029D2BB7-61A4-4FDE-8E0D-38462E87FD84}"/>
              </a:ext>
            </a:extLst>
          </p:cNvPr>
          <p:cNvSpPr>
            <a:spLocks noGrp="1"/>
          </p:cNvSpPr>
          <p:nvPr/>
        </p:nvSpPr>
        <p:spPr>
          <a:xfrm>
            <a:off x="5124450" y="4476750"/>
            <a:ext cx="4991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margin = 0.2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0C51471D-A08B-4971-B03B-C7D2E29F4A8E}"/>
              </a:ext>
            </a:extLst>
          </p:cNvPr>
          <p:cNvSpPr>
            <a:spLocks noGrp="1"/>
          </p:cNvSpPr>
          <p:nvPr/>
        </p:nvSpPr>
        <p:spPr>
          <a:xfrm>
            <a:off x="5124450" y="4724400"/>
            <a:ext cx="4991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loss is clamped at 0 for easy triplets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27624437-E46C-4198-BF53-40698011038E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8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E890-022C-8B0B-4BCE-6E16F6CC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9E72FA0E-A528-401A-8FC6-798A38735D29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COMPUTE BUDGET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5775B5AE-B712-47D5-A00D-6EEA7C5DA107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Batch size and triplets multiply the work the laptop must do.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18AB5F76-A4A0-4DF1-9C6D-458C45725945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D7A7E2B7-302E-4FBD-9D7C-9DF65754DA15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2857500" cy="5715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9007A7CD-E96C-4913-BA11-72140DEF5AF4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476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Term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4F5B3860-B727-4986-9D6D-0E525A9E48D0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2476500" cy="1562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Compute budget means the time, energy, memory, and math operations available on the laptop.</a:t>
            </a:r>
          </a:p>
        </p:txBody>
      </p:sp>
      <p:sp>
        <p:nvSpPr>
          <p:cNvPr id="437" name="Rounded Rectangle 436">
            <a:extLst>
              <a:ext uri="{FF2B5EF4-FFF2-40B4-BE49-F238E27FC236}">
                <a16:creationId xmlns:a16="http://schemas.microsoft.com/office/drawing/2014/main" id="{D2CD2BE5-1442-48DC-9EC5-8DBEDE8BBD79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74BCE06A-1E2C-4500-BBBC-8C83BAECED37}"/>
              </a:ext>
            </a:extLst>
          </p:cNvPr>
          <p:cNvSpPr>
            <a:spLocks noGrp="1"/>
          </p:cNvSpPr>
          <p:nvPr/>
        </p:nvSpPr>
        <p:spPr>
          <a:xfrm>
            <a:off x="4572000" y="2457450"/>
            <a:ext cx="1238250" cy="552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32 triplets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7225F482-0BC5-41CC-8020-2C0334CE167E}"/>
              </a:ext>
            </a:extLst>
          </p:cNvPr>
          <p:cNvSpPr>
            <a:spLocks noGrp="1"/>
          </p:cNvSpPr>
          <p:nvPr/>
        </p:nvSpPr>
        <p:spPr>
          <a:xfrm>
            <a:off x="6115050" y="2476500"/>
            <a:ext cx="3810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70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x</a:t>
            </a:r>
          </a:p>
        </p:txBody>
      </p:sp>
      <p:sp>
        <p:nvSpPr>
          <p:cNvPr id="440" name="Rounded Rectangle 439">
            <a:extLst>
              <a:ext uri="{FF2B5EF4-FFF2-40B4-BE49-F238E27FC236}">
                <a16:creationId xmlns:a16="http://schemas.microsoft.com/office/drawing/2014/main" id="{3A4BA555-8255-4339-97E5-5027A9576E4F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1DD341D4-5E84-404F-A710-2E053E0DB0A2}"/>
              </a:ext>
            </a:extLst>
          </p:cNvPr>
          <p:cNvSpPr>
            <a:spLocks noGrp="1"/>
          </p:cNvSpPr>
          <p:nvPr/>
        </p:nvSpPr>
        <p:spPr>
          <a:xfrm>
            <a:off x="6762750" y="2457450"/>
            <a:ext cx="1333500" cy="552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 images per triplet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6B443274-F0C0-4BCD-9ED9-5D7FF52F0851}"/>
              </a:ext>
            </a:extLst>
          </p:cNvPr>
          <p:cNvSpPr>
            <a:spLocks noGrp="1"/>
          </p:cNvSpPr>
          <p:nvPr/>
        </p:nvSpPr>
        <p:spPr>
          <a:xfrm>
            <a:off x="8439150" y="2476500"/>
            <a:ext cx="3810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70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=</a:t>
            </a:r>
          </a:p>
        </p:txBody>
      </p:sp>
      <p:sp>
        <p:nvSpPr>
          <p:cNvPr id="443" name="Rounded Rectangle 442">
            <a:extLst>
              <a:ext uri="{FF2B5EF4-FFF2-40B4-BE49-F238E27FC236}">
                <a16:creationId xmlns:a16="http://schemas.microsoft.com/office/drawing/2014/main" id="{91A2CCDD-806B-476F-9A9A-C57C5EE3B83A}"/>
              </a:ext>
            </a:extLst>
          </p:cNvPr>
          <p:cNvSpPr>
            <a:spLocks noGrp="1"/>
          </p:cNvSpPr>
          <p:nvPr/>
        </p:nvSpPr>
        <p:spPr>
          <a:xfrm>
            <a:off x="9048750" y="2381250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7C7F796D-AD7F-4F09-AFFE-55B48A205C70}"/>
              </a:ext>
            </a:extLst>
          </p:cNvPr>
          <p:cNvSpPr>
            <a:spLocks noGrp="1"/>
          </p:cNvSpPr>
          <p:nvPr/>
        </p:nvSpPr>
        <p:spPr>
          <a:xfrm>
            <a:off x="9144000" y="2457450"/>
            <a:ext cx="1333500" cy="5524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96 image passes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3DE84E05-0012-47BB-882D-548762E03334}"/>
              </a:ext>
            </a:extLst>
          </p:cNvPr>
          <p:cNvSpPr>
            <a:spLocks noGrp="1"/>
          </p:cNvSpPr>
          <p:nvPr/>
        </p:nvSpPr>
        <p:spPr>
          <a:xfrm>
            <a:off x="4572000" y="3733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FB46C5F-118A-4B9E-B109-B8200D5B8015}"/>
              </a:ext>
            </a:extLst>
          </p:cNvPr>
          <p:cNvSpPr>
            <a:spLocks noGrp="1"/>
          </p:cNvSpPr>
          <p:nvPr/>
        </p:nvSpPr>
        <p:spPr>
          <a:xfrm>
            <a:off x="4800600" y="3714750"/>
            <a:ext cx="5581650" cy="508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Every pass moves pixels through many convolution layers.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025A77FC-077E-469A-8A91-D5C357BAD8CB}"/>
              </a:ext>
            </a:extLst>
          </p:cNvPr>
          <p:cNvSpPr>
            <a:spLocks noGrp="1"/>
          </p:cNvSpPr>
          <p:nvPr/>
        </p:nvSpPr>
        <p:spPr>
          <a:xfrm>
            <a:off x="4572000" y="4241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49B2BE93-337A-4B3F-938F-EBF6833749F9}"/>
              </a:ext>
            </a:extLst>
          </p:cNvPr>
          <p:cNvSpPr>
            <a:spLocks noGrp="1"/>
          </p:cNvSpPr>
          <p:nvPr/>
        </p:nvSpPr>
        <p:spPr>
          <a:xfrm>
            <a:off x="4800600" y="4222750"/>
            <a:ext cx="5581650" cy="508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MobileNetV2 keeps the math manageable for classroom laptops.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365D9C7A-706A-481A-BA75-EE776D291F1F}"/>
              </a:ext>
            </a:extLst>
          </p:cNvPr>
          <p:cNvSpPr>
            <a:spLocks noGrp="1"/>
          </p:cNvSpPr>
          <p:nvPr/>
        </p:nvSpPr>
        <p:spPr>
          <a:xfrm>
            <a:off x="4572000" y="4749800"/>
            <a:ext cx="171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14BBF851-D5B9-4DFE-AC95-2E506707A9FB}"/>
              </a:ext>
            </a:extLst>
          </p:cNvPr>
          <p:cNvSpPr>
            <a:spLocks noGrp="1"/>
          </p:cNvSpPr>
          <p:nvPr/>
        </p:nvSpPr>
        <p:spPr>
          <a:xfrm>
            <a:off x="4800600" y="4730750"/>
            <a:ext cx="5581650" cy="508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Freezing the backbone avoids many training-time calculations.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DBDD478B-E4F9-48FA-96EA-47F1AD3E8888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9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88D3-C5BA-0EA2-DD6E-46EF64C7E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B349FA73-8762-4E11-9E3A-74E5D19E45A6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CHECKING LEARNING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B5EB45D3-C02E-4B7A-9144-16F749335C5D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Nearest-neighbor matching checks whether embeddings cluster correctly.</a:t>
            </a: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75960B7D-91EB-46A3-8228-F1A9D80BDAE6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314325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149770C7-ED83-49A1-BBB2-976C28FB7180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3143250" cy="5715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7F751C8E-5A3D-4FE1-A6F9-0C84905B82C3}"/>
              </a:ext>
            </a:extLst>
          </p:cNvPr>
          <p:cNvSpPr>
            <a:spLocks noGrp="1"/>
          </p:cNvSpPr>
          <p:nvPr/>
        </p:nvSpPr>
        <p:spPr>
          <a:xfrm>
            <a:off x="1104900" y="2305050"/>
            <a:ext cx="2762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Evaluation idea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3AAF8F7-E378-43F2-B8DA-8C5ED3E762E6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2762250" cy="1514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After training, the model creates embeddings for the training and validation faces. Then 1-nearest-neighbor checks whether the closest stored embedding has the right label.</a:t>
            </a:r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F02FEA0D-9B7E-47AA-97EF-573A258C2580}"/>
              </a:ext>
            </a:extLst>
          </p:cNvPr>
          <p:cNvSpPr>
            <a:spLocks noGrp="1"/>
          </p:cNvSpPr>
          <p:nvPr/>
        </p:nvSpPr>
        <p:spPr>
          <a:xfrm>
            <a:off x="5429250" y="2857500"/>
            <a:ext cx="209550" cy="209550"/>
          </a:xfrm>
          <a:prstGeom prst="ellipse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8" name="Oval 437">
            <a:extLst>
              <a:ext uri="{FF2B5EF4-FFF2-40B4-BE49-F238E27FC236}">
                <a16:creationId xmlns:a16="http://schemas.microsoft.com/office/drawing/2014/main" id="{2BF0A7C5-AE1C-47A4-9BD2-134F6CF3DFA2}"/>
              </a:ext>
            </a:extLst>
          </p:cNvPr>
          <p:cNvSpPr>
            <a:spLocks noGrp="1"/>
          </p:cNvSpPr>
          <p:nvPr/>
        </p:nvSpPr>
        <p:spPr>
          <a:xfrm>
            <a:off x="5810250" y="3143250"/>
            <a:ext cx="209550" cy="209550"/>
          </a:xfrm>
          <a:prstGeom prst="ellipse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C981F4C6-31D5-4C84-8445-7332636052C8}"/>
              </a:ext>
            </a:extLst>
          </p:cNvPr>
          <p:cNvSpPr>
            <a:spLocks noGrp="1"/>
          </p:cNvSpPr>
          <p:nvPr/>
        </p:nvSpPr>
        <p:spPr>
          <a:xfrm>
            <a:off x="5219700" y="3314700"/>
            <a:ext cx="209550" cy="209550"/>
          </a:xfrm>
          <a:prstGeom prst="ellipse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0" name="Oval 439">
            <a:extLst>
              <a:ext uri="{FF2B5EF4-FFF2-40B4-BE49-F238E27FC236}">
                <a16:creationId xmlns:a16="http://schemas.microsoft.com/office/drawing/2014/main" id="{3050B8FD-DC5B-4905-B1B8-A7AE4D87DD8E}"/>
              </a:ext>
            </a:extLst>
          </p:cNvPr>
          <p:cNvSpPr>
            <a:spLocks noGrp="1"/>
          </p:cNvSpPr>
          <p:nvPr/>
        </p:nvSpPr>
        <p:spPr>
          <a:xfrm>
            <a:off x="7239000" y="2476500"/>
            <a:ext cx="209550" cy="209550"/>
          </a:xfrm>
          <a:prstGeom prst="ellipse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1" name="Oval 440">
            <a:extLst>
              <a:ext uri="{FF2B5EF4-FFF2-40B4-BE49-F238E27FC236}">
                <a16:creationId xmlns:a16="http://schemas.microsoft.com/office/drawing/2014/main" id="{0EC525D5-B9CB-4759-BFEA-92009A744A6E}"/>
              </a:ext>
            </a:extLst>
          </p:cNvPr>
          <p:cNvSpPr>
            <a:spLocks noGrp="1"/>
          </p:cNvSpPr>
          <p:nvPr/>
        </p:nvSpPr>
        <p:spPr>
          <a:xfrm>
            <a:off x="7524750" y="2952750"/>
            <a:ext cx="209550" cy="209550"/>
          </a:xfrm>
          <a:prstGeom prst="ellipse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Oval 441">
            <a:extLst>
              <a:ext uri="{FF2B5EF4-FFF2-40B4-BE49-F238E27FC236}">
                <a16:creationId xmlns:a16="http://schemas.microsoft.com/office/drawing/2014/main" id="{E656ADA7-64B7-4A19-91E5-214C68EA5CB1}"/>
              </a:ext>
            </a:extLst>
          </p:cNvPr>
          <p:cNvSpPr>
            <a:spLocks noGrp="1"/>
          </p:cNvSpPr>
          <p:nvPr/>
        </p:nvSpPr>
        <p:spPr>
          <a:xfrm>
            <a:off x="6905625" y="3028950"/>
            <a:ext cx="209550" cy="209550"/>
          </a:xfrm>
          <a:prstGeom prst="ellipse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92A05537-C654-4213-BB92-D39CAECA0D20}"/>
              </a:ext>
            </a:extLst>
          </p:cNvPr>
          <p:cNvSpPr>
            <a:spLocks noGrp="1"/>
          </p:cNvSpPr>
          <p:nvPr/>
        </p:nvSpPr>
        <p:spPr>
          <a:xfrm>
            <a:off x="8715375" y="3714750"/>
            <a:ext cx="209550" cy="209550"/>
          </a:xfrm>
          <a:prstGeom prst="ellips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Oval 443">
            <a:extLst>
              <a:ext uri="{FF2B5EF4-FFF2-40B4-BE49-F238E27FC236}">
                <a16:creationId xmlns:a16="http://schemas.microsoft.com/office/drawing/2014/main" id="{09169F25-D796-4E74-8362-7FA26D458EE3}"/>
              </a:ext>
            </a:extLst>
          </p:cNvPr>
          <p:cNvSpPr>
            <a:spLocks noGrp="1"/>
          </p:cNvSpPr>
          <p:nvPr/>
        </p:nvSpPr>
        <p:spPr>
          <a:xfrm>
            <a:off x="9096375" y="4000500"/>
            <a:ext cx="209550" cy="209550"/>
          </a:xfrm>
          <a:prstGeom prst="ellips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5" name="Oval 444">
            <a:extLst>
              <a:ext uri="{FF2B5EF4-FFF2-40B4-BE49-F238E27FC236}">
                <a16:creationId xmlns:a16="http://schemas.microsoft.com/office/drawing/2014/main" id="{F1B56D0A-5995-4073-9FE0-87F28920248D}"/>
              </a:ext>
            </a:extLst>
          </p:cNvPr>
          <p:cNvSpPr>
            <a:spLocks noGrp="1"/>
          </p:cNvSpPr>
          <p:nvPr/>
        </p:nvSpPr>
        <p:spPr>
          <a:xfrm>
            <a:off x="8429625" y="4229100"/>
            <a:ext cx="209550" cy="209550"/>
          </a:xfrm>
          <a:prstGeom prst="ellipse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CBB5E34F-F457-4084-8F04-F3F324053558}"/>
              </a:ext>
            </a:extLst>
          </p:cNvPr>
          <p:cNvSpPr>
            <a:spLocks noGrp="1"/>
          </p:cNvSpPr>
          <p:nvPr/>
        </p:nvSpPr>
        <p:spPr>
          <a:xfrm>
            <a:off x="5334000" y="4762500"/>
            <a:ext cx="4762500" cy="3619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Embedding space: same people should form nearby clusters</a:t>
            </a:r>
          </a:p>
        </p:txBody>
      </p:sp>
      <p:sp>
        <p:nvSpPr>
          <p:cNvPr id="447" name="Rounded Rectangle 446">
            <a:extLst>
              <a:ext uri="{FF2B5EF4-FFF2-40B4-BE49-F238E27FC236}">
                <a16:creationId xmlns:a16="http://schemas.microsoft.com/office/drawing/2014/main" id="{4AA9EE15-ADC7-4509-A031-87EFE5902918}"/>
              </a:ext>
            </a:extLst>
          </p:cNvPr>
          <p:cNvSpPr>
            <a:spLocks noGrp="1"/>
          </p:cNvSpPr>
          <p:nvPr/>
        </p:nvSpPr>
        <p:spPr>
          <a:xfrm>
            <a:off x="5105400" y="5334000"/>
            <a:ext cx="5429250" cy="742950"/>
          </a:xfrm>
          <a:prstGeom prst="roundRect">
            <a:avLst>
              <a:gd name="adj" fmla="val 10256"/>
            </a:avLst>
          </a:prstGeom>
          <a:solidFill>
            <a:srgbClr val="111827"/>
          </a:solidFill>
        </p:spPr>
        <p:txBody>
          <a:bodyPr/>
          <a:lstStyle/>
          <a:p>
            <a:endParaRPr lang="en-US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3C83B74E-5EE7-42FC-9B2E-A1E02E5A998C}"/>
              </a:ext>
            </a:extLst>
          </p:cNvPr>
          <p:cNvSpPr>
            <a:spLocks noGrp="1"/>
          </p:cNvSpPr>
          <p:nvPr/>
        </p:nvSpPr>
        <p:spPr>
          <a:xfrm>
            <a:off x="5276850" y="546735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KNeighborsClassifier(n_neighbors=1,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01AC99B3-570F-41BC-AAF4-F5087C7614B6}"/>
              </a:ext>
            </a:extLst>
          </p:cNvPr>
          <p:cNvSpPr>
            <a:spLocks noGrp="1"/>
          </p:cNvSpPr>
          <p:nvPr/>
        </p:nvSpPr>
        <p:spPr>
          <a:xfrm>
            <a:off x="5276850" y="5715000"/>
            <a:ext cx="5086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                   metric='euclidean')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F70F27F6-A8B6-4F77-8AB2-76EF0A32DCE3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10</a:t>
            </a:r>
          </a:p>
        </p:txBody>
      </p:sp>
    </p:spTree>
    <p:extLst>
      <p:ext uri="{BB962C8B-B14F-4D97-AF65-F5344CB8AC3E}">
        <p14:creationId xmlns:p14="http://schemas.microsoft.com/office/powerpoint/2010/main" val="1819610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AB96-53D0-BDF8-7C97-7D873CD0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0A27B7F5-CE92-4883-9903-A0B92CAB3B45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AI MEETS SILICON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C22D4B0-C06F-4E42-A29E-22F5BA166516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Model choices decide whether AI runs well on real classroom devices.</a:t>
            </a:r>
          </a:p>
        </p:txBody>
      </p:sp>
      <p:sp>
        <p:nvSpPr>
          <p:cNvPr id="439" name="Rounded Rectangle 438">
            <a:extLst>
              <a:ext uri="{FF2B5EF4-FFF2-40B4-BE49-F238E27FC236}">
                <a16:creationId xmlns:a16="http://schemas.microsoft.com/office/drawing/2014/main" id="{2BE2898C-1B0A-4A59-A2E8-6A5CD135A240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42912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FEB9C6C7-92CB-4047-864C-62A976D7F0E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429125" cy="57150"/>
          </a:xfrm>
          <a:prstGeom prst="rect">
            <a:avLst/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85D1ED2-EFD1-4BEB-B278-48E95966715C}"/>
              </a:ext>
            </a:extLst>
          </p:cNvPr>
          <p:cNvSpPr>
            <a:spLocks noGrp="1"/>
          </p:cNvSpPr>
          <p:nvPr/>
        </p:nvSpPr>
        <p:spPr>
          <a:xfrm>
            <a:off x="1143000" y="2400300"/>
            <a:ext cx="4048125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Parameters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BC61E14C-A790-4725-8B19-B6BC69D586ED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4048125" cy="371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How many stored weights must fit in memory.</a:t>
            </a:r>
          </a:p>
        </p:txBody>
      </p:sp>
      <p:sp>
        <p:nvSpPr>
          <p:cNvPr id="443" name="Rounded Rectangle 442">
            <a:extLst>
              <a:ext uri="{FF2B5EF4-FFF2-40B4-BE49-F238E27FC236}">
                <a16:creationId xmlns:a16="http://schemas.microsoft.com/office/drawing/2014/main" id="{C6E2D684-915D-4D28-8CD5-A0DD93AB7A0E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442912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B61C634-CC1F-47F3-A927-ABBCE884E9C8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4429125" cy="57150"/>
          </a:xfrm>
          <a:prstGeom prst="rect">
            <a:avLst/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811AFB59-70FC-4B56-8515-A990850E980A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4048125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Math operations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B5011C9B-DC20-490A-82DD-35B477A68BB2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4048125" cy="371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How much multiply-add work the chip must do.</a:t>
            </a:r>
          </a:p>
        </p:txBody>
      </p:sp>
      <p:sp>
        <p:nvSpPr>
          <p:cNvPr id="447" name="Rounded Rectangle 446">
            <a:extLst>
              <a:ext uri="{FF2B5EF4-FFF2-40B4-BE49-F238E27FC236}">
                <a16:creationId xmlns:a16="http://schemas.microsoft.com/office/drawing/2014/main" id="{72B308A3-FA44-4E04-AB3F-BC2353A01857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442912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C65F80C0-B5E2-4AA3-B19C-ABC32CF4D828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4429125" cy="57150"/>
          </a:xfrm>
          <a:prstGeom prst="rect">
            <a:avLst/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2BD09C5D-757F-4C3A-82C7-4A77D4B0BAFA}"/>
              </a:ext>
            </a:extLst>
          </p:cNvPr>
          <p:cNvSpPr>
            <a:spLocks noGrp="1"/>
          </p:cNvSpPr>
          <p:nvPr/>
        </p:nvSpPr>
        <p:spPr>
          <a:xfrm>
            <a:off x="1143000" y="4019550"/>
            <a:ext cx="4048125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Memory movement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AABEBCE2-5F58-4424-B70C-AD5DA0ACC55E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4048125" cy="371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Moving data can cost more energy than the math.</a:t>
            </a:r>
          </a:p>
        </p:txBody>
      </p:sp>
      <p:sp>
        <p:nvSpPr>
          <p:cNvPr id="451" name="Rounded Rectangle 450">
            <a:extLst>
              <a:ext uri="{FF2B5EF4-FFF2-40B4-BE49-F238E27FC236}">
                <a16:creationId xmlns:a16="http://schemas.microsoft.com/office/drawing/2014/main" id="{9022B911-93BA-494F-BC24-40C575B3B7C7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442912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0831EF8A-5606-4E7E-A0BC-9B79C95ECC33}"/>
              </a:ext>
            </a:extLst>
          </p:cNvPr>
          <p:cNvSpPr>
            <a:spLocks noGrp="1"/>
          </p:cNvSpPr>
          <p:nvPr/>
        </p:nvSpPr>
        <p:spPr>
          <a:xfrm>
            <a:off x="6096000" y="3810000"/>
            <a:ext cx="4429125" cy="57150"/>
          </a:xfrm>
          <a:prstGeom prst="rect">
            <a:avLst/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29F41B90-B0BB-4BD5-9054-36F2A44D462D}"/>
              </a:ext>
            </a:extLst>
          </p:cNvPr>
          <p:cNvSpPr>
            <a:spLocks noGrp="1"/>
          </p:cNvSpPr>
          <p:nvPr/>
        </p:nvSpPr>
        <p:spPr>
          <a:xfrm>
            <a:off x="6286500" y="4019550"/>
            <a:ext cx="4048125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A02B93"/>
                </a:solidFill>
                <a:latin typeface="Arial"/>
                <a:ea typeface="Arial"/>
                <a:cs typeface="Arial"/>
              </a:defRPr>
            </a:pPr>
            <a:r>
              <a:t>Precision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4C401EFA-F023-49D1-9443-692B9C3900E8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4048125" cy="3714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FP32, FP16, or INT8 changes speed, memory, and accuracy.</a:t>
            </a:r>
          </a:p>
        </p:txBody>
      </p:sp>
      <p:sp>
        <p:nvSpPr>
          <p:cNvPr id="455" name="Rounded Rectangle 454">
            <a:extLst>
              <a:ext uri="{FF2B5EF4-FFF2-40B4-BE49-F238E27FC236}">
                <a16:creationId xmlns:a16="http://schemas.microsoft.com/office/drawing/2014/main" id="{181C6891-202C-4E88-B97E-587B977D43BD}"/>
              </a:ext>
            </a:extLst>
          </p:cNvPr>
          <p:cNvSpPr>
            <a:spLocks noGrp="1"/>
          </p:cNvSpPr>
          <p:nvPr/>
        </p:nvSpPr>
        <p:spPr>
          <a:xfrm>
            <a:off x="1562100" y="5334000"/>
            <a:ext cx="9048750" cy="476250"/>
          </a:xfrm>
          <a:prstGeom prst="roundRect">
            <a:avLst>
              <a:gd name="adj" fmla="val 16000"/>
            </a:avLst>
          </a:prstGeom>
          <a:solidFill>
            <a:srgbClr val="0E2841"/>
          </a:solidFill>
        </p:spPr>
        <p:txBody>
          <a:bodyPr/>
          <a:lstStyle/>
          <a:p>
            <a:endParaRPr lang="en-US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2E3D82AD-E441-4286-AE74-169A4F28DE5D}"/>
              </a:ext>
            </a:extLst>
          </p:cNvPr>
          <p:cNvSpPr>
            <a:spLocks noGrp="1"/>
          </p:cNvSpPr>
          <p:nvPr/>
        </p:nvSpPr>
        <p:spPr>
          <a:xfrm>
            <a:off x="1657350" y="5400675"/>
            <a:ext cx="8858250" cy="381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Summer institute theme: AI is a full stack, from algorithms to hardware to semiconductors.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065D7E27-DBCD-4738-BBCF-82BA98A798CB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11</a:t>
            </a:r>
          </a:p>
        </p:txBody>
      </p:sp>
    </p:spTree>
    <p:extLst>
      <p:ext uri="{BB962C8B-B14F-4D97-AF65-F5344CB8AC3E}">
        <p14:creationId xmlns:p14="http://schemas.microsoft.com/office/powerpoint/2010/main" val="423410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EEF8-711D-A5A4-4950-F6B37B343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F21F703C-8635-4411-B1DF-9A01EA6DE1E5}"/>
              </a:ext>
            </a:extLst>
          </p:cNvPr>
          <p:cNvSpPr>
            <a:spLocks noGrp="1"/>
          </p:cNvSpPr>
          <p:nvPr/>
        </p:nvSpPr>
        <p:spPr>
          <a:xfrm>
            <a:off x="914400" y="9334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TEACHER TAKEAWAYS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CA97E7D5-8242-46C0-8869-2F98AB4CB575}"/>
              </a:ext>
            </a:extLst>
          </p:cNvPr>
          <p:cNvSpPr>
            <a:spLocks noGrp="1"/>
          </p:cNvSpPr>
          <p:nvPr/>
        </p:nvSpPr>
        <p:spPr>
          <a:xfrm>
            <a:off x="914400" y="1238250"/>
            <a:ext cx="99060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Use the analogies to define terms, then keep the technical vocabulary.</a:t>
            </a:r>
          </a:p>
        </p:txBody>
      </p:sp>
      <p:sp>
        <p:nvSpPr>
          <p:cNvPr id="439" name="Rounded Rectangle 438">
            <a:extLst>
              <a:ext uri="{FF2B5EF4-FFF2-40B4-BE49-F238E27FC236}">
                <a16:creationId xmlns:a16="http://schemas.microsoft.com/office/drawing/2014/main" id="{BC27741E-6850-48AB-BB5C-4B740B6ACF3D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1619250" cy="1714500"/>
          </a:xfrm>
          <a:prstGeom prst="roundRect">
            <a:avLst>
              <a:gd name="adj" fmla="val 5882"/>
            </a:avLst>
          </a:prstGeom>
          <a:solidFill>
            <a:srgbClr val="156082"/>
          </a:solidFill>
        </p:spPr>
        <p:txBody>
          <a:bodyPr/>
          <a:lstStyle/>
          <a:p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58613BB7-0602-4626-84F5-9C8547960628}"/>
              </a:ext>
            </a:extLst>
          </p:cNvPr>
          <p:cNvSpPr>
            <a:spLocks noGrp="1"/>
          </p:cNvSpPr>
          <p:nvPr/>
        </p:nvSpPr>
        <p:spPr>
          <a:xfrm>
            <a:off x="1276350" y="2781300"/>
            <a:ext cx="1352550" cy="590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Face passport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2603BAD2-0250-4D34-B8CC-36DE6061033B}"/>
              </a:ext>
            </a:extLst>
          </p:cNvPr>
          <p:cNvSpPr>
            <a:spLocks noGrp="1"/>
          </p:cNvSpPr>
          <p:nvPr/>
        </p:nvSpPr>
        <p:spPr>
          <a:xfrm>
            <a:off x="1409700" y="3543300"/>
            <a:ext cx="1066800" cy="285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9C30BFF5-0C72-4885-B438-885FB5888A1B}"/>
              </a:ext>
            </a:extLst>
          </p:cNvPr>
          <p:cNvSpPr>
            <a:spLocks noGrp="1"/>
          </p:cNvSpPr>
          <p:nvPr/>
        </p:nvSpPr>
        <p:spPr>
          <a:xfrm>
            <a:off x="1276350" y="3733800"/>
            <a:ext cx="1352550" cy="4000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</a:t>
            </a:r>
          </a:p>
        </p:txBody>
      </p:sp>
      <p:sp>
        <p:nvSpPr>
          <p:cNvPr id="443" name="Rounded Rectangle 442">
            <a:extLst>
              <a:ext uri="{FF2B5EF4-FFF2-40B4-BE49-F238E27FC236}">
                <a16:creationId xmlns:a16="http://schemas.microsoft.com/office/drawing/2014/main" id="{C384B19B-C657-4B9C-91E4-9F701D230B4A}"/>
              </a:ext>
            </a:extLst>
          </p:cNvPr>
          <p:cNvSpPr>
            <a:spLocks noGrp="1"/>
          </p:cNvSpPr>
          <p:nvPr/>
        </p:nvSpPr>
        <p:spPr>
          <a:xfrm>
            <a:off x="3124200" y="2571750"/>
            <a:ext cx="1619250" cy="1714500"/>
          </a:xfrm>
          <a:prstGeom prst="roundRect">
            <a:avLst>
              <a:gd name="adj" fmla="val 5882"/>
            </a:avLst>
          </a:prstGeom>
          <a:solidFill>
            <a:srgbClr val="196B24"/>
          </a:solidFill>
        </p:spPr>
        <p:txBody>
          <a:bodyPr/>
          <a:lstStyle/>
          <a:p>
            <a:endParaRPr lang="en-US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1EF3BB1C-D2A8-4B78-8312-25F24577DF8E}"/>
              </a:ext>
            </a:extLst>
          </p:cNvPr>
          <p:cNvSpPr>
            <a:spLocks noGrp="1"/>
          </p:cNvSpPr>
          <p:nvPr/>
        </p:nvSpPr>
        <p:spPr>
          <a:xfrm>
            <a:off x="3257550" y="2781300"/>
            <a:ext cx="1352550" cy="590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Shared brain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34B313E9-5999-48C5-ABC8-6EC2199C8637}"/>
              </a:ext>
            </a:extLst>
          </p:cNvPr>
          <p:cNvSpPr>
            <a:spLocks noGrp="1"/>
          </p:cNvSpPr>
          <p:nvPr/>
        </p:nvSpPr>
        <p:spPr>
          <a:xfrm>
            <a:off x="3390900" y="3543300"/>
            <a:ext cx="1066800" cy="285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2F14F06-6EE3-462C-A855-5086E7BAE80C}"/>
              </a:ext>
            </a:extLst>
          </p:cNvPr>
          <p:cNvSpPr>
            <a:spLocks noGrp="1"/>
          </p:cNvSpPr>
          <p:nvPr/>
        </p:nvSpPr>
        <p:spPr>
          <a:xfrm>
            <a:off x="3257550" y="3733800"/>
            <a:ext cx="1352550" cy="4000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Siamese network</a:t>
            </a:r>
          </a:p>
        </p:txBody>
      </p:sp>
      <p:sp>
        <p:nvSpPr>
          <p:cNvPr id="447" name="Rounded Rectangle 446">
            <a:extLst>
              <a:ext uri="{FF2B5EF4-FFF2-40B4-BE49-F238E27FC236}">
                <a16:creationId xmlns:a16="http://schemas.microsoft.com/office/drawing/2014/main" id="{13833DAE-7B9B-4577-99B4-B5B41C159456}"/>
              </a:ext>
            </a:extLst>
          </p:cNvPr>
          <p:cNvSpPr>
            <a:spLocks noGrp="1"/>
          </p:cNvSpPr>
          <p:nvPr/>
        </p:nvSpPr>
        <p:spPr>
          <a:xfrm>
            <a:off x="5105400" y="2571750"/>
            <a:ext cx="1619250" cy="1714500"/>
          </a:xfrm>
          <a:prstGeom prst="roundRect">
            <a:avLst>
              <a:gd name="adj" fmla="val 5882"/>
            </a:avLst>
          </a:prstGeom>
          <a:solidFill>
            <a:srgbClr val="E97132"/>
          </a:solidFill>
        </p:spPr>
        <p:txBody>
          <a:bodyPr/>
          <a:lstStyle/>
          <a:p>
            <a:endParaRPr lang="en-US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99D04695-33DF-4507-A4B1-147E985261AC}"/>
              </a:ext>
            </a:extLst>
          </p:cNvPr>
          <p:cNvSpPr>
            <a:spLocks noGrp="1"/>
          </p:cNvSpPr>
          <p:nvPr/>
        </p:nvSpPr>
        <p:spPr>
          <a:xfrm>
            <a:off x="5238750" y="2781300"/>
            <a:ext cx="1352550" cy="590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Rubber band rule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50352402-5733-4BED-B590-3C6FD60B7970}"/>
              </a:ext>
            </a:extLst>
          </p:cNvPr>
          <p:cNvSpPr>
            <a:spLocks noGrp="1"/>
          </p:cNvSpPr>
          <p:nvPr/>
        </p:nvSpPr>
        <p:spPr>
          <a:xfrm>
            <a:off x="5372100" y="3543300"/>
            <a:ext cx="1066800" cy="285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B6BFF873-CDE0-42FD-A2B7-F0B39373EC05}"/>
              </a:ext>
            </a:extLst>
          </p:cNvPr>
          <p:cNvSpPr>
            <a:spLocks noGrp="1"/>
          </p:cNvSpPr>
          <p:nvPr/>
        </p:nvSpPr>
        <p:spPr>
          <a:xfrm>
            <a:off x="5238750" y="3733800"/>
            <a:ext cx="1352550" cy="4000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triplet loss</a:t>
            </a:r>
          </a:p>
        </p:txBody>
      </p:sp>
      <p:sp>
        <p:nvSpPr>
          <p:cNvPr id="451" name="Rounded Rectangle 450">
            <a:extLst>
              <a:ext uri="{FF2B5EF4-FFF2-40B4-BE49-F238E27FC236}">
                <a16:creationId xmlns:a16="http://schemas.microsoft.com/office/drawing/2014/main" id="{0594586E-5FCF-4DE4-BEA0-D7C0FC101C82}"/>
              </a:ext>
            </a:extLst>
          </p:cNvPr>
          <p:cNvSpPr>
            <a:spLocks noGrp="1"/>
          </p:cNvSpPr>
          <p:nvPr/>
        </p:nvSpPr>
        <p:spPr>
          <a:xfrm>
            <a:off x="7086600" y="2571750"/>
            <a:ext cx="1619250" cy="1714500"/>
          </a:xfrm>
          <a:prstGeom prst="roundRect">
            <a:avLst>
              <a:gd name="adj" fmla="val 5882"/>
            </a:avLst>
          </a:prstGeom>
          <a:solidFill>
            <a:srgbClr val="A02B93"/>
          </a:solidFill>
        </p:spPr>
        <p:txBody>
          <a:bodyPr/>
          <a:lstStyle/>
          <a:p>
            <a:endParaRPr lang="en-US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E466A352-BAFE-4B67-A07F-A4E85558F264}"/>
              </a:ext>
            </a:extLst>
          </p:cNvPr>
          <p:cNvSpPr>
            <a:spLocks noGrp="1"/>
          </p:cNvSpPr>
          <p:nvPr/>
        </p:nvSpPr>
        <p:spPr>
          <a:xfrm>
            <a:off x="7219950" y="2781300"/>
            <a:ext cx="1352550" cy="590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Reuse visual learning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20AF0BC2-EEE3-4995-9B1B-5739BA90FADB}"/>
              </a:ext>
            </a:extLst>
          </p:cNvPr>
          <p:cNvSpPr>
            <a:spLocks noGrp="1"/>
          </p:cNvSpPr>
          <p:nvPr/>
        </p:nvSpPr>
        <p:spPr>
          <a:xfrm>
            <a:off x="7353300" y="3543300"/>
            <a:ext cx="1066800" cy="285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5F505977-33A0-4AF9-84FD-F4234BFD9744}"/>
              </a:ext>
            </a:extLst>
          </p:cNvPr>
          <p:cNvSpPr>
            <a:spLocks noGrp="1"/>
          </p:cNvSpPr>
          <p:nvPr/>
        </p:nvSpPr>
        <p:spPr>
          <a:xfrm>
            <a:off x="7219950" y="3733800"/>
            <a:ext cx="1352550" cy="4000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transfer learning</a:t>
            </a:r>
          </a:p>
        </p:txBody>
      </p:sp>
      <p:sp>
        <p:nvSpPr>
          <p:cNvPr id="455" name="Rounded Rectangle 454">
            <a:extLst>
              <a:ext uri="{FF2B5EF4-FFF2-40B4-BE49-F238E27FC236}">
                <a16:creationId xmlns:a16="http://schemas.microsoft.com/office/drawing/2014/main" id="{464F7992-D84C-4A7A-9EEC-80CBAAF5D257}"/>
              </a:ext>
            </a:extLst>
          </p:cNvPr>
          <p:cNvSpPr>
            <a:spLocks noGrp="1"/>
          </p:cNvSpPr>
          <p:nvPr/>
        </p:nvSpPr>
        <p:spPr>
          <a:xfrm>
            <a:off x="9067800" y="2571750"/>
            <a:ext cx="1619250" cy="1714500"/>
          </a:xfrm>
          <a:prstGeom prst="roundRect">
            <a:avLst>
              <a:gd name="adj" fmla="val 5882"/>
            </a:avLst>
          </a:prstGeom>
          <a:solidFill>
            <a:srgbClr val="0F9ED5"/>
          </a:solidFill>
        </p:spPr>
        <p:txBody>
          <a:bodyPr/>
          <a:lstStyle/>
          <a:p>
            <a:endParaRPr lang="en-US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48EE2F5A-E44A-42CA-B497-60A44F0E42EB}"/>
              </a:ext>
            </a:extLst>
          </p:cNvPr>
          <p:cNvSpPr>
            <a:spLocks noGrp="1"/>
          </p:cNvSpPr>
          <p:nvPr/>
        </p:nvSpPr>
        <p:spPr>
          <a:xfrm>
            <a:off x="9201150" y="2781300"/>
            <a:ext cx="1352550" cy="5905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Laptop work limit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CB5B4317-08B3-4770-B7F1-E98C7831877A}"/>
              </a:ext>
            </a:extLst>
          </p:cNvPr>
          <p:cNvSpPr>
            <a:spLocks noGrp="1"/>
          </p:cNvSpPr>
          <p:nvPr/>
        </p:nvSpPr>
        <p:spPr>
          <a:xfrm>
            <a:off x="9334500" y="3543300"/>
            <a:ext cx="1066800" cy="285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7F1C0B67-462C-491E-866F-AE327675AEBF}"/>
              </a:ext>
            </a:extLst>
          </p:cNvPr>
          <p:cNvSpPr>
            <a:spLocks noGrp="1"/>
          </p:cNvSpPr>
          <p:nvPr/>
        </p:nvSpPr>
        <p:spPr>
          <a:xfrm>
            <a:off x="9201150" y="3733800"/>
            <a:ext cx="1352550" cy="4000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compute budget</a:t>
            </a: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F1A9705-99FD-4E97-9542-1B1F5DDFA877}"/>
              </a:ext>
            </a:extLst>
          </p:cNvPr>
          <p:cNvSpPr>
            <a:spLocks noGrp="1"/>
          </p:cNvSpPr>
          <p:nvPr/>
        </p:nvSpPr>
        <p:spPr>
          <a:xfrm>
            <a:off x="10115550" y="64770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Model Training | 12</a:t>
            </a:r>
          </a:p>
        </p:txBody>
      </p:sp>
    </p:spTree>
    <p:extLst>
      <p:ext uri="{BB962C8B-B14F-4D97-AF65-F5344CB8AC3E}">
        <p14:creationId xmlns:p14="http://schemas.microsoft.com/office/powerpoint/2010/main" val="42341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812</Words>
  <Application>Microsoft Macintosh PowerPoint</Application>
  <DocSecurity>0</DocSecurity>
  <PresentationFormat>Widescreen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Lato</vt:lpstr>
      <vt:lpstr>Lato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Vinayak Sharma (Student)</cp:lastModifiedBy>
  <cp:revision>2</cp:revision>
  <dcterms:created xsi:type="dcterms:W3CDTF">2026-05-25T19:13:59Z</dcterms:created>
  <dcterms:modified xsi:type="dcterms:W3CDTF">2026-05-26T01:39:36Z</dcterms:modified>
</cp:coreProperties>
</file>