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048b2a92da46c6" /><Relationship Type="http://schemas.openxmlformats.org/officeDocument/2006/relationships/extended-properties" Target="/docProps/app.xml" Id="Rf13c2b6178e54278" /><Relationship Type="http://schemas.openxmlformats.org/officeDocument/2006/relationships/officeDocument" Target="/ppt/presentation.xml" Id="Rfda883598db94b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51010f1cc94d26"/>
  </p:sldMasterIdLst>
  <p:notesMasterIdLst>
    <p:notesMasterId xmlns:r="http://schemas.openxmlformats.org/officeDocument/2006/relationships" r:id="R7ecb06a032354588"/>
  </p:notesMasterIdLst>
  <p:sldIdLst>
    <p:sldId xmlns:r="http://schemas.openxmlformats.org/officeDocument/2006/relationships" id="256" r:id="Rcd4c9cd046b04b5b"/>
    <p:sldId xmlns:r="http://schemas.openxmlformats.org/officeDocument/2006/relationships" id="257" r:id="Rc60fedab3acc4b24"/>
    <p:sldId xmlns:r="http://schemas.openxmlformats.org/officeDocument/2006/relationships" id="258" r:id="Rc2e273eba535462c"/>
    <p:sldId xmlns:r="http://schemas.openxmlformats.org/officeDocument/2006/relationships" id="259" r:id="Rf58ee6ac2704465f"/>
    <p:sldId xmlns:r="http://schemas.openxmlformats.org/officeDocument/2006/relationships" id="260" r:id="Rccd8c6361ff84b5a"/>
    <p:sldId xmlns:r="http://schemas.openxmlformats.org/officeDocument/2006/relationships" id="261" r:id="Re8505ccc4d114157"/>
    <p:sldId xmlns:r="http://schemas.openxmlformats.org/officeDocument/2006/relationships" id="262" r:id="R2c6701341b234514"/>
    <p:sldId xmlns:r="http://schemas.openxmlformats.org/officeDocument/2006/relationships" id="263" r:id="R7c079a53f8054379"/>
    <p:sldId xmlns:r="http://schemas.openxmlformats.org/officeDocument/2006/relationships" id="264" r:id="Rd49ad9c6088d43f0"/>
    <p:sldId xmlns:r="http://schemas.openxmlformats.org/officeDocument/2006/relationships" id="265" r:id="Rf98bffc1994a4bb6"/>
    <p:sldId xmlns:r="http://schemas.openxmlformats.org/officeDocument/2006/relationships" id="266" r:id="R735d602f2b494af1"/>
    <p:sldId xmlns:r="http://schemas.openxmlformats.org/officeDocument/2006/relationships" id="267" r:id="Raab7d4c878b840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1010f1cc94d26" /><Relationship Type="http://schemas.openxmlformats.org/officeDocument/2006/relationships/theme" Target="/ppt/theme/theme1.xml" Id="Rc3d35b5632c64d65" /><Relationship Type="http://schemas.openxmlformats.org/officeDocument/2006/relationships/notesMaster" Target="/ppt/notesMasters/notesMaster1.xml" Id="R7ecb06a032354588" /><Relationship Type="http://schemas.openxmlformats.org/officeDocument/2006/relationships/presProps" Target="/ppt/presProps.xml" Id="R159112cb8b7d4128" /><Relationship Type="http://schemas.openxmlformats.org/officeDocument/2006/relationships/viewProps" Target="/ppt/viewProps.xml" Id="R473095e1a8af414a" /><Relationship Type="http://schemas.openxmlformats.org/officeDocument/2006/relationships/tableStyles" Target="/ppt/tableStyles.xml" Id="R447e69c05d674c01" /><Relationship Type="http://schemas.openxmlformats.org/officeDocument/2006/relationships/slide" Target="/ppt/slides/slide1.xml" Id="Rcd4c9cd046b04b5b" /><Relationship Type="http://schemas.openxmlformats.org/officeDocument/2006/relationships/slide" Target="/ppt/slides/slide2.xml" Id="Rc60fedab3acc4b24" /><Relationship Type="http://schemas.openxmlformats.org/officeDocument/2006/relationships/slide" Target="/ppt/slides/slide3.xml" Id="Rc2e273eba535462c" /><Relationship Type="http://schemas.openxmlformats.org/officeDocument/2006/relationships/slide" Target="/ppt/slides/slide4.xml" Id="Rf58ee6ac2704465f" /><Relationship Type="http://schemas.openxmlformats.org/officeDocument/2006/relationships/slide" Target="/ppt/slides/slide5.xml" Id="Rccd8c6361ff84b5a" /><Relationship Type="http://schemas.openxmlformats.org/officeDocument/2006/relationships/slide" Target="/ppt/slides/slide6.xml" Id="Re8505ccc4d114157" /><Relationship Type="http://schemas.openxmlformats.org/officeDocument/2006/relationships/slide" Target="/ppt/slides/slide7.xml" Id="R2c6701341b234514" /><Relationship Type="http://schemas.openxmlformats.org/officeDocument/2006/relationships/slide" Target="/ppt/slides/slide8.xml" Id="R7c079a53f8054379" /><Relationship Type="http://schemas.openxmlformats.org/officeDocument/2006/relationships/slide" Target="/ppt/slides/slide9.xml" Id="Rd49ad9c6088d43f0" /><Relationship Type="http://schemas.openxmlformats.org/officeDocument/2006/relationships/slide" Target="/ppt/slides/slide10.xml" Id="Rf98bffc1994a4bb6" /><Relationship Type="http://schemas.openxmlformats.org/officeDocument/2006/relationships/slide" Target="/ppt/slides/slide11.xml" Id="R735d602f2b494af1" /><Relationship Type="http://schemas.openxmlformats.org/officeDocument/2006/relationships/slide" Target="/ppt/slides/slide12.xml" Id="Raab7d4c878b840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984bf1ca40848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637fe08af7406b" /><Relationship Type="http://schemas.openxmlformats.org/officeDocument/2006/relationships/notesMaster" Target="/ppt/notesMasters/notesMaster1.xml" Id="Ra8c17f12fdc642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d3b7713ee948eb" /><Relationship Type="http://schemas.openxmlformats.org/officeDocument/2006/relationships/notesMaster" Target="/ppt/notesMasters/notesMaster1.xml" Id="R5ca6237dfc4d46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488692d2d944b8" /><Relationship Type="http://schemas.openxmlformats.org/officeDocument/2006/relationships/notesMaster" Target="/ppt/notesMasters/notesMaster1.xml" Id="Re33d043a77c24c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05417c9485416d" /><Relationship Type="http://schemas.openxmlformats.org/officeDocument/2006/relationships/notesMaster" Target="/ppt/notesMasters/notesMaster1.xml" Id="Ra8406357b96e42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e4e78dc46b43b3" /><Relationship Type="http://schemas.openxmlformats.org/officeDocument/2006/relationships/notesMaster" Target="/ppt/notesMasters/notesMaster1.xml" Id="R49c79866371a43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00b4808d994d3c" /><Relationship Type="http://schemas.openxmlformats.org/officeDocument/2006/relationships/notesMaster" Target="/ppt/notesMasters/notesMaster1.xml" Id="Rd86c95115b924a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7052056e214294" /><Relationship Type="http://schemas.openxmlformats.org/officeDocument/2006/relationships/notesMaster" Target="/ppt/notesMasters/notesMaster1.xml" Id="Rbdf6ea9d153942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7f87ad2c9948ba" /><Relationship Type="http://schemas.openxmlformats.org/officeDocument/2006/relationships/notesMaster" Target="/ppt/notesMasters/notesMaster1.xml" Id="Rba98c649d0ac47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301ed8a021d4430" /><Relationship Type="http://schemas.openxmlformats.org/officeDocument/2006/relationships/notesMaster" Target="/ppt/notesMasters/notesMaster1.xml" Id="Rf80bbe7bc0c1495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faea16996e4a62" /><Relationship Type="http://schemas.openxmlformats.org/officeDocument/2006/relationships/notesMaster" Target="/ppt/notesMasters/notesMaster1.xml" Id="R472b13c50bf242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b63eaf11e8475b" /><Relationship Type="http://schemas.openxmlformats.org/officeDocument/2006/relationships/notesMaster" Target="/ppt/notesMasters/notesMaster1.xml" Id="Rce8b704ad01b47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8bd977f5e7f4a27" /><Relationship Type="http://schemas.openxmlformats.org/officeDocument/2006/relationships/notesMaster" Target="/ppt/notesMasters/notesMaster1.xml" Id="R0c68bfd889a740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dcf9ad17b4f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7298cf2ea46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d5e484ec0442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dd7aeba960460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8cce4f94a8497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078d7e9e24b9a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490913e37048b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2e403d1573460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455e37582488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3387356c44ea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db4afd4b74a28" /></Relationships>
</file>

<file path=ppt/slideLayouts/slideLayout2.xml><?xml version="1.0" encoding="utf-8"?>
<p:sldLayout xmlns:p="http://schemas.openxmlformats.org/presentationml/2006/main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1" name="Google Shape;81;p9">
            <a:extLst xmlns:a="http://schemas.openxmlformats.org/drawingml/2006/main">
              <a:ext uri="{FF2B5EF4-FFF2-40B4-BE49-F238E27FC236}">
                <a16:creationId xmlns:a16="http://schemas.microsoft.com/office/drawing/2014/main" id="{73E618CE-1921-48BD-8995-2D968B2E2EA5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5141343" y="957531"/>
            <a:ext cx="6464237" cy="5214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82" name="Google Shape;82;p9">
            <a:extLst xmlns:a="http://schemas.openxmlformats.org/drawingml/2006/main">
              <a:ext uri="{FF2B5EF4-FFF2-40B4-BE49-F238E27FC236}">
                <a16:creationId xmlns:a16="http://schemas.microsoft.com/office/drawing/2014/main" id="{0495FB91-BE70-446F-B7A2-7091B0EF7CA8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84513" y="153415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83" name="Google Shape;83;p9">
            <a:extLst xmlns:a="http://schemas.openxmlformats.org/drawingml/2006/main">
              <a:ext uri="{FF2B5EF4-FFF2-40B4-BE49-F238E27FC236}">
                <a16:creationId xmlns:a16="http://schemas.microsoft.com/office/drawing/2014/main" id="{47060F7F-194F-4011-8745-649A578DE13D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84" name="Google Shape;84;p9">
            <a:extLst xmlns:a="http://schemas.openxmlformats.org/drawingml/2006/main">
              <a:ext uri="{FF2B5EF4-FFF2-40B4-BE49-F238E27FC236}">
                <a16:creationId xmlns:a16="http://schemas.microsoft.com/office/drawing/2014/main" id="{C8F87554-79B8-4869-A655-48CC78330491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3709737" y="6356349"/>
            <a:ext cx="47724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85" name="Google Shape;85;p9">
            <a:extLst xmlns:a="http://schemas.openxmlformats.org/drawingml/2006/main">
              <a:ext uri="{FF2B5EF4-FFF2-40B4-BE49-F238E27FC236}">
                <a16:creationId xmlns:a16="http://schemas.microsoft.com/office/drawing/2014/main" id="{8DE093F7-EA94-48CA-99E3-80C7958E11FD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86238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/>
        </p:txBody>
      </p:sp>
      <p:sp>
        <p:nvSpPr>
          <p:cNvPr id="86" name="Google Shape;86;p9">
            <a:extLst xmlns:a="http://schemas.openxmlformats.org/drawingml/2006/main">
              <a:ext uri="{FF2B5EF4-FFF2-40B4-BE49-F238E27FC236}">
                <a16:creationId xmlns:a16="http://schemas.microsoft.com/office/drawing/2014/main" id="{A5062433-9DD4-40F6-B3F5-8D09947121C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48754" y="71125"/>
            <a:ext cx="9437449" cy="59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87" name="Google Shape;87;p9">
            <a:extLst xmlns:a="http://schemas.openxmlformats.org/drawingml/2006/main">
              <a:ext uri="{FF2B5EF4-FFF2-40B4-BE49-F238E27FC236}">
                <a16:creationId xmlns:a16="http://schemas.microsoft.com/office/drawing/2014/main" id="{0782B870-ADC3-4AA7-ABBD-6EF683D6B709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82925" y="957531"/>
            <a:ext cx="3932100" cy="48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400">
                <a:latin typeface="Lato"/>
                <a:ea typeface="Lato"/>
                <a:cs typeface="Lato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FC53A9CC-85AB-4CE8-9179-8C59C84EE6EE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DF5953EC-D4BC-4BD4-ABA6-AA2E1CC83CC9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B3A35A54-3BB7-466A-9513-8CB41D8B9133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920416" y="2001878"/>
            <a:ext cx="10351200" cy="115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latin typeface="Aptos"/>
                <a:ea typeface="Aptos"/>
                <a:cs typeface="Aptos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7DC2493B-F0DB-469C-968D-27CAFED2D961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241152"/>
            <a:ext cx="9144000" cy="5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3200">
                <a:latin typeface="Aptos"/>
                <a:ea typeface="Aptos"/>
                <a:cs typeface="Aptos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Google Shape;72;p8">
            <a:extLst xmlns:a="http://schemas.openxmlformats.org/drawingml/2006/main">
              <a:ext uri="{FF2B5EF4-FFF2-40B4-BE49-F238E27FC236}">
                <a16:creationId xmlns:a16="http://schemas.microsoft.com/office/drawing/2014/main" id="{A5F61095-AB88-4A2A-8AAA-2C7B3F807986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8">
            <a:extLst xmlns:a="http://schemas.openxmlformats.org/drawingml/2006/main">
              <a:ext uri="{FF2B5EF4-FFF2-40B4-BE49-F238E27FC236}">
                <a16:creationId xmlns:a16="http://schemas.microsoft.com/office/drawing/2014/main" id="{9E434D17-0408-4F96-A56F-24FDFDA9ECF6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4" name="Google Shape;74;p8">
            <a:extLst xmlns:a="http://schemas.openxmlformats.org/drawingml/2006/main">
              <a:ext uri="{FF2B5EF4-FFF2-40B4-BE49-F238E27FC236}">
                <a16:creationId xmlns:a16="http://schemas.microsoft.com/office/drawing/2014/main" id="{D9B8A4CE-0213-4F79-89D6-958D2555D920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107AA2DD-FFA2-8D2D-D19C-8768C0CAF94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52421" y="146057"/>
            <a:ext cx="9273398" cy="494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469CA4A0-87C8-4A54-A8F0-557412B75228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253400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2D816EA8-84C6-4322-90A8-36016F1880F2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E2A4FC29-D878-4DA9-BD7F-2579B43D623D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A5D51387-6E34-4706-9DAE-E6ECE5D942D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52421" y="146057"/>
            <a:ext cx="9238892" cy="494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4EA00B28-5C17-48EE-B174-A2891257F0B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920416" y="1449514"/>
            <a:ext cx="10351200" cy="115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Lato Black"/>
                <a:ea typeface="Lato Black"/>
                <a:cs typeface="Lato Black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6BA1B8DC-DE22-4F71-BA11-0EA62FDBB57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2699731"/>
            <a:ext cx="9144000" cy="5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3200">
                <a:latin typeface="Lato"/>
                <a:ea typeface="Lato"/>
                <a:cs typeface="Lato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A3D4BB53-F886-43EF-B2AD-252D6C1F5104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9D0AA8D0-BB21-4822-BB08-B50DA3A6E3E7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93B97320-857C-4925-8927-743C71AA1A80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2">
            <a:extLst xmlns:a="http://schemas.openxmlformats.org/drawingml/2006/main">
              <a:ext uri="{FF2B5EF4-FFF2-40B4-BE49-F238E27FC236}">
                <a16:creationId xmlns:a16="http://schemas.microsoft.com/office/drawing/2014/main" id="{92A5A375-A777-4404-AAB3-8309CC5E71D8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3361531" y="3408595"/>
            <a:ext cx="5469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7">
            <a:extLst xmlns:a="http://schemas.openxmlformats.org/drawingml/2006/main">
              <a:ext uri="{FF2B5EF4-FFF2-40B4-BE49-F238E27FC236}">
                <a16:creationId xmlns:a16="http://schemas.microsoft.com/office/drawing/2014/main" id="{04A06413-0A8C-4823-9D4E-9B9D01522B41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5" name="Google Shape;65;p7">
            <a:extLst xmlns:a="http://schemas.openxmlformats.org/drawingml/2006/main">
              <a:ext uri="{FF2B5EF4-FFF2-40B4-BE49-F238E27FC236}">
                <a16:creationId xmlns:a16="http://schemas.microsoft.com/office/drawing/2014/main" id="{9D4D355C-220B-4FFA-B76B-756FEB433831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7">
            <a:extLst xmlns:a="http://schemas.openxmlformats.org/drawingml/2006/main">
              <a:ext uri="{FF2B5EF4-FFF2-40B4-BE49-F238E27FC236}">
                <a16:creationId xmlns:a16="http://schemas.microsoft.com/office/drawing/2014/main" id="{1D708A1B-9C1E-41E9-8422-6E58B0D9D908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C0FE1E0A-C1EB-CA36-D612-6B1D090A0CCE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52420" y="146057"/>
            <a:ext cx="9471805" cy="494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1_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Google Shape;115;p13">
            <a:extLst xmlns:a="http://schemas.openxmlformats.org/drawingml/2006/main">
              <a:ext uri="{FF2B5EF4-FFF2-40B4-BE49-F238E27FC236}">
                <a16:creationId xmlns:a16="http://schemas.microsoft.com/office/drawing/2014/main" id="{44EADA7F-2928-4606-B8E4-F8055B085DD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920416" y="1449514"/>
            <a:ext cx="10351200" cy="115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latin typeface="Lato Black"/>
                <a:ea typeface="Lato Black"/>
                <a:cs typeface="Lato Black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6" name="Google Shape;116;p13">
            <a:extLst xmlns:a="http://schemas.openxmlformats.org/drawingml/2006/main">
              <a:ext uri="{FF2B5EF4-FFF2-40B4-BE49-F238E27FC236}">
                <a16:creationId xmlns:a16="http://schemas.microsoft.com/office/drawing/2014/main" id="{6D7AF63E-7C4E-4E74-A10F-44F3CA270C7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2737367"/>
            <a:ext cx="9144000" cy="55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3200">
                <a:latin typeface="Lato"/>
                <a:ea typeface="Lato"/>
                <a:cs typeface="Lato"/>
              </a:defRPr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117" name="Google Shape;117;p13">
            <a:extLst xmlns:a="http://schemas.openxmlformats.org/drawingml/2006/main">
              <a:ext uri="{FF2B5EF4-FFF2-40B4-BE49-F238E27FC236}">
                <a16:creationId xmlns:a16="http://schemas.microsoft.com/office/drawing/2014/main" id="{07CA3895-C36E-4B24-83AB-C0146C7D73EB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13">
            <a:extLst xmlns:a="http://schemas.openxmlformats.org/drawingml/2006/main">
              <a:ext uri="{FF2B5EF4-FFF2-40B4-BE49-F238E27FC236}">
                <a16:creationId xmlns:a16="http://schemas.microsoft.com/office/drawing/2014/main" id="{485ACA9A-3BC3-4ADD-8A84-65C662666F1A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9" name="Google Shape;119;p13">
            <a:extLst xmlns:a="http://schemas.openxmlformats.org/drawingml/2006/main">
              <a:ext uri="{FF2B5EF4-FFF2-40B4-BE49-F238E27FC236}">
                <a16:creationId xmlns:a16="http://schemas.microsoft.com/office/drawing/2014/main" id="{41EB7C03-5B1D-423C-9829-BCAFA7CFEB8F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/>
        </p:txBody>
      </p:sp>
      <p:sp>
        <p:nvSpPr>
          <p:cNvPr id="120" name="Google Shape;120;p13">
            <a:extLst xmlns:a="http://schemas.openxmlformats.org/drawingml/2006/main">
              <a:ext uri="{FF2B5EF4-FFF2-40B4-BE49-F238E27FC236}">
                <a16:creationId xmlns:a16="http://schemas.microsoft.com/office/drawing/2014/main" id="{5DB8B12B-FFD5-4020-8326-A15286774D33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3361500" y="3424620"/>
            <a:ext cx="54690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400">
                <a:latin typeface="Times New Roman"/>
                <a:ea typeface="Times New Roman"/>
                <a:cs typeface="Times New Roman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6">
            <a:extLst xmlns:a="http://schemas.openxmlformats.org/drawingml/2006/main">
              <a:ext uri="{FF2B5EF4-FFF2-40B4-BE49-F238E27FC236}">
                <a16:creationId xmlns:a16="http://schemas.microsoft.com/office/drawing/2014/main" id="{558F14A7-7954-4ACA-AB04-1A65F7A29961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9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1" name="Google Shape;51;p6">
            <a:extLst xmlns:a="http://schemas.openxmlformats.org/drawingml/2006/main">
              <a:ext uri="{FF2B5EF4-FFF2-40B4-BE49-F238E27FC236}">
                <a16:creationId xmlns:a16="http://schemas.microsoft.com/office/drawing/2014/main" id="{A62CDB32-13E7-4C0C-BA67-DA522704C926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505075"/>
            <a:ext cx="51579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2" name="Google Shape;52;p6">
            <a:extLst xmlns:a="http://schemas.openxmlformats.org/drawingml/2006/main">
              <a:ext uri="{FF2B5EF4-FFF2-40B4-BE49-F238E27FC236}">
                <a16:creationId xmlns:a16="http://schemas.microsoft.com/office/drawing/2014/main" id="{A590A583-E64C-4C71-BB4F-AFBC0B4BA2C2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00" cy="82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53" name="Google Shape;53;p6">
            <a:extLst xmlns:a="http://schemas.openxmlformats.org/drawingml/2006/main">
              <a:ext uri="{FF2B5EF4-FFF2-40B4-BE49-F238E27FC236}">
                <a16:creationId xmlns:a16="http://schemas.microsoft.com/office/drawing/2014/main" id="{EAED7520-6F49-4A9E-889F-64EFAF381E4F}"/>
              </a:ext>
            </a:extLst>
          </p:cNvPr>
          <p:cNvSpPr/>
          <p:nvPr>
            <p:ph type="body" idx="4"/>
          </p:nvPr>
        </p:nvSpPr>
        <p:spPr>
          <a:xfrm xmlns:a="http://schemas.openxmlformats.org/drawingml/2006/main">
            <a:off x="6172200" y="2505075"/>
            <a:ext cx="5183100" cy="368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54" name="Google Shape;54;p6">
            <a:extLst xmlns:a="http://schemas.openxmlformats.org/drawingml/2006/main">
              <a:ext uri="{FF2B5EF4-FFF2-40B4-BE49-F238E27FC236}">
                <a16:creationId xmlns:a16="http://schemas.microsoft.com/office/drawing/2014/main" id="{C0D1DD09-DB17-47AB-90C6-302CD8F163F6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5" name="Google Shape;55;p6">
            <a:extLst xmlns:a="http://schemas.openxmlformats.org/drawingml/2006/main">
              <a:ext uri="{FF2B5EF4-FFF2-40B4-BE49-F238E27FC236}">
                <a16:creationId xmlns:a16="http://schemas.microsoft.com/office/drawing/2014/main" id="{0A6A18F7-5041-4908-A1BC-DE3E0C19FE9B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6">
            <a:extLst xmlns:a="http://schemas.openxmlformats.org/drawingml/2006/main">
              <a:ext uri="{FF2B5EF4-FFF2-40B4-BE49-F238E27FC236}">
                <a16:creationId xmlns:a16="http://schemas.microsoft.com/office/drawing/2014/main" id="{96D3C78C-65A1-49C6-8497-C391A5E977EE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17228382-7464-0B87-9EFC-774A1737EE70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52420" y="146057"/>
            <a:ext cx="9299277" cy="494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1">
            <a:extLst xmlns:a="http://schemas.openxmlformats.org/drawingml/2006/main">
              <a:ext uri="{FF2B5EF4-FFF2-40B4-BE49-F238E27FC236}">
                <a16:creationId xmlns:a16="http://schemas.microsoft.com/office/drawing/2014/main" id="{26736591-4B14-4FAD-89E8-F656FABB6AB6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 rot="5400000">
            <a:off x="3920400" y="-1256575"/>
            <a:ext cx="4351200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103" name="Google Shape;103;p11">
            <a:extLst xmlns:a="http://schemas.openxmlformats.org/drawingml/2006/main">
              <a:ext uri="{FF2B5EF4-FFF2-40B4-BE49-F238E27FC236}">
                <a16:creationId xmlns:a16="http://schemas.microsoft.com/office/drawing/2014/main" id="{F8DFDF2C-5692-447F-8D20-915EEC451B65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4" name="Google Shape;104;p11">
            <a:extLst xmlns:a="http://schemas.openxmlformats.org/drawingml/2006/main">
              <a:ext uri="{FF2B5EF4-FFF2-40B4-BE49-F238E27FC236}">
                <a16:creationId xmlns:a16="http://schemas.microsoft.com/office/drawing/2014/main" id="{4193615A-FA48-4780-BBD6-D7CF5079D948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05" name="Google Shape;105;p11">
            <a:extLst xmlns:a="http://schemas.openxmlformats.org/drawingml/2006/main">
              <a:ext uri="{FF2B5EF4-FFF2-40B4-BE49-F238E27FC236}">
                <a16:creationId xmlns:a16="http://schemas.microsoft.com/office/drawing/2014/main" id="{D1D9A381-14D9-4D19-835A-AB2FDE447AA6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5D243A25-F706-5C6D-B809-FA1CD2182ED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52421" y="146057"/>
            <a:ext cx="9394168" cy="494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5">
            <a:extLst xmlns:a="http://schemas.openxmlformats.org/drawingml/2006/main">
              <a:ext uri="{FF2B5EF4-FFF2-40B4-BE49-F238E27FC236}">
                <a16:creationId xmlns:a16="http://schemas.microsoft.com/office/drawing/2014/main" id="{423EA32F-9DCC-476E-AB9E-1D76946B6E09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253400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>
                <a:latin typeface="Aptos"/>
                <a:ea typeface="Aptos"/>
                <a:cs typeface="Aptos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Google Shape;40;p5">
            <a:extLst xmlns:a="http://schemas.openxmlformats.org/drawingml/2006/main">
              <a:ext uri="{FF2B5EF4-FFF2-40B4-BE49-F238E27FC236}">
                <a16:creationId xmlns:a16="http://schemas.microsoft.com/office/drawing/2014/main" id="{F0629EFE-4905-47C6-B822-A7BC9FC58A96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6172200" y="1253400"/>
            <a:ext cx="5181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>
                <a:latin typeface="Aptos"/>
                <a:ea typeface="Aptos"/>
                <a:cs typeface="Aptos"/>
              </a:defRPr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30AECE30-E8FC-4909-9AC8-F21F2EF09B50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E26493C8-4338-4982-B5C8-983AE1CA5C6D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0F7C950E-8D73-489F-B7BB-590D8CF74702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B01E623F-61D5-0141-AEAE-1C1DE6CDF35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052421" y="146057"/>
            <a:ext cx="9351036" cy="4945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latin typeface="Aptos"/>
                <a:ea typeface="Aptos"/>
                <a:cs typeface="Aptos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Google Shape;93;p10">
            <a:extLst xmlns:a="http://schemas.openxmlformats.org/drawingml/2006/main">
              <a:ext uri="{FF2B5EF4-FFF2-40B4-BE49-F238E27FC236}">
                <a16:creationId xmlns:a16="http://schemas.microsoft.com/office/drawing/2014/main" id="{9D05B6D4-5CD6-42F7-A656-F5D97751C887}"/>
              </a:ext>
            </a:extLst>
          </p:cNvPr>
          <p:cNvSpPr/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4" name="Google Shape;94;p10">
            <a:extLst xmlns:a="http://schemas.openxmlformats.org/drawingml/2006/main">
              <a:ext uri="{FF2B5EF4-FFF2-40B4-BE49-F238E27FC236}">
                <a16:creationId xmlns:a16="http://schemas.microsoft.com/office/drawing/2014/main" id="{1934A524-61B9-4C79-AAAD-A73BC50C2BB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2057400"/>
            <a:ext cx="3932100" cy="381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95" name="Google Shape;95;p10">
            <a:extLst xmlns:a="http://schemas.openxmlformats.org/drawingml/2006/main">
              <a:ext uri="{FF2B5EF4-FFF2-40B4-BE49-F238E27FC236}">
                <a16:creationId xmlns:a16="http://schemas.microsoft.com/office/drawing/2014/main" id="{47AEB42A-CE50-455A-A9DB-C2595B80DA26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6" name="Google Shape;96;p10">
            <a:extLst xmlns:a="http://schemas.openxmlformats.org/drawingml/2006/main">
              <a:ext uri="{FF2B5EF4-FFF2-40B4-BE49-F238E27FC236}">
                <a16:creationId xmlns:a16="http://schemas.microsoft.com/office/drawing/2014/main" id="{30ED5FA7-37E6-4AD9-BDA3-E9EC290FFF70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97" name="Google Shape;97;p10">
            <a:extLst xmlns:a="http://schemas.openxmlformats.org/drawingml/2006/main">
              <a:ext uri="{FF2B5EF4-FFF2-40B4-BE49-F238E27FC236}">
                <a16:creationId xmlns:a16="http://schemas.microsoft.com/office/drawing/2014/main" id="{F84E1C03-2034-42E4-9C81-E5EFD73BAA82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Google Shape;86;p9">
            <a:extLst xmlns:a="http://schemas.openxmlformats.org/drawingml/2006/main">
              <a:ext uri="{FF2B5EF4-FFF2-40B4-BE49-F238E27FC236}">
                <a16:creationId xmlns:a16="http://schemas.microsoft.com/office/drawing/2014/main" id="{BE6E3621-4F46-4C03-D6DD-7DD18C357A15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948755" y="71125"/>
            <a:ext cx="8842226" cy="59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latin typeface="Lato"/>
                <a:ea typeface="Lato"/>
                <a:cs typeface="Lat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d1b40830f8e43ef" /><Relationship Type="http://schemas.openxmlformats.org/officeDocument/2006/relationships/slideLayout" Target="/ppt/slideLayouts/slideLayout2.xml" Id="R3d755c8b59304fa7" /><Relationship Type="http://schemas.openxmlformats.org/officeDocument/2006/relationships/slideLayout" Target="/ppt/slideLayouts/slideLayout3.xml" Id="R9b2d48b23d12418e" /><Relationship Type="http://schemas.openxmlformats.org/officeDocument/2006/relationships/slideLayout" Target="/ppt/slideLayouts/slideLayout4.xml" Id="Rdef0c27eb4b746b3" /><Relationship Type="http://schemas.openxmlformats.org/officeDocument/2006/relationships/slideLayout" Target="/ppt/slideLayouts/slideLayout5.xml" Id="R414513b1da8043ed" /><Relationship Type="http://schemas.openxmlformats.org/officeDocument/2006/relationships/slideLayout" Target="/ppt/slideLayouts/slideLayout6.xml" Id="R49e22e5d992640c1" /><Relationship Type="http://schemas.openxmlformats.org/officeDocument/2006/relationships/slideLayout" Target="/ppt/slideLayouts/slideLayout7.xml" Id="Rf2d41dad882d4370" /><Relationship Type="http://schemas.openxmlformats.org/officeDocument/2006/relationships/slideLayout" Target="/ppt/slideLayouts/slideLayout8.xml" Id="R2b89907d7f444463" /><Relationship Type="http://schemas.openxmlformats.org/officeDocument/2006/relationships/slideLayout" Target="/ppt/slideLayouts/slideLayout9.xml" Id="Rbebc1801583d404d" /><Relationship Type="http://schemas.openxmlformats.org/officeDocument/2006/relationships/slideLayout" Target="/ppt/slideLayouts/slideLayout10.xml" Id="R27fe680f40a6417f" /><Relationship Type="http://schemas.openxmlformats.org/officeDocument/2006/relationships/slideLayout" Target="/ppt/slideLayouts/slideLayout11.xml" Id="Ra87210602bed4480" /><Relationship Type="http://schemas.openxmlformats.org/officeDocument/2006/relationships/slideLayout" Target="/ppt/slideLayouts/slideLayout12.xml" Id="R2915e3082eeb44c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2F2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3AF73848-6658-4EF5-8D99-28288AB6CAC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har char="•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7BCBE95C-0707-4F04-B3F8-E26DD960E0F5}"/>
              </a:ext>
            </a:extLst>
          </p:cNvPr>
          <p:cNvSpPr/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406F6788-A77B-44B0-B5E4-890670B969EF}"/>
              </a:ext>
            </a:extLst>
          </p:cNvPr>
          <p:cNvSpPr/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CE800164-53E7-42F0-A732-74F33CD7A1DC}"/>
              </a:ext>
            </a:extLst>
          </p:cNvPr>
          <p:cNvSpPr/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7575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755c8b59304fa7"/>
    <p:sldLayoutId xmlns:r="http://schemas.openxmlformats.org/officeDocument/2006/relationships" id="2147483650" r:id="R9b2d48b23d12418e"/>
    <p:sldLayoutId xmlns:r="http://schemas.openxmlformats.org/officeDocument/2006/relationships" id="2147483651" r:id="Rdef0c27eb4b746b3"/>
    <p:sldLayoutId xmlns:r="http://schemas.openxmlformats.org/officeDocument/2006/relationships" id="2147483652" r:id="R414513b1da8043ed"/>
    <p:sldLayoutId xmlns:r="http://schemas.openxmlformats.org/officeDocument/2006/relationships" id="2147483653" r:id="R49e22e5d992640c1"/>
    <p:sldLayoutId xmlns:r="http://schemas.openxmlformats.org/officeDocument/2006/relationships" id="2147483654" r:id="Rf2d41dad882d4370"/>
    <p:sldLayoutId xmlns:r="http://schemas.openxmlformats.org/officeDocument/2006/relationships" id="2147483655" r:id="R2b89907d7f444463"/>
    <p:sldLayoutId xmlns:r="http://schemas.openxmlformats.org/officeDocument/2006/relationships" id="2147483656" r:id="Rbebc1801583d404d"/>
    <p:sldLayoutId xmlns:r="http://schemas.openxmlformats.org/officeDocument/2006/relationships" id="2147483657" r:id="R27fe680f40a6417f"/>
    <p:sldLayoutId xmlns:r="http://schemas.openxmlformats.org/officeDocument/2006/relationships" id="2147483658" r:id="Ra87210602bed4480"/>
    <p:sldLayoutId xmlns:r="http://schemas.openxmlformats.org/officeDocument/2006/relationships" id="2147483659" r:id="R2915e3082eeb44c1"/>
  </p:sldLayoutIdLst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a1df04eec5492e" /><Relationship Type="http://schemas.openxmlformats.org/officeDocument/2006/relationships/notesSlide" Target="/ppt/notesSlides/notesSlide1.xml" Id="Rfe71d7cefffc47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40da4b0a7542ad" /><Relationship Type="http://schemas.openxmlformats.org/officeDocument/2006/relationships/notesSlide" Target="/ppt/notesSlides/notesSlide2.xml" Id="R9841667b551c49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eeb8898e6e467c" /><Relationship Type="http://schemas.openxmlformats.org/officeDocument/2006/relationships/notesSlide" Target="/ppt/notesSlides/notesSlide3.xml" Id="R827ef42e914843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39d42fa090499b" /><Relationship Type="http://schemas.openxmlformats.org/officeDocument/2006/relationships/notesSlide" Target="/ppt/notesSlides/notesSlide4.xml" Id="R855938489d9045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58a74b07f4842" /><Relationship Type="http://schemas.openxmlformats.org/officeDocument/2006/relationships/notesSlide" Target="/ppt/notesSlides/notesSlide5.xml" Id="R8a7fc4e185504f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aafe530e234173" /><Relationship Type="http://schemas.openxmlformats.org/officeDocument/2006/relationships/notesSlide" Target="/ppt/notesSlides/notesSlide6.xml" Id="R5d00000d55bd45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25242d3e84d4c" /><Relationship Type="http://schemas.openxmlformats.org/officeDocument/2006/relationships/notesSlide" Target="/ppt/notesSlides/notesSlide7.xml" Id="Ra18c161e25914b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e74068fa845c9" /><Relationship Type="http://schemas.openxmlformats.org/officeDocument/2006/relationships/notesSlide" Target="/ppt/notesSlides/notesSlide8.xml" Id="Rf5b4adc7da3c4b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d65217b55248db" /><Relationship Type="http://schemas.openxmlformats.org/officeDocument/2006/relationships/notesSlide" Target="/ppt/notesSlides/notesSlide9.xml" Id="R2aca127362c346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e20f2c806f4100" /><Relationship Type="http://schemas.openxmlformats.org/officeDocument/2006/relationships/notesSlide" Target="/ppt/notesSlides/notesSlide10.xml" Id="R36924cff670048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4720cac5aff4da2" /><Relationship Type="http://schemas.openxmlformats.org/officeDocument/2006/relationships/notesSlide" Target="/ppt/notesSlides/notesSlide11.xml" Id="R4ec2ec315eb64a5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be30cc9791b49b9" /><Relationship Type="http://schemas.openxmlformats.org/officeDocument/2006/relationships/notesSlide" Target="/ppt/notesSlides/notesSlide12.xml" Id="R1b730c6e9bcc49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8">
            <a:extLst xmlns:a="http://schemas.openxmlformats.org/drawingml/2006/main">
              <a:ext uri="{FF2B5EF4-FFF2-40B4-BE49-F238E27FC236}">
                <a16:creationId xmlns:a16="http://schemas.microsoft.com/office/drawing/2014/main" id="{24D6EE5D-832C-443A-ADE2-7C91F8EAC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0416" y="1449514"/>
            <a:ext cx="10351168" cy="1151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48">
            <a:extLst xmlns:a="http://schemas.openxmlformats.org/drawingml/2006/main">
              <a:ext uri="{FF2B5EF4-FFF2-40B4-BE49-F238E27FC236}">
                <a16:creationId xmlns:a16="http://schemas.microsoft.com/office/drawing/2014/main" id="{81D5F125-354F-4764-83A3-581093897F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699731"/>
            <a:ext cx="9144000" cy="551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48">
            <a:extLst xmlns:a="http://schemas.openxmlformats.org/drawingml/2006/main">
              <a:ext uri="{FF2B5EF4-FFF2-40B4-BE49-F238E27FC236}">
                <a16:creationId xmlns:a16="http://schemas.microsoft.com/office/drawing/2014/main" id="{70826D55-4721-4CAA-8FE9-02B69E1AC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61531" y="3408595"/>
            <a:ext cx="5468937" cy="365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03994F8A-68BF-4CB1-9AC5-062AE45D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523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DECK 2: INFERENCE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6CCBA37E-E338-44AA-8306-0EF7546C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87630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Running Face Recognition on a Laptop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060A5F10-5B63-42E7-AABB-716216FF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74295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Inference and hardware deployment for modern CPU+GPU+NPU or CPU+GPU laptops</a:t>
            </a:r>
          </a:p>
        </p:txBody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B5A0BB3D-1D1E-497E-9150-442BF933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8633BF45-9AF0-4B64-B233-6ABD4572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29125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3837E809-F175-4D5F-803B-36113171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38675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6B24"/>
                </a:solidFill>
                <a:latin typeface="Arial"/>
                <a:ea typeface="Arial"/>
                <a:cs typeface="Arial"/>
              </a:defRPr>
            </a:pPr>
            <a:r>
              <a:t>Audience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58433F81-40E0-4D85-9190-B5058336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95875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High school STEM educators, including first-time AI learners.</a:t>
            </a: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865B07E3-9F29-48DB-8DB6-61740D65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2912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1E63303F-3FB2-46EA-97E8-FE49EB86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29125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0B45A94E-BCD6-4C96-BFA3-108F2C45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38675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Larger Theme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46D9F4B9-9CE6-4F02-9A6C-E1B66DC0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95875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AI is powered by algorithms, software, hardware, and silicon.</a:t>
            </a:r>
          </a:p>
        </p:txBody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56802C17-FEF4-4C62-9EE0-06720E10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29125"/>
            <a:ext cx="3143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1ED53A29-B97E-454C-B61B-6FE7E365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29125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B7082888-573D-4298-8BEB-B08F8FA0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38675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Lab Goal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AD898103-095D-4EB8-B153-2FAEE208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95875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Connect a real model to real laptop compute constraints.</a:t>
            </a:r>
          </a:p>
        </p:txBody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1E4999DF-09B2-4F92-8A14-E634EFDC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1</a:t>
            </a:r>
          </a:p>
        </p:txBody>
      </p:sp>
    </p:spTree>
    <p:extLst>
      <p:ext uri="{BB962C8B-B14F-4D97-AF65-F5344CB8AC3E}">
        <p14:creationId xmlns:p14="http://schemas.microsoft.com/office/powerpoint/2010/main" val="9107011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8">
            <a:extLst xmlns:a="http://schemas.openxmlformats.org/drawingml/2006/main">
              <a:ext uri="{FF2B5EF4-FFF2-40B4-BE49-F238E27FC236}">
                <a16:creationId xmlns:a16="http://schemas.microsoft.com/office/drawing/2014/main" id="{24D6EE5D-832C-443A-ADE2-7C91F8EAC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0416" y="1449514"/>
            <a:ext cx="10351168" cy="1151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48">
            <a:extLst xmlns:a="http://schemas.openxmlformats.org/drawingml/2006/main">
              <a:ext uri="{FF2B5EF4-FFF2-40B4-BE49-F238E27FC236}">
                <a16:creationId xmlns:a16="http://schemas.microsoft.com/office/drawing/2014/main" id="{81D5F125-354F-4764-83A3-581093897F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699731"/>
            <a:ext cx="9144000" cy="551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48">
            <a:extLst xmlns:a="http://schemas.openxmlformats.org/drawingml/2006/main">
              <a:ext uri="{FF2B5EF4-FFF2-40B4-BE49-F238E27FC236}">
                <a16:creationId xmlns:a16="http://schemas.microsoft.com/office/drawing/2014/main" id="{70826D55-4721-4CAA-8FE9-02B69E1AC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61531" y="3408595"/>
            <a:ext cx="5468937" cy="365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9BBE692F-36FA-4ECC-8554-C7625EA8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TRAINING TO INFERENCE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ADB813BB-A1B7-4D14-82BF-CB4CF9D7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Training teaches the model; inference uses it again and again.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FB2CEE4E-9277-4F44-83B3-A8CE0EC7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191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A49C22E0-26F9-4E06-8FC0-6CA1A8E0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86000"/>
            <a:ext cx="419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11C1D416-6CE8-4893-9DCA-20A8FE4D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3810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Training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1B3F7CF3-73A0-4502-A45A-0018E5CF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52750"/>
            <a:ext cx="38100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model learns how to create useful embeddings from labeled examples. This is slower and more compute-heavy.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B3CC62B4-0D4B-4052-BB52-76A719EB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191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23711FB1-BF0A-4EE7-A59D-882202E6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191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DE7EE8B9-F4E7-466D-83F1-5871BD46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95550"/>
            <a:ext cx="3810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Inference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A3AE9D36-7727-4E65-9A34-0CA1A0FB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38100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trained model runs on new camera frames. This must be fast enough to feel real time.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B703CD7A-58D3-4C34-826D-2B4EE7D6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ECF4F276-9E99-4C99-86BB-6C820FF9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2766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96B24"/>
          </a:solidFill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E93C3A24-4D6A-4ABD-B69B-E5DF3CE4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095875"/>
            <a:ext cx="4619625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A02B93"/>
          </a:solidFill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E3DC33AF-C3E3-4547-89E3-7C862756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62550"/>
            <a:ext cx="442912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Same embedding model, different job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3E52C1CB-6CE0-4499-9568-E62C3B6A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2</a:t>
            </a:r>
          </a:p>
        </p:txBody>
      </p:sp>
    </p:spTree>
    <p:extLst>
      <p:ext uri="{BB962C8B-B14F-4D97-AF65-F5344CB8AC3E}">
        <p14:creationId xmlns:p14="http://schemas.microsoft.com/office/powerpoint/2010/main" val="9107011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8">
            <a:extLst xmlns:a="http://schemas.openxmlformats.org/drawingml/2006/main">
              <a:ext uri="{FF2B5EF4-FFF2-40B4-BE49-F238E27FC236}">
                <a16:creationId xmlns:a16="http://schemas.microsoft.com/office/drawing/2014/main" id="{24D6EE5D-832C-443A-ADE2-7C91F8EAC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0416" y="1449514"/>
            <a:ext cx="10351168" cy="1151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48">
            <a:extLst xmlns:a="http://schemas.openxmlformats.org/drawingml/2006/main">
              <a:ext uri="{FF2B5EF4-FFF2-40B4-BE49-F238E27FC236}">
                <a16:creationId xmlns:a16="http://schemas.microsoft.com/office/drawing/2014/main" id="{81D5F125-354F-4764-83A3-581093897F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699731"/>
            <a:ext cx="9144000" cy="551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48">
            <a:extLst xmlns:a="http://schemas.openxmlformats.org/drawingml/2006/main">
              <a:ext uri="{FF2B5EF4-FFF2-40B4-BE49-F238E27FC236}">
                <a16:creationId xmlns:a16="http://schemas.microsoft.com/office/drawing/2014/main" id="{70826D55-4721-4CAA-8FE9-02B69E1AC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61531" y="3408595"/>
            <a:ext cx="5468937" cy="365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95B80FCC-368D-47D4-B147-0D44C375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RUNTIME PIPELINE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DFC8BF31-9044-4E77-8E0F-52828A54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 camera frame becomes a name only after several small steps.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F257E83D-2CD4-4998-9870-7CD3080D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123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56082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704A7413-C4E4-4B75-A2F2-73E552E5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93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Camera frame</a:t>
            </a:r>
          </a:p>
        </p:txBody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4AE0C39C-557E-4445-A9CE-828B4216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028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1E88C741-AEB4-4546-B70C-23302DBA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43F48654-E549-49B3-9D41-468E93264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67000"/>
            <a:ext cx="1123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96B24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D52B594-146A-49C3-96FE-A480F5BC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743200"/>
            <a:ext cx="93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Detect face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1332572A-B965-4D06-86C5-07F090E2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28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85BDAEDD-FD8B-4D90-9A33-55CDDEA3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9175B43E-F0BC-4072-8008-DE629F48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1123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97132"/>
          </a:solidFill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CFE47B21-C55E-4916-9859-7D07D5F2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43200"/>
            <a:ext cx="93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Crop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6D1AC12F-F1A0-4C99-896C-959E3420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28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A7AC2B89-6EAB-4FEB-B03C-7AF3B5C0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166F68AE-8B1A-425F-9022-807497E3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67000"/>
            <a:ext cx="1123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A02B93"/>
          </a:solidFill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D9BA34FD-465F-4DF1-A372-E4522730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43200"/>
            <a:ext cx="93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Resize color scale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8343549D-C317-47C9-B546-FD937EC1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28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1098DB0A-7EB3-4632-85C9-3952A085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E6E0CE53-5FA3-4382-8F9E-C8EA7FD4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67000"/>
            <a:ext cx="1123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F9ED5"/>
          </a:solidFill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A327AADE-2650-4DF9-B640-E4B41269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93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Model embedding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98456FA9-88C2-471E-862C-C3849DCD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28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018D3CA8-1A89-4BED-B675-E44E808D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30999DFB-09F3-4B25-A497-6BA62A1C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67000"/>
            <a:ext cx="1123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4EA72E"/>
          </a:solidFill>
        </p:spPr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E5AE8C53-EE51-4C4C-AD3E-D7B5516D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43200"/>
            <a:ext cx="93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Compare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AF642ECC-8562-425A-8370-9A560990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2895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F4CBB7D0-068D-41F9-9E82-E8EE6130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59ADC3E3-458F-4147-9F04-5445F284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667000"/>
            <a:ext cx="1123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E2841"/>
          </a:solidFill>
        </p:spPr>
      </p:sp>
      <p:sp>
        <p:nvSpPr>
          <p:cNvPr id="458" name="">
            <a:extLst xmlns:a="http://schemas.openxmlformats.org/drawingml/2006/main">
              <a:ext uri="{FF2B5EF4-FFF2-40B4-BE49-F238E27FC236}">
                <a16:creationId xmlns:a16="http://schemas.microsoft.com/office/drawing/2014/main" id="{BF6E6917-E7B4-47DF-8FA3-D040BFE0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43200"/>
            <a:ext cx="933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Label</a:t>
            </a:r>
          </a:p>
        </p:txBody>
      </p:sp>
      <p:sp>
        <p:nvSpPr>
          <p:cNvPr id="459" name="">
            <a:extLst xmlns:a="http://schemas.openxmlformats.org/drawingml/2006/main">
              <a:ext uri="{FF2B5EF4-FFF2-40B4-BE49-F238E27FC236}">
                <a16:creationId xmlns:a16="http://schemas.microsoft.com/office/drawing/2014/main" id="{D4B8D420-841C-4EAF-BCBF-6C7C3999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33875"/>
            <a:ext cx="838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code follows this order in the app: detect, crop, recognize, draw the result.</a:t>
            </a:r>
          </a:p>
        </p:txBody>
      </p:sp>
      <p:sp>
        <p:nvSpPr>
          <p:cNvPr id="460" name="">
            <a:extLst xmlns:a="http://schemas.openxmlformats.org/drawingml/2006/main">
              <a:ext uri="{FF2B5EF4-FFF2-40B4-BE49-F238E27FC236}">
                <a16:creationId xmlns:a16="http://schemas.microsoft.com/office/drawing/2014/main" id="{FF4D29B0-65F2-4C18-A0BC-2A33DD57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3</a:t>
            </a:r>
          </a:p>
        </p:txBody>
      </p:sp>
    </p:spTree>
    <p:extLst>
      <p:ext uri="{BB962C8B-B14F-4D97-AF65-F5344CB8AC3E}">
        <p14:creationId xmlns:p14="http://schemas.microsoft.com/office/powerpoint/2010/main" val="9107011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8">
            <a:extLst xmlns:a="http://schemas.openxmlformats.org/drawingml/2006/main">
              <a:ext uri="{FF2B5EF4-FFF2-40B4-BE49-F238E27FC236}">
                <a16:creationId xmlns:a16="http://schemas.microsoft.com/office/drawing/2014/main" id="{24D6EE5D-832C-443A-ADE2-7C91F8EAC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0416" y="1449514"/>
            <a:ext cx="10351168" cy="1151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48">
            <a:extLst xmlns:a="http://schemas.openxmlformats.org/drawingml/2006/main">
              <a:ext uri="{FF2B5EF4-FFF2-40B4-BE49-F238E27FC236}">
                <a16:creationId xmlns:a16="http://schemas.microsoft.com/office/drawing/2014/main" id="{81D5F125-354F-4764-83A3-581093897F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699731"/>
            <a:ext cx="9144000" cy="551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48">
            <a:extLst xmlns:a="http://schemas.openxmlformats.org/drawingml/2006/main">
              <a:ext uri="{FF2B5EF4-FFF2-40B4-BE49-F238E27FC236}">
                <a16:creationId xmlns:a16="http://schemas.microsoft.com/office/drawing/2014/main" id="{70826D55-4721-4CAA-8FE9-02B69E1AC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61531" y="3408595"/>
            <a:ext cx="5468937" cy="365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4B232596-EEEA-491B-85E7-670DD242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PREPROCESSING CONTRACT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F4715A30-686B-4102-8895-543E04DC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laptop must format each face exactly the way the model expects.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9EDADEDE-5451-4098-A8E6-531D274C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238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A96B1E60-4791-4900-A135-0E513D13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43125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34A23083-4F09-439A-9782-9A4D0F27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52675"/>
            <a:ext cx="1857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Resize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41EE014C-E32B-4990-A3FC-B2B01E7E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9875"/>
            <a:ext cx="1857375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face crop can be any camera size; the model expects one fixed size.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1F88E5D4-A689-46F4-B678-D6323C52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2238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8DF9C419-959A-411E-A694-A42D19ED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43125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B21F1639-31F8-41BC-9998-228219BB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52675"/>
            <a:ext cx="1857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6B24"/>
                </a:solidFill>
                <a:latin typeface="Arial"/>
                <a:ea typeface="Arial"/>
                <a:cs typeface="Arial"/>
              </a:defRPr>
            </a:pPr>
            <a:r>
              <a:t>Color order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A54BB2C2-CA2B-429E-97B2-FA66CE12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09875"/>
            <a:ext cx="1857375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OpenCV reads BGR. The neural network expects RGB.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1CE6BCD2-E1B4-4E18-B3EA-EA93E2AD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238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13316027-378A-4599-9FD2-F77F18E4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D51BEAC7-F096-41EF-A616-3486D786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52675"/>
            <a:ext cx="1857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Normalize</a:t>
            </a:r>
          </a:p>
        </p:txBody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33C0A9FE-9AB5-4434-B318-3621A968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9875"/>
            <a:ext cx="1857375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Pixel values become float32 numbers between 0.0 and 1.0.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D8F08337-F0C8-483C-8988-396F56CC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238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841C6A77-A13E-4F15-8DEF-993AEBDD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2383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B93"/>
          </a:solidFill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EB008EB4-0A18-407A-82B8-0D82BFFE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52675"/>
            <a:ext cx="1857375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A02B93"/>
                </a:solidFill>
                <a:latin typeface="Arial"/>
                <a:ea typeface="Arial"/>
                <a:cs typeface="Arial"/>
              </a:defRPr>
            </a:pPr>
            <a:r>
              <a:t>Batch</a:t>
            </a:r>
          </a:p>
        </p:txBody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0CA06ED9-C169-4C43-A80D-18F3D3D1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9875"/>
            <a:ext cx="1857375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 single face becomes shape (1, H, W, 3).</a:t>
            </a: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1F132E70-BECB-4B98-92E5-71E53A1F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53000"/>
            <a:ext cx="7239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92BCA517-849E-4B4A-9DF7-6517EAB4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86350"/>
            <a:ext cx="6896100" cy="2524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cv2.resize(...)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BCD9BEA3-3765-4277-B398-52C34E18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00663"/>
            <a:ext cx="6896100" cy="2524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cv2.cvtColor(..., COLOR_BGR2RGB)</a:t>
            </a: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B9E0488B-EAB3-441D-A1C8-0DD9F57B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14975"/>
            <a:ext cx="6896100" cy="2524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face_rgb.astype('float32') / 255.0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5859F657-4A38-4233-94B2-0BA34A9B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729288"/>
            <a:ext cx="6896100" cy="2524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np.expand_dims(..., axis=0)</a:t>
            </a:r>
          </a:p>
        </p:txBody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FC400394-FB35-4EA7-95A8-C290B395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4</a:t>
            </a:r>
          </a:p>
        </p:txBody>
      </p:sp>
    </p:spTree>
    <p:extLst>
      <p:ext uri="{BB962C8B-B14F-4D97-AF65-F5344CB8AC3E}">
        <p14:creationId xmlns:p14="http://schemas.microsoft.com/office/powerpoint/2010/main" val="9107011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8">
            <a:extLst xmlns:a="http://schemas.openxmlformats.org/drawingml/2006/main">
              <a:ext uri="{FF2B5EF4-FFF2-40B4-BE49-F238E27FC236}">
                <a16:creationId xmlns:a16="http://schemas.microsoft.com/office/drawing/2014/main" id="{24D6EE5D-832C-443A-ADE2-7C91F8EAC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0416" y="1449514"/>
            <a:ext cx="10351168" cy="1151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48">
            <a:extLst xmlns:a="http://schemas.openxmlformats.org/drawingml/2006/main">
              <a:ext uri="{FF2B5EF4-FFF2-40B4-BE49-F238E27FC236}">
                <a16:creationId xmlns:a16="http://schemas.microsoft.com/office/drawing/2014/main" id="{81D5F125-354F-4764-83A3-581093897F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699731"/>
            <a:ext cx="9144000" cy="551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48">
            <a:extLst xmlns:a="http://schemas.openxmlformats.org/drawingml/2006/main">
              <a:ext uri="{FF2B5EF4-FFF2-40B4-BE49-F238E27FC236}">
                <a16:creationId xmlns:a16="http://schemas.microsoft.com/office/drawing/2014/main" id="{70826D55-4721-4CAA-8FE9-02B69E1AC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61531" y="3408595"/>
            <a:ext cx="5468937" cy="365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69B36C33-CD52-4B54-A697-390B58C6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INPUT SHAPE GOTCHA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566318CF-FA0D-4210-B446-DB4A7268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Training and inference must agree on image size.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24B911A9-161D-44D4-A29E-DC67894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7147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A22D6AA7-FE2E-443C-913D-C6E4B09A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A184ACB4-7B99-4D93-AF56-EE1E231D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0030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Training notebook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B8F24C1B-C622-43A8-AC7A-7E0EB3C1D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57500"/>
            <a:ext cx="3333750" cy="1228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MobileNetV2 training notebook resizes images to 224 x 224.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06375B62-5844-44B9-A664-BB583F65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371475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380577A3-5C63-4945-93DA-16490D36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90750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4EC22EC0-0566-4348-878A-D447BE77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Recognizer template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4A24F8A6-0F79-4127-93E0-F13DD991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3333750" cy="12287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inference template default is target_size=(160, 160).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1D5AEA40-E6AB-4DB9-8B33-228BF6ED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43250"/>
            <a:ext cx="1790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02B93"/>
          </a:solidFill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65D5C125-BDA2-4997-826C-DF1EA7BD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86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02B93"/>
          </a:solidFill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5103FD32-67D3-4AD5-915A-8A1B8BFE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0125"/>
            <a:ext cx="685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96B24"/>
          </a:solidFill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0EB21F8A-D07B-43D0-8F3F-FB955C6B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76800"/>
            <a:ext cx="666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Deployment rule: match the exported model's input shape.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0BD5D802-490E-4822-BCC8-BB0A4085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5</a:t>
            </a:r>
          </a:p>
        </p:txBody>
      </p:sp>
    </p:spTree>
    <p:extLst>
      <p:ext uri="{BB962C8B-B14F-4D97-AF65-F5344CB8AC3E}">
        <p14:creationId xmlns:p14="http://schemas.microsoft.com/office/powerpoint/2010/main" val="91070118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8">
            <a:extLst xmlns:a="http://schemas.openxmlformats.org/drawingml/2006/main">
              <a:ext uri="{FF2B5EF4-FFF2-40B4-BE49-F238E27FC236}">
                <a16:creationId xmlns:a16="http://schemas.microsoft.com/office/drawing/2014/main" id="{24D6EE5D-832C-443A-ADE2-7C91F8EAC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0416" y="1449514"/>
            <a:ext cx="10351168" cy="1151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48">
            <a:extLst xmlns:a="http://schemas.openxmlformats.org/drawingml/2006/main">
              <a:ext uri="{FF2B5EF4-FFF2-40B4-BE49-F238E27FC236}">
                <a16:creationId xmlns:a16="http://schemas.microsoft.com/office/drawing/2014/main" id="{81D5F125-354F-4764-83A3-581093897F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699731"/>
            <a:ext cx="9144000" cy="551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48">
            <a:extLst xmlns:a="http://schemas.openxmlformats.org/drawingml/2006/main">
              <a:ext uri="{FF2B5EF4-FFF2-40B4-BE49-F238E27FC236}">
                <a16:creationId xmlns:a16="http://schemas.microsoft.com/office/drawing/2014/main" id="{70826D55-4721-4CAA-8FE9-02B69E1AC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61531" y="3408595"/>
            <a:ext cx="5468937" cy="365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5C96AF6B-E30F-4E6C-BE4D-88183566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EMBEDDING INFERENCE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E8FC5FC8-EFBA-4D65-AB18-D796FCB8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Each face crop becomes one 128-number embedding.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EAC4DF5E-9296-41CB-8453-054A6836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3333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7DCE2524-B1E6-4EC9-BFE6-5B6A0C83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43125"/>
            <a:ext cx="3333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7B72776A-54DC-4698-85EE-AEAC577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52675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Analogy bridge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0EBABC73-79FE-4AE5-8DE6-30316A9D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9875"/>
            <a:ext cx="2952750" cy="137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face passport analogy returns here: inference creates one passport for the face in the camera crop.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29BA51D5-B5E1-4A2C-BBB3-08EEE898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76500"/>
            <a:ext cx="14763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56082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BCD10014-2E4C-49F2-BC37-F2810267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52700"/>
            <a:ext cx="12858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Preprocessed face crop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E973104B-430C-471E-A002-573B1687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19400"/>
            <a:ext cx="8858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C10821A6-73B4-4010-A175-9D9FB385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762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F559217C-3FD1-4557-A643-5F418C91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76500"/>
            <a:ext cx="1428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96B24"/>
          </a:solidFill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84066516-BE78-4D4C-85F8-33D0AA20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12382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Embedding model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798C77C1-5926-4C48-A7C0-AF0B4833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19400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C5382313-DB43-49E6-B498-E9A08CCB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762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C51AD4C7-E0E5-4277-A83A-1CD3566F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476500"/>
            <a:ext cx="1238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02B93"/>
          </a:solidFill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89FD0A14-4B5E-4C50-8E1A-DB97C498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52700"/>
            <a:ext cx="1047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128-number embedding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69C2A808-F81E-43E5-B383-79DFCB15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6191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CD363644-E226-4963-87A4-AD7CEFA1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29100"/>
            <a:ext cx="584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embedding = self.model.predict(face_input, verbose=0)</a:t>
            </a:r>
          </a:p>
        </p:txBody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E51B7A8C-BD0B-4E1C-834A-5450EED7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76750"/>
            <a:ext cx="584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embedding = embedding.flatten()</a:t>
            </a:r>
          </a:p>
        </p:txBody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6A0D1BF0-14E1-474D-8E64-CD0E7A0C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24400"/>
            <a:ext cx="58483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embedding = embedding / np.linalg.norm(embedding)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1F2AF12D-0BE1-487B-A815-07D1E1B7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6</a:t>
            </a:r>
          </a:p>
        </p:txBody>
      </p:sp>
    </p:spTree>
    <p:extLst>
      <p:ext uri="{BB962C8B-B14F-4D97-AF65-F5344CB8AC3E}">
        <p14:creationId xmlns:p14="http://schemas.microsoft.com/office/powerpoint/2010/main" val="9107011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8">
            <a:extLst xmlns:a="http://schemas.openxmlformats.org/drawingml/2006/main">
              <a:ext uri="{FF2B5EF4-FFF2-40B4-BE49-F238E27FC236}">
                <a16:creationId xmlns:a16="http://schemas.microsoft.com/office/drawing/2014/main" id="{24D6EE5D-832C-443A-ADE2-7C91F8EAC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0416" y="1449514"/>
            <a:ext cx="10351168" cy="1151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48">
            <a:extLst xmlns:a="http://schemas.openxmlformats.org/drawingml/2006/main">
              <a:ext uri="{FF2B5EF4-FFF2-40B4-BE49-F238E27FC236}">
                <a16:creationId xmlns:a16="http://schemas.microsoft.com/office/drawing/2014/main" id="{81D5F125-354F-4764-83A3-581093897F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699731"/>
            <a:ext cx="9144000" cy="551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48">
            <a:extLst xmlns:a="http://schemas.openxmlformats.org/drawingml/2006/main">
              <a:ext uri="{FF2B5EF4-FFF2-40B4-BE49-F238E27FC236}">
                <a16:creationId xmlns:a16="http://schemas.microsoft.com/office/drawing/2014/main" id="{70826D55-4721-4CAA-8FE9-02B69E1AC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61531" y="3408595"/>
            <a:ext cx="5468937" cy="365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F3B7F4A8-666A-451F-8200-AE4BFD3C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FAST COMPARISON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C9825063-F775-47B1-93DC-D9D190F4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L2 normalization makes cosine similarity a dot product.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4F134CE6-8893-4EC7-AF3A-28496192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3524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E7096980-AF87-433E-A671-5F8138DF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38375"/>
            <a:ext cx="3524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49D00A6B-08A6-4877-978A-6BCA54B9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47925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What normalization does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627935F0-AB26-42BB-8DC7-7837EFB2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31432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It scales each embedding to length 1.0. That makes comparison simpler and faster.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3BDF7F61-425C-4EDE-94F4-4EEBDAAA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38375"/>
            <a:ext cx="4476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578AD7A5-8225-4C49-84E6-CC7D62A0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38375"/>
            <a:ext cx="4476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F1B6E204-0E79-42C5-BD22-9031CCF2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47925"/>
            <a:ext cx="4095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6B24"/>
                </a:solidFill>
                <a:latin typeface="Arial"/>
                <a:ea typeface="Arial"/>
                <a:cs typeface="Arial"/>
              </a:defRPr>
            </a:pPr>
            <a:r>
              <a:t>Why it matters in real time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A5CF04D1-C923-4628-ACB7-217FCAF8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409575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app compares the unknown face against stored embeddings for every detected face. Dot products are cheap and easy for hardware.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32BB787A-AE22-49DF-888B-6CB980AC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48250"/>
            <a:ext cx="5905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11827"/>
          </a:solidFill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91C0CF3D-6A8F-4AC3-9A51-213F4F0C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81600"/>
            <a:ext cx="556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cosine_similarity(a, b) = np.dot(a, b)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DED2517C-AC94-4D12-B11C-377A1A77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7</a:t>
            </a:r>
          </a:p>
        </p:txBody>
      </p:sp>
    </p:spTree>
    <p:extLst>
      <p:ext uri="{BB962C8B-B14F-4D97-AF65-F5344CB8AC3E}">
        <p14:creationId xmlns:p14="http://schemas.microsoft.com/office/powerpoint/2010/main" val="9107011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8">
            <a:extLst xmlns:a="http://schemas.openxmlformats.org/drawingml/2006/main">
              <a:ext uri="{FF2B5EF4-FFF2-40B4-BE49-F238E27FC236}">
                <a16:creationId xmlns:a16="http://schemas.microsoft.com/office/drawing/2014/main" id="{24D6EE5D-832C-443A-ADE2-7C91F8EAC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0416" y="1449514"/>
            <a:ext cx="10351168" cy="1151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48">
            <a:extLst xmlns:a="http://schemas.openxmlformats.org/drawingml/2006/main">
              <a:ext uri="{FF2B5EF4-FFF2-40B4-BE49-F238E27FC236}">
                <a16:creationId xmlns:a16="http://schemas.microsoft.com/office/drawing/2014/main" id="{81D5F125-354F-4764-83A3-581093897F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699731"/>
            <a:ext cx="9144000" cy="551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48">
            <a:extLst xmlns:a="http://schemas.openxmlformats.org/drawingml/2006/main">
              <a:ext uri="{FF2B5EF4-FFF2-40B4-BE49-F238E27FC236}">
                <a16:creationId xmlns:a16="http://schemas.microsoft.com/office/drawing/2014/main" id="{70826D55-4721-4CAA-8FE9-02B69E1AC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61531" y="3408595"/>
            <a:ext cx="5468937" cy="365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65FA7A11-334C-49ED-9178-3194A45F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LOCAL FACE DATABASE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31B372BF-EE5B-4612-87C0-5A3AA77C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Stored embeddings let the app add people without retraining.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38E3C806-E459-4859-A392-2B273F4A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36053440-9955-4B13-BCCE-BE78A90A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43125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BC43172E-6140-4290-B522-E162F207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52675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Database shape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614B0DF7-144E-4160-A474-3AE5E71A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09875"/>
            <a:ext cx="27622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app stores a dictionary: {name: [embedding_1, embedding_2, ...]}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F49024BF-C19D-488B-A77E-F71DADEC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38375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96B24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BF2BC7E2-D2D9-4D29-B072-AE0E84D2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14575"/>
            <a:ext cx="1428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Alice [128 values]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3071B3EE-DC7E-4747-8CF9-AAB7D246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7132"/>
          </a:solidFill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C95D5FFD-0411-4378-A133-8933E1B5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19450"/>
            <a:ext cx="1428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Bob [128 values]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9ED51D7D-2964-42BD-8904-79D1B21D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A02B93"/>
          </a:solidFill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0E6C1F53-433C-4262-B790-8BD65D2C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1524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Unknown camera face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98ACB7D5-B395-4C5E-886D-C61AC981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28950"/>
            <a:ext cx="838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D8F4F806-EB02-4EA2-8C20-5E0157EC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71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D336C6BA-80FF-4665-808C-5DD2ABF6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762500"/>
            <a:ext cx="5905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Nearest-neighbor scan: O(number of stored embeddings x 128)</a:t>
            </a:r>
          </a:p>
        </p:txBody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D74CA7A1-51C9-4A2B-B315-5CD98330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8</a:t>
            </a:r>
          </a:p>
        </p:txBody>
      </p:sp>
    </p:spTree>
    <p:extLst>
      <p:ext uri="{BB962C8B-B14F-4D97-AF65-F5344CB8AC3E}">
        <p14:creationId xmlns:p14="http://schemas.microsoft.com/office/powerpoint/2010/main" val="9107011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8">
            <a:extLst xmlns:a="http://schemas.openxmlformats.org/drawingml/2006/main">
              <a:ext uri="{FF2B5EF4-FFF2-40B4-BE49-F238E27FC236}">
                <a16:creationId xmlns:a16="http://schemas.microsoft.com/office/drawing/2014/main" id="{24D6EE5D-832C-443A-ADE2-7C91F8EAC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0416" y="1449514"/>
            <a:ext cx="10351168" cy="1151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48">
            <a:extLst xmlns:a="http://schemas.openxmlformats.org/drawingml/2006/main">
              <a:ext uri="{FF2B5EF4-FFF2-40B4-BE49-F238E27FC236}">
                <a16:creationId xmlns:a16="http://schemas.microsoft.com/office/drawing/2014/main" id="{81D5F125-354F-4764-83A3-581093897F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699731"/>
            <a:ext cx="9144000" cy="551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48">
            <a:extLst xmlns:a="http://schemas.openxmlformats.org/drawingml/2006/main">
              <a:ext uri="{FF2B5EF4-FFF2-40B4-BE49-F238E27FC236}">
                <a16:creationId xmlns:a16="http://schemas.microsoft.com/office/drawing/2014/main" id="{70826D55-4721-4CAA-8FE9-02B69E1AC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61531" y="3408595"/>
            <a:ext cx="5468937" cy="365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9B879C84-FDF9-42F9-97EA-1CAD5D17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THRESHOLDING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D85865B6-5896-4D67-A7E5-83F9FA85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The system must be allowed to say Unknown.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F54E0E91-8C0B-4606-9CCC-B5F01A8C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34290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A34DA16B-96F6-4927-9377-CFF488FD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F90A4170-E100-497A-86B8-AD3F8DD9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3048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Best match is not enough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2493BF3A-C81E-4757-82A8-D831BC25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3048000" cy="146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In a classroom, a visitor or a person not in the database should not be forced into the closest known name.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041496C9-91DA-493A-8E4D-1D5269A3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8E8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84D6D4BF-3E25-45B5-9039-8F675FFF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2952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2A228633-12B7-41BF-8A6A-788BC86F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9527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C853F8BA-0B88-4F61-9ABB-A64136CD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threshold = 0.6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3E41A122-6893-4D74-BDC8-D467428B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33875"/>
            <a:ext cx="238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Below threshold -&gt; Unknown</a:t>
            </a:r>
          </a:p>
        </p:txBody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28B02611-12AF-43D8-B68D-70466462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33875"/>
            <a:ext cx="2095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Above threshold -&gt; Name</a:t>
            </a:r>
          </a:p>
        </p:txBody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64F69DA1-35D9-406C-9D49-F021235A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9</a:t>
            </a:r>
          </a:p>
        </p:txBody>
      </p:sp>
    </p:spTree>
    <p:extLst>
      <p:ext uri="{BB962C8B-B14F-4D97-AF65-F5344CB8AC3E}">
        <p14:creationId xmlns:p14="http://schemas.microsoft.com/office/powerpoint/2010/main" val="91070118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8" name="Google Shape;428;p48">
            <a:extLst xmlns:a="http://schemas.openxmlformats.org/drawingml/2006/main">
              <a:ext uri="{FF2B5EF4-FFF2-40B4-BE49-F238E27FC236}">
                <a16:creationId xmlns:a16="http://schemas.microsoft.com/office/drawing/2014/main" id="{24D6EE5D-832C-443A-ADE2-7C91F8EACD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20416" y="1449514"/>
            <a:ext cx="10351168" cy="1151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29" name="Google Shape;429;p48">
            <a:extLst xmlns:a="http://schemas.openxmlformats.org/drawingml/2006/main">
              <a:ext uri="{FF2B5EF4-FFF2-40B4-BE49-F238E27FC236}">
                <a16:creationId xmlns:a16="http://schemas.microsoft.com/office/drawing/2014/main" id="{81D5F125-354F-4764-83A3-581093897F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2699731"/>
            <a:ext cx="9144000" cy="551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0" name="Google Shape;430;p48">
            <a:extLst xmlns:a="http://schemas.openxmlformats.org/drawingml/2006/main">
              <a:ext uri="{FF2B5EF4-FFF2-40B4-BE49-F238E27FC236}">
                <a16:creationId xmlns:a16="http://schemas.microsoft.com/office/drawing/2014/main" id="{70826D55-4721-4CAA-8FE9-02B69E1AC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61531" y="3408595"/>
            <a:ext cx="5468937" cy="3651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97397EEC-2CCD-4362-B044-6FCB96DB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CPU, GPU, NPU IN LAPTOPS</a:t>
            </a:r>
          </a:p>
        </p:txBody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4EDE2CB3-B5B5-481F-B995-B1E44EEB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Modern AI PCs split work across different silicon blocks.</a:t>
            </a:r>
          </a:p>
        </p:txBody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96734AD7-6424-4BB9-82E4-6CCD15B6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8E8D2CA7-837F-4E61-BA95-4A61A1B8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082"/>
          </a:solidFill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436A210C-677D-4DFE-9C6F-56AD0282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2675"/>
            <a:ext cx="2571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6082"/>
                </a:solidFill>
                <a:latin typeface="Arial"/>
                <a:ea typeface="Arial"/>
                <a:cs typeface="Arial"/>
              </a:defRPr>
            </a:pPr>
            <a:r>
              <a:t>CPU</a:t>
            </a:r>
          </a:p>
        </p:txBody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A1CF8D55-17EA-4662-9249-5399C666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9875"/>
            <a:ext cx="25717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Runs the app logic, camera loop, file I/O, threshold checks, and fallback execution.</a:t>
            </a: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C5CF087E-BD0F-4219-9D02-5660C0B6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28BBDE69-3DED-40C6-9677-E2E890BE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43125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84A8ADF1-EF68-423D-A455-7C44D335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52675"/>
            <a:ext cx="2571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6B24"/>
                </a:solidFill>
                <a:latin typeface="Arial"/>
                <a:ea typeface="Arial"/>
                <a:cs typeface="Arial"/>
              </a:defRPr>
            </a:pPr>
            <a:r>
              <a:t>GPU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45891DBB-675B-4AF9-9A2E-DC598410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09875"/>
            <a:ext cx="25717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Accelerates parallel tensor math, especially convolution and matrix operations.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9D61DE8B-C072-4A2B-97DC-ECA1B8B2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952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B8664E02-ACA3-4309-812E-8CEF7C90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952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132"/>
          </a:solidFill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8D30B74-84AA-4C6B-B060-6FD71466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52675"/>
            <a:ext cx="2571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NPU</a:t>
            </a:r>
          </a:p>
        </p:txBody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B2485850-B6E0-4F85-917A-79D6DBF7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9875"/>
            <a:ext cx="2571750" cy="156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A neural processing unit can run supported AI inference with lower power and less heat.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7B35B974-E8C6-46C1-B033-35983090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95875"/>
            <a:ext cx="75723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A02B93"/>
          </a:solidFill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7666C752-F6A9-4118-A237-51610360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162550"/>
            <a:ext cx="7381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Target: modern laptops with CPU+GPU+NPU or CPU+GPU hardware.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B653EB6B-0248-487F-B15B-778348E8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10</a:t>
            </a:r>
          </a:p>
        </p:txBody>
      </p:sp>
    </p:spTree>
    <p:extLst>
      <p:ext uri="{BB962C8B-B14F-4D97-AF65-F5344CB8AC3E}">
        <p14:creationId xmlns:p14="http://schemas.microsoft.com/office/powerpoint/2010/main" val="9107011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5" name="Google Shape;435;p49">
            <a:extLst xmlns:a="http://schemas.openxmlformats.org/drawingml/2006/main">
              <a:ext uri="{FF2B5EF4-FFF2-40B4-BE49-F238E27FC236}">
                <a16:creationId xmlns:a16="http://schemas.microsoft.com/office/drawing/2014/main" id="{82A5F5ED-92DE-4488-A5ED-BF8DFF1D3E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6" name="Google Shape;436;p49">
            <a:extLst xmlns:a="http://schemas.openxmlformats.org/drawingml/2006/main">
              <a:ext uri="{FF2B5EF4-FFF2-40B4-BE49-F238E27FC236}">
                <a16:creationId xmlns:a16="http://schemas.microsoft.com/office/drawing/2014/main" id="{F81EA7DD-7844-423B-8EB8-8BEFE69082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34440" y="49116"/>
            <a:ext cx="9025127" cy="735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6368E0C2-B632-40CF-B149-8F997D8B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COMPUTE BUDGET PER FRAME</a:t>
            </a: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79391C6C-7D6F-4CDC-9180-C7A63ACD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Real-time recognition has to fit into a small time window.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1976D2F5-8AC4-4C45-87C2-2CE0F0E4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76450"/>
            <a:ext cx="8953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30 frames per second gives about 33 ms per frame.</a:t>
            </a:r>
          </a:p>
        </p:txBody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70E034D5-685E-4087-91CB-F85A65F4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200025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56082"/>
          </a:solidFill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8F0E2C79-9598-4F15-9326-B9EE8623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71850"/>
            <a:ext cx="2000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Detect</a:t>
            </a:r>
          </a:p>
        </p:txBody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E4F2359D-95AA-4504-B109-1F1D5D72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90875"/>
            <a:ext cx="161925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96B24"/>
          </a:solidFill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B592C02B-BACD-4B94-A6BB-679ECEE1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71850"/>
            <a:ext cx="1619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Preprocess</a:t>
            </a:r>
          </a:p>
        </p:txBody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BB678299-C45E-425B-89CA-50545B7B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90875"/>
            <a:ext cx="24765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97132"/>
          </a:solidFill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AFF6F42B-C143-4A5A-B912-E4735A87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71850"/>
            <a:ext cx="2476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Model</a:t>
            </a:r>
          </a:p>
        </p:txBody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5B768C98-427C-49EC-A3E7-DE55BD5A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90875"/>
            <a:ext cx="142875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A02B93"/>
          </a:solidFill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1C0958E0-C0D9-4D7A-AC02-E991DEC5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428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Compare</a:t>
            </a:r>
          </a:p>
        </p:txBody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F59977EB-EB5E-4A5B-9C27-F46B6186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90875"/>
            <a:ext cx="1143000" cy="5905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F9ED5"/>
          </a:solidFill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D7F6020A-AFA8-41C8-855A-546197FB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718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Draw</a:t>
            </a:r>
          </a:p>
        </p:txBody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DD6BF07C-E8B4-4255-BB79-E69A90EE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95800"/>
            <a:ext cx="17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130DBA9E-55C3-4948-85B0-3BCCEF236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476750"/>
            <a:ext cx="7677150" cy="39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If one step takes too long, the video feels slow.</a:t>
            </a: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2FFC7768-0F33-4DA7-8623-A827D2E2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92675"/>
            <a:ext cx="17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C4955785-CFB6-4CE3-82E5-6581DBA64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873625"/>
            <a:ext cx="7677150" cy="39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Integrated GPU/NPU designs can reduce data movement overhead.</a:t>
            </a:r>
          </a:p>
        </p:txBody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5C8099CF-ECEB-4B52-91B4-6D75DB7C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89550"/>
            <a:ext cx="171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-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C574DF9F-170A-4B2E-A929-12ACEE41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5270500"/>
            <a:ext cx="7677150" cy="39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Efficient models keep the whole pipeline inside the frame budget.</a:t>
            </a: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A338EF1A-0423-4611-87D3-6A807888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11</a:t>
            </a:r>
          </a:p>
        </p:txBody>
      </p:sp>
    </p:spTree>
    <p:extLst>
      <p:ext uri="{BB962C8B-B14F-4D97-AF65-F5344CB8AC3E}">
        <p14:creationId xmlns:p14="http://schemas.microsoft.com/office/powerpoint/2010/main" val="43369636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5" name="Google Shape;435;p49">
            <a:extLst xmlns:a="http://schemas.openxmlformats.org/drawingml/2006/main">
              <a:ext uri="{FF2B5EF4-FFF2-40B4-BE49-F238E27FC236}">
                <a16:creationId xmlns:a16="http://schemas.microsoft.com/office/drawing/2014/main" id="{82A5F5ED-92DE-4488-A5ED-BF8DFF1D3E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/>
          <a:p xmlns:a="http://schemas.openxmlformats.org/drawingml/2006/main">
            <a:pPr marL="228600" indent="-50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6" name="Google Shape;436;p49">
            <a:extLst xmlns:a="http://schemas.openxmlformats.org/drawingml/2006/main">
              <a:ext uri="{FF2B5EF4-FFF2-40B4-BE49-F238E27FC236}">
                <a16:creationId xmlns:a16="http://schemas.microsoft.com/office/drawing/2014/main" id="{F81EA7DD-7844-423B-8EB8-8BEFE69082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34440" y="49116"/>
            <a:ext cx="9025127" cy="7357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BDE2E042-F8E5-4A53-BEB6-4864CFA9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334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97132"/>
                </a:solidFill>
                <a:latin typeface="Arial"/>
                <a:ea typeface="Arial"/>
                <a:cs typeface="Arial"/>
              </a:defRPr>
            </a:pPr>
            <a:r>
              <a:t>DEPLOYMENT CHECKLIST</a:t>
            </a:r>
          </a:p>
        </p:txBody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2C23917B-9452-43B4-A337-B103CA36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38250"/>
            <a:ext cx="99060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Before the demo, verify the model, database, camera, and accelerator path.</a:t>
            </a:r>
          </a:p>
        </p:txBody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90FEB5FD-A98E-4C2A-BBA7-60780FD2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323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56082"/>
          </a:solidFill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B740C7AD-5AF0-428C-986F-39730631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43125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A479C77E-83AB-49B7-9E4F-37A35796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1455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Model path points to the exported embedding model</a:t>
            </a:r>
          </a:p>
        </p:txBody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8D9F8F40-9D29-4764-BAC7-AB506C87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323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196B24"/>
          </a:solidFill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D191F11D-2F2E-42AA-89BC-F9F255D6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95575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4D0B51B9-A8FD-4C50-B322-05D05AAF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670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Input shape matches training</a:t>
            </a:r>
          </a:p>
        </p:txBody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EB592865-655C-4099-8619-9498D7CD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00400"/>
            <a:ext cx="323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97132"/>
          </a:solidFill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4BAD9470-FB7D-4F53-8827-DEE31799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527C4D39-0204-4DE2-B596-EA68DAAC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1945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Database path can save and load embeddings</a:t>
            </a:r>
          </a:p>
        </p:txBody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C7E5D465-C1AE-4848-9CFA-E5DA4B12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52850"/>
            <a:ext cx="323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A02B93"/>
          </a:solidFill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D44B8E59-A71C-44DB-B814-BA3BF1EF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00475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D9A5991B-FCB6-4D27-9EAE-FD3F8AE5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719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Camera opens at the requested resolution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0FB0ADBC-FE44-4A67-A045-5591D20E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323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0F9ED5"/>
          </a:solidFill>
        </p:spPr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8029A4E0-D7FC-4622-8286-CE99A743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52925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FF7250AA-645D-4BC8-8855-5BD0C3BC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2435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CPU/GPU/NPU backend is available as expected</a:t>
            </a:r>
          </a:p>
        </p:txBody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4F92BD59-E218-4866-B749-C694B55B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57750"/>
            <a:ext cx="3238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4EA72E"/>
          </a:solidFill>
        </p:spPr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C553EB29-1638-4D39-ACC1-55A87146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05375"/>
            <a:ext cx="323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4BEA1AC3-BD41-4525-8A72-19B8F800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76800"/>
            <a:ext cx="8096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0E2841"/>
                </a:solidFill>
                <a:latin typeface="Arial"/>
                <a:ea typeface="Arial"/>
                <a:cs typeface="Arial"/>
              </a:defRPr>
            </a:pPr>
            <a:r>
              <a:t>Threshold is tuned for Unknown vs known faces</a:t>
            </a:r>
          </a:p>
        </p:txBody>
      </p:sp>
      <p:sp>
        <p:nvSpPr>
          <p:cNvPr id="457" name="">
            <a:extLst xmlns:a="http://schemas.openxmlformats.org/drawingml/2006/main">
              <a:ext uri="{FF2B5EF4-FFF2-40B4-BE49-F238E27FC236}">
                <a16:creationId xmlns:a16="http://schemas.microsoft.com/office/drawing/2014/main" id="{F30B6605-CC52-4E8A-8A25-2F498EEA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t>Inference | 12</a:t>
            </a:r>
          </a:p>
        </p:txBody>
      </p:sp>
    </p:spTree>
    <p:extLst>
      <p:ext uri="{BB962C8B-B14F-4D97-AF65-F5344CB8AC3E}">
        <p14:creationId xmlns:p14="http://schemas.microsoft.com/office/powerpoint/2010/main" val="43369636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2026-05-25T19:14:00.1920000Z</dcterms:created>
  <dcterms:modified xsi:type="dcterms:W3CDTF">2026-05-25T19:14:00.1920000Z</dcterms:modified>
</coreProperties>
</file>