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9">
            <a:extLst>
              <a:ext uri="{FF2B5EF4-FFF2-40B4-BE49-F238E27FC236}">
                <a16:creationId xmlns:a16="http://schemas.microsoft.com/office/drawing/2014/main" id="{73E618CE-1921-48BD-8995-2D968B2E2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1343" y="957531"/>
            <a:ext cx="6464237" cy="521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82" name="Google Shape;82;p9">
            <a:extLst>
              <a:ext uri="{FF2B5EF4-FFF2-40B4-BE49-F238E27FC236}">
                <a16:creationId xmlns:a16="http://schemas.microsoft.com/office/drawing/2014/main" id="{0495FB91-BE70-446F-B7A2-7091B0EF7CA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84513" y="153415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9">
            <a:extLst>
              <a:ext uri="{FF2B5EF4-FFF2-40B4-BE49-F238E27FC236}">
                <a16:creationId xmlns:a16="http://schemas.microsoft.com/office/drawing/2014/main" id="{47060F7F-194F-4011-8745-649A578DE13D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9">
            <a:extLst>
              <a:ext uri="{FF2B5EF4-FFF2-40B4-BE49-F238E27FC236}">
                <a16:creationId xmlns:a16="http://schemas.microsoft.com/office/drawing/2014/main" id="{C8F87554-79B8-4869-A655-48CC7833049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709737" y="6356349"/>
            <a:ext cx="4772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9">
            <a:extLst>
              <a:ext uri="{FF2B5EF4-FFF2-40B4-BE49-F238E27FC236}">
                <a16:creationId xmlns:a16="http://schemas.microsoft.com/office/drawing/2014/main" id="{8DE093F7-EA94-48CA-99E3-80C7958E11F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86238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9">
            <a:extLst>
              <a:ext uri="{FF2B5EF4-FFF2-40B4-BE49-F238E27FC236}">
                <a16:creationId xmlns:a16="http://schemas.microsoft.com/office/drawing/2014/main" id="{A5062433-9DD4-40F6-B3F5-8D0994712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8754" y="71125"/>
            <a:ext cx="9437449" cy="599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9">
            <a:extLst>
              <a:ext uri="{FF2B5EF4-FFF2-40B4-BE49-F238E27FC236}">
                <a16:creationId xmlns:a16="http://schemas.microsoft.com/office/drawing/2014/main" id="{0782B870-ADC3-4AA7-ABBD-6EF683D6B70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82925" y="957531"/>
            <a:ext cx="3932100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40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>
            <a:extLst>
              <a:ext uri="{FF2B5EF4-FFF2-40B4-BE49-F238E27FC236}">
                <a16:creationId xmlns:a16="http://schemas.microsoft.com/office/drawing/2014/main" id="{FC53A9CC-85AB-4CE8-9179-8C59C84EE6E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>
            <a:extLst>
              <a:ext uri="{FF2B5EF4-FFF2-40B4-BE49-F238E27FC236}">
                <a16:creationId xmlns:a16="http://schemas.microsoft.com/office/drawing/2014/main" id="{DF5953EC-D4BC-4BD4-ABA6-AA2E1CC83CC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>
            <a:extLst>
              <a:ext uri="{FF2B5EF4-FFF2-40B4-BE49-F238E27FC236}">
                <a16:creationId xmlns:a16="http://schemas.microsoft.com/office/drawing/2014/main" id="{B3A35A54-3BB7-466A-9513-8CB41D8B9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416" y="2001878"/>
            <a:ext cx="10351200" cy="11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latin typeface="Aptos"/>
                <a:ea typeface="Aptos"/>
                <a:cs typeface="Aptos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>
            <a:extLst>
              <a:ext uri="{FF2B5EF4-FFF2-40B4-BE49-F238E27FC236}">
                <a16:creationId xmlns:a16="http://schemas.microsoft.com/office/drawing/2014/main" id="{7DC2493B-F0DB-469C-968D-27CAFED2D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241152"/>
            <a:ext cx="9144000" cy="5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3200">
                <a:latin typeface="Aptos"/>
                <a:ea typeface="Aptos"/>
                <a:cs typeface="Aptos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>
            <a:extLst>
              <a:ext uri="{FF2B5EF4-FFF2-40B4-BE49-F238E27FC236}">
                <a16:creationId xmlns:a16="http://schemas.microsoft.com/office/drawing/2014/main" id="{A5F61095-AB88-4A2A-8AAA-2C7B3F80798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8">
            <a:extLst>
              <a:ext uri="{FF2B5EF4-FFF2-40B4-BE49-F238E27FC236}">
                <a16:creationId xmlns:a16="http://schemas.microsoft.com/office/drawing/2014/main" id="{9E434D17-0408-4F96-A56F-24FDFDA9ECF6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8">
            <a:extLst>
              <a:ext uri="{FF2B5EF4-FFF2-40B4-BE49-F238E27FC236}">
                <a16:creationId xmlns:a16="http://schemas.microsoft.com/office/drawing/2014/main" id="{D9B8A4CE-0213-4F79-89D6-958D2555D92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107AA2DD-FFA2-8D2D-D19C-8768C0CAF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273398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469CA4A0-87C8-4A54-A8F0-557412B75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53400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2D816EA8-84C6-4322-90A8-36016F1880F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E2A4FC29-D878-4DA9-BD7F-2579B43D623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A5D51387-6E34-4706-9DAE-E6ECE5D9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238892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4EA00B28-5C17-48EE-B174-A2891257F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416" y="1449514"/>
            <a:ext cx="10351200" cy="11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Lato Black"/>
                <a:ea typeface="Lato Black"/>
                <a:cs typeface="Lato Black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>
            <a:extLst>
              <a:ext uri="{FF2B5EF4-FFF2-40B4-BE49-F238E27FC236}">
                <a16:creationId xmlns:a16="http://schemas.microsoft.com/office/drawing/2014/main" id="{6BA1B8DC-DE22-4F71-BA11-0EA62FDBB5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99731"/>
            <a:ext cx="9144000" cy="5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3200">
                <a:latin typeface="Lato"/>
                <a:ea typeface="Lato"/>
                <a:cs typeface="Lato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>
            <a:extLst>
              <a:ext uri="{FF2B5EF4-FFF2-40B4-BE49-F238E27FC236}">
                <a16:creationId xmlns:a16="http://schemas.microsoft.com/office/drawing/2014/main" id="{A3D4BB53-F886-43EF-B2AD-252D6C1F510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>
            <a:extLst>
              <a:ext uri="{FF2B5EF4-FFF2-40B4-BE49-F238E27FC236}">
                <a16:creationId xmlns:a16="http://schemas.microsoft.com/office/drawing/2014/main" id="{9D0AA8D0-BB21-4822-BB08-B50DA3A6E3E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>
            <a:extLst>
              <a:ext uri="{FF2B5EF4-FFF2-40B4-BE49-F238E27FC236}">
                <a16:creationId xmlns:a16="http://schemas.microsoft.com/office/drawing/2014/main" id="{93B97320-857C-4925-8927-743C71AA1A8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>
            <a:extLst>
              <a:ext uri="{FF2B5EF4-FFF2-40B4-BE49-F238E27FC236}">
                <a16:creationId xmlns:a16="http://schemas.microsoft.com/office/drawing/2014/main" id="{92A5A375-A777-4404-AAB3-8309CC5E71D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61531" y="3408595"/>
            <a:ext cx="5469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400">
                <a:latin typeface="Times New Roman"/>
                <a:ea typeface="Times New Roman"/>
                <a:cs typeface="Times New Roman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7">
            <a:extLst>
              <a:ext uri="{FF2B5EF4-FFF2-40B4-BE49-F238E27FC236}">
                <a16:creationId xmlns:a16="http://schemas.microsoft.com/office/drawing/2014/main" id="{04A06413-0A8C-4823-9D4E-9B9D01522B4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7">
            <a:extLst>
              <a:ext uri="{FF2B5EF4-FFF2-40B4-BE49-F238E27FC236}">
                <a16:creationId xmlns:a16="http://schemas.microsoft.com/office/drawing/2014/main" id="{9D4D355C-220B-4FFA-B76B-756FEB43383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7">
            <a:extLst>
              <a:ext uri="{FF2B5EF4-FFF2-40B4-BE49-F238E27FC236}">
                <a16:creationId xmlns:a16="http://schemas.microsoft.com/office/drawing/2014/main" id="{1D708A1B-9C1E-41E9-8422-6E58B0D9D90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C0FE1E0A-C1EB-CA36-D612-6B1D090A0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0" y="146057"/>
            <a:ext cx="9471805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3">
            <a:extLst>
              <a:ext uri="{FF2B5EF4-FFF2-40B4-BE49-F238E27FC236}">
                <a16:creationId xmlns:a16="http://schemas.microsoft.com/office/drawing/2014/main" id="{44EADA7F-2928-4606-B8E4-F8055B085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0416" y="1449514"/>
            <a:ext cx="10351200" cy="11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Lato Black"/>
                <a:ea typeface="Lato Black"/>
                <a:cs typeface="Lato Black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3">
            <a:extLst>
              <a:ext uri="{FF2B5EF4-FFF2-40B4-BE49-F238E27FC236}">
                <a16:creationId xmlns:a16="http://schemas.microsoft.com/office/drawing/2014/main" id="{6D7AF63E-7C4E-4E74-A10F-44F3CA270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37367"/>
            <a:ext cx="9144000" cy="5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3200">
                <a:latin typeface="Lato"/>
                <a:ea typeface="Lato"/>
                <a:cs typeface="Lato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17" name="Google Shape;117;p13">
            <a:extLst>
              <a:ext uri="{FF2B5EF4-FFF2-40B4-BE49-F238E27FC236}">
                <a16:creationId xmlns:a16="http://schemas.microsoft.com/office/drawing/2014/main" id="{07CA3895-C36E-4B24-83AB-C0146C7D73E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3">
            <a:extLst>
              <a:ext uri="{FF2B5EF4-FFF2-40B4-BE49-F238E27FC236}">
                <a16:creationId xmlns:a16="http://schemas.microsoft.com/office/drawing/2014/main" id="{485ACA9A-3BC3-4ADD-8A84-65C662666F1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>
            <a:extLst>
              <a:ext uri="{FF2B5EF4-FFF2-40B4-BE49-F238E27FC236}">
                <a16:creationId xmlns:a16="http://schemas.microsoft.com/office/drawing/2014/main" id="{41EB7C03-5B1D-423C-9829-BCAFA7CFEB8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>
            <a:extLst>
              <a:ext uri="{FF2B5EF4-FFF2-40B4-BE49-F238E27FC236}">
                <a16:creationId xmlns:a16="http://schemas.microsoft.com/office/drawing/2014/main" id="{5DB8B12B-FFD5-4020-8326-A15286774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61500" y="3424620"/>
            <a:ext cx="5469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400">
                <a:latin typeface="Times New Roman"/>
                <a:ea typeface="Times New Roman"/>
                <a:cs typeface="Times New Roman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">
            <a:extLst>
              <a:ext uri="{FF2B5EF4-FFF2-40B4-BE49-F238E27FC236}">
                <a16:creationId xmlns:a16="http://schemas.microsoft.com/office/drawing/2014/main" id="{558F14A7-7954-4ACA-AB04-1A65F7A299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6">
            <a:extLst>
              <a:ext uri="{FF2B5EF4-FFF2-40B4-BE49-F238E27FC236}">
                <a16:creationId xmlns:a16="http://schemas.microsoft.com/office/drawing/2014/main" id="{A62CDB32-13E7-4C0C-BA67-DA522704C92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6">
            <a:extLst>
              <a:ext uri="{FF2B5EF4-FFF2-40B4-BE49-F238E27FC236}">
                <a16:creationId xmlns:a16="http://schemas.microsoft.com/office/drawing/2014/main" id="{A590A583-E64C-4C71-BB4F-AFBC0B4BA2C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6">
            <a:extLst>
              <a:ext uri="{FF2B5EF4-FFF2-40B4-BE49-F238E27FC236}">
                <a16:creationId xmlns:a16="http://schemas.microsoft.com/office/drawing/2014/main" id="{EAED7520-6F49-4A9E-889F-64EFAF381E4F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6">
            <a:extLst>
              <a:ext uri="{FF2B5EF4-FFF2-40B4-BE49-F238E27FC236}">
                <a16:creationId xmlns:a16="http://schemas.microsoft.com/office/drawing/2014/main" id="{C0D1DD09-DB17-47AB-90C6-302CD8F163F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">
            <a:extLst>
              <a:ext uri="{FF2B5EF4-FFF2-40B4-BE49-F238E27FC236}">
                <a16:creationId xmlns:a16="http://schemas.microsoft.com/office/drawing/2014/main" id="{0A6A18F7-5041-4908-A1BC-DE3E0C19FE9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">
            <a:extLst>
              <a:ext uri="{FF2B5EF4-FFF2-40B4-BE49-F238E27FC236}">
                <a16:creationId xmlns:a16="http://schemas.microsoft.com/office/drawing/2014/main" id="{96D3C78C-65A1-49C6-8497-C391A5E977E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17228382-7464-0B87-9EFC-774A1737E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0" y="146057"/>
            <a:ext cx="9299277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1">
            <a:extLst>
              <a:ext uri="{FF2B5EF4-FFF2-40B4-BE49-F238E27FC236}">
                <a16:creationId xmlns:a16="http://schemas.microsoft.com/office/drawing/2014/main" id="{26736591-4B14-4FAD-89E8-F656FABB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1">
            <a:extLst>
              <a:ext uri="{FF2B5EF4-FFF2-40B4-BE49-F238E27FC236}">
                <a16:creationId xmlns:a16="http://schemas.microsoft.com/office/drawing/2014/main" id="{F8DFDF2C-5692-447F-8D20-915EEC451B6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>
            <a:extLst>
              <a:ext uri="{FF2B5EF4-FFF2-40B4-BE49-F238E27FC236}">
                <a16:creationId xmlns:a16="http://schemas.microsoft.com/office/drawing/2014/main" id="{4193615A-FA48-4780-BBD6-D7CF5079D94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1">
            <a:extLst>
              <a:ext uri="{FF2B5EF4-FFF2-40B4-BE49-F238E27FC236}">
                <a16:creationId xmlns:a16="http://schemas.microsoft.com/office/drawing/2014/main" id="{D1D9A381-14D9-4D19-835A-AB2FDE447AA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5D243A25-F706-5C6D-B809-FA1CD218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394168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>
            <a:extLst>
              <a:ext uri="{FF2B5EF4-FFF2-40B4-BE49-F238E27FC236}">
                <a16:creationId xmlns:a16="http://schemas.microsoft.com/office/drawing/2014/main" id="{423EA32F-9DCC-476E-AB9E-1D76946B6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53400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>
                <a:latin typeface="Aptos"/>
                <a:ea typeface="Aptos"/>
                <a:cs typeface="Aptos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>
            <a:extLst>
              <a:ext uri="{FF2B5EF4-FFF2-40B4-BE49-F238E27FC236}">
                <a16:creationId xmlns:a16="http://schemas.microsoft.com/office/drawing/2014/main" id="{F0629EFE-4905-47C6-B822-A7BC9FC58A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253400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>
                <a:latin typeface="Aptos"/>
                <a:ea typeface="Aptos"/>
                <a:cs typeface="Aptos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>
            <a:extLst>
              <a:ext uri="{FF2B5EF4-FFF2-40B4-BE49-F238E27FC236}">
                <a16:creationId xmlns:a16="http://schemas.microsoft.com/office/drawing/2014/main" id="{30AECE30-E8FC-4909-9AC8-F21F2EF09B5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>
            <a:extLst>
              <a:ext uri="{FF2B5EF4-FFF2-40B4-BE49-F238E27FC236}">
                <a16:creationId xmlns:a16="http://schemas.microsoft.com/office/drawing/2014/main" id="{E26493C8-4338-4982-B5C8-983AE1CA5C6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">
            <a:extLst>
              <a:ext uri="{FF2B5EF4-FFF2-40B4-BE49-F238E27FC236}">
                <a16:creationId xmlns:a16="http://schemas.microsoft.com/office/drawing/2014/main" id="{0F7C950E-8D73-489F-B7BB-590D8CF7470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25;p3">
            <a:extLst>
              <a:ext uri="{FF2B5EF4-FFF2-40B4-BE49-F238E27FC236}">
                <a16:creationId xmlns:a16="http://schemas.microsoft.com/office/drawing/2014/main" id="{B01E623F-61D5-0141-AEAE-1C1DE6CDF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421" y="146057"/>
            <a:ext cx="9351036" cy="494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latin typeface="Aptos"/>
                <a:ea typeface="Aptos"/>
                <a:cs typeface="Aptos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0">
            <a:extLst>
              <a:ext uri="{FF2B5EF4-FFF2-40B4-BE49-F238E27FC236}">
                <a16:creationId xmlns:a16="http://schemas.microsoft.com/office/drawing/2014/main" id="{9D05B6D4-5CD6-42F7-A656-F5D97751C887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4" name="Google Shape;94;p10">
            <a:extLst>
              <a:ext uri="{FF2B5EF4-FFF2-40B4-BE49-F238E27FC236}">
                <a16:creationId xmlns:a16="http://schemas.microsoft.com/office/drawing/2014/main" id="{1934A524-61B9-4C79-AAAD-A73BC50C2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95" name="Google Shape;95;p10">
            <a:extLst>
              <a:ext uri="{FF2B5EF4-FFF2-40B4-BE49-F238E27FC236}">
                <a16:creationId xmlns:a16="http://schemas.microsoft.com/office/drawing/2014/main" id="{47AEB42A-CE50-455A-A9DB-C2595B80DA2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0">
            <a:extLst>
              <a:ext uri="{FF2B5EF4-FFF2-40B4-BE49-F238E27FC236}">
                <a16:creationId xmlns:a16="http://schemas.microsoft.com/office/drawing/2014/main" id="{30ED5FA7-37E6-4AD9-BDA3-E9EC290FFF70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0">
            <a:extLst>
              <a:ext uri="{FF2B5EF4-FFF2-40B4-BE49-F238E27FC236}">
                <a16:creationId xmlns:a16="http://schemas.microsoft.com/office/drawing/2014/main" id="{F84E1C03-2034-42E4-9C81-E5EFD73BAA8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endParaRPr/>
          </a:p>
        </p:txBody>
      </p:sp>
      <p:sp>
        <p:nvSpPr>
          <p:cNvPr id="2" name="Google Shape;86;p9">
            <a:extLst>
              <a:ext uri="{FF2B5EF4-FFF2-40B4-BE49-F238E27FC236}">
                <a16:creationId xmlns:a16="http://schemas.microsoft.com/office/drawing/2014/main" id="{BE6E3621-4F46-4C03-D6DD-7DD18C357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8755" y="71125"/>
            <a:ext cx="8842226" cy="599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latin typeface="Lato"/>
                <a:ea typeface="Lato"/>
                <a:cs typeface="Lato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">
            <a:extLst>
              <a:ext uri="{FF2B5EF4-FFF2-40B4-BE49-F238E27FC236}">
                <a16:creationId xmlns:a16="http://schemas.microsoft.com/office/drawing/2014/main" id="{3AF73848-6658-4EF5-8D99-28288AB6C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7BCBE95C-0707-4F04-B3F8-E26DD960E0F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9" name="Google Shape;9;p1">
            <a:extLst>
              <a:ext uri="{FF2B5EF4-FFF2-40B4-BE49-F238E27FC236}">
                <a16:creationId xmlns:a16="http://schemas.microsoft.com/office/drawing/2014/main" id="{406F6788-A77B-44B0-B5E4-890670B969E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10" name="Google Shape;10;p1">
            <a:extLst>
              <a:ext uri="{FF2B5EF4-FFF2-40B4-BE49-F238E27FC236}">
                <a16:creationId xmlns:a16="http://schemas.microsoft.com/office/drawing/2014/main" id="{CE800164-53E7-42F0-A732-74F33CD7A1D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313E3-430D-AC32-042F-BE662BCEC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03994F8A-68BF-4CB1-9AC5-062AE45D147F}"/>
              </a:ext>
            </a:extLst>
          </p:cNvPr>
          <p:cNvSpPr>
            <a:spLocks noGrp="1"/>
          </p:cNvSpPr>
          <p:nvPr/>
        </p:nvSpPr>
        <p:spPr>
          <a:xfrm>
            <a:off x="914400" y="1447800"/>
            <a:ext cx="52387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DECK 2: INFERENCE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6CCBA37E-E338-44AA-8306-0EF7546C2B9E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8763000" cy="1123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4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Running Face Recognition on a Laptop</a:t>
            </a: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060A5F10-5B63-42E7-AABB-716216FF048D}"/>
              </a:ext>
            </a:extLst>
          </p:cNvPr>
          <p:cNvSpPr>
            <a:spLocks noGrp="1"/>
          </p:cNvSpPr>
          <p:nvPr/>
        </p:nvSpPr>
        <p:spPr>
          <a:xfrm>
            <a:off x="914400" y="3048000"/>
            <a:ext cx="74295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Inference and hardware deployment for modern CPU+GPU+NPU or CPU+GPU laptops</a:t>
            </a:r>
          </a:p>
        </p:txBody>
      </p:sp>
      <p:sp>
        <p:nvSpPr>
          <p:cNvPr id="434" name="Rounded Rectangle 433">
            <a:extLst>
              <a:ext uri="{FF2B5EF4-FFF2-40B4-BE49-F238E27FC236}">
                <a16:creationId xmlns:a16="http://schemas.microsoft.com/office/drawing/2014/main" id="{B5A0BB3D-1D1E-497E-9150-442BF9339832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3143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8633BF45-9AF0-4B64-B233-6ABD45720804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3143250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3837E809-F175-4D5F-803B-36113171CD49}"/>
              </a:ext>
            </a:extLst>
          </p:cNvPr>
          <p:cNvSpPr>
            <a:spLocks noGrp="1"/>
          </p:cNvSpPr>
          <p:nvPr/>
        </p:nvSpPr>
        <p:spPr>
          <a:xfrm>
            <a:off x="1104900" y="4638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Audience</a:t>
            </a: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58433F81-40E0-4D85-9190-B5058336E685}"/>
              </a:ext>
            </a:extLst>
          </p:cNvPr>
          <p:cNvSpPr>
            <a:spLocks noGrp="1"/>
          </p:cNvSpPr>
          <p:nvPr/>
        </p:nvSpPr>
        <p:spPr>
          <a:xfrm>
            <a:off x="1104900" y="5095875"/>
            <a:ext cx="27622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High school STEM educators, including first-time AI learners.</a:t>
            </a:r>
          </a:p>
        </p:txBody>
      </p:sp>
      <p:sp>
        <p:nvSpPr>
          <p:cNvPr id="438" name="Rounded Rectangle 437">
            <a:extLst>
              <a:ext uri="{FF2B5EF4-FFF2-40B4-BE49-F238E27FC236}">
                <a16:creationId xmlns:a16="http://schemas.microsoft.com/office/drawing/2014/main" id="{865B07E3-9F29-48DB-8DB6-61740D65DA42}"/>
              </a:ext>
            </a:extLst>
          </p:cNvPr>
          <p:cNvSpPr>
            <a:spLocks noGrp="1"/>
          </p:cNvSpPr>
          <p:nvPr/>
        </p:nvSpPr>
        <p:spPr>
          <a:xfrm>
            <a:off x="4343400" y="4429125"/>
            <a:ext cx="3143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1E63303F-3FB2-46EA-97E8-FE49EB86B29F}"/>
              </a:ext>
            </a:extLst>
          </p:cNvPr>
          <p:cNvSpPr>
            <a:spLocks noGrp="1"/>
          </p:cNvSpPr>
          <p:nvPr/>
        </p:nvSpPr>
        <p:spPr>
          <a:xfrm>
            <a:off x="4343400" y="4429125"/>
            <a:ext cx="31432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0B45A94E-BCD6-4C96-BFA3-108F2C45B9C2}"/>
              </a:ext>
            </a:extLst>
          </p:cNvPr>
          <p:cNvSpPr>
            <a:spLocks noGrp="1"/>
          </p:cNvSpPr>
          <p:nvPr/>
        </p:nvSpPr>
        <p:spPr>
          <a:xfrm>
            <a:off x="4533900" y="4638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Larger Theme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46D9F4B9-9CE6-4F02-9A6C-E1B66DC03322}"/>
              </a:ext>
            </a:extLst>
          </p:cNvPr>
          <p:cNvSpPr>
            <a:spLocks noGrp="1"/>
          </p:cNvSpPr>
          <p:nvPr/>
        </p:nvSpPr>
        <p:spPr>
          <a:xfrm>
            <a:off x="4533900" y="5095875"/>
            <a:ext cx="27622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AI is powered by algorithms, software, hardware, and silicon.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56802C17-FEF4-4C62-9EE0-06720E10262E}"/>
              </a:ext>
            </a:extLst>
          </p:cNvPr>
          <p:cNvSpPr>
            <a:spLocks noGrp="1"/>
          </p:cNvSpPr>
          <p:nvPr/>
        </p:nvSpPr>
        <p:spPr>
          <a:xfrm>
            <a:off x="7772400" y="4429125"/>
            <a:ext cx="3143250" cy="1066800"/>
          </a:xfrm>
          <a:prstGeom prst="roundRect">
            <a:avLst>
              <a:gd name="adj" fmla="val 714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1ED53A29-B97E-454C-B61B-6FE7E365184F}"/>
              </a:ext>
            </a:extLst>
          </p:cNvPr>
          <p:cNvSpPr>
            <a:spLocks noGrp="1"/>
          </p:cNvSpPr>
          <p:nvPr/>
        </p:nvSpPr>
        <p:spPr>
          <a:xfrm>
            <a:off x="7772400" y="4429125"/>
            <a:ext cx="31432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7082888-573D-4298-8BEB-B08F8FA0497F}"/>
              </a:ext>
            </a:extLst>
          </p:cNvPr>
          <p:cNvSpPr>
            <a:spLocks noGrp="1"/>
          </p:cNvSpPr>
          <p:nvPr/>
        </p:nvSpPr>
        <p:spPr>
          <a:xfrm>
            <a:off x="7962900" y="4638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Lab Goal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AD898103-095D-4EB8-B153-2FAEE20854C2}"/>
              </a:ext>
            </a:extLst>
          </p:cNvPr>
          <p:cNvSpPr>
            <a:spLocks noGrp="1"/>
          </p:cNvSpPr>
          <p:nvPr/>
        </p:nvSpPr>
        <p:spPr>
          <a:xfrm>
            <a:off x="7962900" y="5095875"/>
            <a:ext cx="27622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Connect a real model to real laptop compute constraints.</a:t>
            </a: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1E4999DF-09B2-4F92-8A14-E634EFDC3711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1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3DCD7-F93C-6AB4-B6F7-E420C4A53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9BBE692F-36FA-4ECC-8554-C7625EA88F64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TRAINING TO INFERENCE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ADB813BB-A1B7-4D14-82BF-CB4CF9D78B7C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Training teaches the model; inference uses it again and again.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FB2CEE4E-9277-4F44-83B3-A8CE0EC7BC49}"/>
              </a:ext>
            </a:extLst>
          </p:cNvPr>
          <p:cNvSpPr>
            <a:spLocks noGrp="1"/>
          </p:cNvSpPr>
          <p:nvPr/>
        </p:nvSpPr>
        <p:spPr>
          <a:xfrm>
            <a:off x="1047750" y="2286000"/>
            <a:ext cx="4191000" cy="2286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A49C22E0-26F9-4E06-8FC0-6CA1A8E0E045}"/>
              </a:ext>
            </a:extLst>
          </p:cNvPr>
          <p:cNvSpPr>
            <a:spLocks noGrp="1"/>
          </p:cNvSpPr>
          <p:nvPr/>
        </p:nvSpPr>
        <p:spPr>
          <a:xfrm>
            <a:off x="1047750" y="2286000"/>
            <a:ext cx="419100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11C1D416-6CE8-4893-9DCA-20A8FE4DDE07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810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Training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1B3F7CF3-73A0-4502-A45A-0018E5CFBBB7}"/>
              </a:ext>
            </a:extLst>
          </p:cNvPr>
          <p:cNvSpPr>
            <a:spLocks noGrp="1"/>
          </p:cNvSpPr>
          <p:nvPr/>
        </p:nvSpPr>
        <p:spPr>
          <a:xfrm>
            <a:off x="1238250" y="2952750"/>
            <a:ext cx="3810000" cy="1466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model learns how to create useful embeddings from labeled examples. This is slower and more compute-heavy.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B3CC62B4-0D4B-4052-BB52-76A719EB1380}"/>
              </a:ext>
            </a:extLst>
          </p:cNvPr>
          <p:cNvSpPr>
            <a:spLocks noGrp="1"/>
          </p:cNvSpPr>
          <p:nvPr/>
        </p:nvSpPr>
        <p:spPr>
          <a:xfrm>
            <a:off x="6953250" y="2286000"/>
            <a:ext cx="4191000" cy="2286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23711FB1-BF0A-4EE7-A59D-882202E695F2}"/>
              </a:ext>
            </a:extLst>
          </p:cNvPr>
          <p:cNvSpPr>
            <a:spLocks noGrp="1"/>
          </p:cNvSpPr>
          <p:nvPr/>
        </p:nvSpPr>
        <p:spPr>
          <a:xfrm>
            <a:off x="6953250" y="2286000"/>
            <a:ext cx="419100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DE7EE8B9-F4E7-466D-83F1-5871BD46A5D6}"/>
              </a:ext>
            </a:extLst>
          </p:cNvPr>
          <p:cNvSpPr>
            <a:spLocks noGrp="1"/>
          </p:cNvSpPr>
          <p:nvPr/>
        </p:nvSpPr>
        <p:spPr>
          <a:xfrm>
            <a:off x="7143750" y="2495550"/>
            <a:ext cx="3810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Inference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A3AE9D36-7727-4E65-9A34-0CA1A0FB85C9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3810000" cy="1466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trained model runs on new camera frames. This must be fast enough to feel real time.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B703CD7A-58D3-4C34-826D-2B4EE7D653DE}"/>
              </a:ext>
            </a:extLst>
          </p:cNvPr>
          <p:cNvSpPr>
            <a:spLocks noGrp="1"/>
          </p:cNvSpPr>
          <p:nvPr/>
        </p:nvSpPr>
        <p:spPr>
          <a:xfrm>
            <a:off x="5572125" y="3333750"/>
            <a:ext cx="1028700" cy="3810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Triangle 441">
            <a:extLst>
              <a:ext uri="{FF2B5EF4-FFF2-40B4-BE49-F238E27FC236}">
                <a16:creationId xmlns:a16="http://schemas.microsoft.com/office/drawing/2014/main" id="{ECF4F276-9E99-4C99-86BB-6C820FF97F94}"/>
              </a:ext>
            </a:extLst>
          </p:cNvPr>
          <p:cNvSpPr>
            <a:spLocks noGrp="1"/>
          </p:cNvSpPr>
          <p:nvPr/>
        </p:nvSpPr>
        <p:spPr>
          <a:xfrm>
            <a:off x="6562725" y="3276600"/>
            <a:ext cx="152400" cy="152400"/>
          </a:xfrm>
          <a:prstGeom prst="triangle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ounded Rectangle 442">
            <a:extLst>
              <a:ext uri="{FF2B5EF4-FFF2-40B4-BE49-F238E27FC236}">
                <a16:creationId xmlns:a16="http://schemas.microsoft.com/office/drawing/2014/main" id="{E93C3A24-4D6A-4ABD-B69B-E5DF3CE4F563}"/>
              </a:ext>
            </a:extLst>
          </p:cNvPr>
          <p:cNvSpPr>
            <a:spLocks noGrp="1"/>
          </p:cNvSpPr>
          <p:nvPr/>
        </p:nvSpPr>
        <p:spPr>
          <a:xfrm>
            <a:off x="3790950" y="5095875"/>
            <a:ext cx="4619625" cy="476250"/>
          </a:xfrm>
          <a:prstGeom prst="roundRect">
            <a:avLst>
              <a:gd name="adj" fmla="val 16000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E3DC33AF-C3E3-4547-89E3-7C862756F1B1}"/>
              </a:ext>
            </a:extLst>
          </p:cNvPr>
          <p:cNvSpPr>
            <a:spLocks noGrp="1"/>
          </p:cNvSpPr>
          <p:nvPr/>
        </p:nvSpPr>
        <p:spPr>
          <a:xfrm>
            <a:off x="3886200" y="5162550"/>
            <a:ext cx="4429125" cy="381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Same embedding model, different job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3E52C1CB-6CE0-4499-9568-E62C3B6A42CF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2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F011F-DD48-45A7-8D72-4C02576BA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95B80FCC-368D-47D4-B147-0D44C375C762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RUNTIME PIPELINE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DFC8BF31-9044-4E77-8E0F-52828A54F3A4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 camera frame becomes a name only after several small steps.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F257E83D-2CD4-4998-9870-7CD3080DDB7B}"/>
              </a:ext>
            </a:extLst>
          </p:cNvPr>
          <p:cNvSpPr>
            <a:spLocks noGrp="1"/>
          </p:cNvSpPr>
          <p:nvPr/>
        </p:nvSpPr>
        <p:spPr>
          <a:xfrm>
            <a:off x="74295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704A7413-C4E4-4B75-A2F2-73E552E514B7}"/>
              </a:ext>
            </a:extLst>
          </p:cNvPr>
          <p:cNvSpPr>
            <a:spLocks noGrp="1"/>
          </p:cNvSpPr>
          <p:nvPr/>
        </p:nvSpPr>
        <p:spPr>
          <a:xfrm>
            <a:off x="83820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Camera frame</a:t>
            </a: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4AE0C39C-557E-4445-A9CE-828B4216602F}"/>
              </a:ext>
            </a:extLst>
          </p:cNvPr>
          <p:cNvSpPr>
            <a:spLocks noGrp="1"/>
          </p:cNvSpPr>
          <p:nvPr/>
        </p:nvSpPr>
        <p:spPr>
          <a:xfrm>
            <a:off x="1943100" y="302895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6" name="Triangle 435">
            <a:extLst>
              <a:ext uri="{FF2B5EF4-FFF2-40B4-BE49-F238E27FC236}">
                <a16:creationId xmlns:a16="http://schemas.microsoft.com/office/drawing/2014/main" id="{1E88C741-AEB4-4546-B70C-23302DBA36A4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43F48654-E549-49B3-9D41-468E93264D21}"/>
              </a:ext>
            </a:extLst>
          </p:cNvPr>
          <p:cNvSpPr>
            <a:spLocks noGrp="1"/>
          </p:cNvSpPr>
          <p:nvPr/>
        </p:nvSpPr>
        <p:spPr>
          <a:xfrm>
            <a:off x="232410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5D52B594-146A-49C3-96FE-A480F5BC6C8C}"/>
              </a:ext>
            </a:extLst>
          </p:cNvPr>
          <p:cNvSpPr>
            <a:spLocks noGrp="1"/>
          </p:cNvSpPr>
          <p:nvPr/>
        </p:nvSpPr>
        <p:spPr>
          <a:xfrm>
            <a:off x="241935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Detect face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1332572A-B965-4D06-86C5-07F090E2F622}"/>
              </a:ext>
            </a:extLst>
          </p:cNvPr>
          <p:cNvSpPr>
            <a:spLocks noGrp="1"/>
          </p:cNvSpPr>
          <p:nvPr/>
        </p:nvSpPr>
        <p:spPr>
          <a:xfrm>
            <a:off x="3524250" y="302895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Triangle 439">
            <a:extLst>
              <a:ext uri="{FF2B5EF4-FFF2-40B4-BE49-F238E27FC236}">
                <a16:creationId xmlns:a16="http://schemas.microsoft.com/office/drawing/2014/main" id="{85BDAEDD-FD8B-4D90-9A33-55CDDEA3349A}"/>
              </a:ext>
            </a:extLst>
          </p:cNvPr>
          <p:cNvSpPr>
            <a:spLocks noGrp="1"/>
          </p:cNvSpPr>
          <p:nvPr/>
        </p:nvSpPr>
        <p:spPr>
          <a:xfrm>
            <a:off x="369570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9175B43E-F0BC-4072-8008-DE629F48C056}"/>
              </a:ext>
            </a:extLst>
          </p:cNvPr>
          <p:cNvSpPr>
            <a:spLocks noGrp="1"/>
          </p:cNvSpPr>
          <p:nvPr/>
        </p:nvSpPr>
        <p:spPr>
          <a:xfrm>
            <a:off x="390525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CFE47B21-C55E-4916-9859-7D07D5F22C7A}"/>
              </a:ext>
            </a:extLst>
          </p:cNvPr>
          <p:cNvSpPr>
            <a:spLocks noGrp="1"/>
          </p:cNvSpPr>
          <p:nvPr/>
        </p:nvSpPr>
        <p:spPr>
          <a:xfrm>
            <a:off x="400050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Crop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6D1AC12F-F1A0-4C99-896C-959E3420A237}"/>
              </a:ext>
            </a:extLst>
          </p:cNvPr>
          <p:cNvSpPr>
            <a:spLocks noGrp="1"/>
          </p:cNvSpPr>
          <p:nvPr/>
        </p:nvSpPr>
        <p:spPr>
          <a:xfrm>
            <a:off x="5105400" y="302895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Triangle 443">
            <a:extLst>
              <a:ext uri="{FF2B5EF4-FFF2-40B4-BE49-F238E27FC236}">
                <a16:creationId xmlns:a16="http://schemas.microsoft.com/office/drawing/2014/main" id="{A7AC2B89-6EAB-4FEB-B03C-7AF3B5C0FCBC}"/>
              </a:ext>
            </a:extLst>
          </p:cNvPr>
          <p:cNvSpPr>
            <a:spLocks noGrp="1"/>
          </p:cNvSpPr>
          <p:nvPr/>
        </p:nvSpPr>
        <p:spPr>
          <a:xfrm>
            <a:off x="527685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166F68AE-8B1A-425F-9022-807497E33830}"/>
              </a:ext>
            </a:extLst>
          </p:cNvPr>
          <p:cNvSpPr>
            <a:spLocks noGrp="1"/>
          </p:cNvSpPr>
          <p:nvPr/>
        </p:nvSpPr>
        <p:spPr>
          <a:xfrm>
            <a:off x="548640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D9BA34FD-465F-4DF1-A372-E452273010A1}"/>
              </a:ext>
            </a:extLst>
          </p:cNvPr>
          <p:cNvSpPr>
            <a:spLocks noGrp="1"/>
          </p:cNvSpPr>
          <p:nvPr/>
        </p:nvSpPr>
        <p:spPr>
          <a:xfrm>
            <a:off x="558165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Resize color scale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8343549D-C317-47C9-B546-FD937EC15A6C}"/>
              </a:ext>
            </a:extLst>
          </p:cNvPr>
          <p:cNvSpPr>
            <a:spLocks noGrp="1"/>
          </p:cNvSpPr>
          <p:nvPr/>
        </p:nvSpPr>
        <p:spPr>
          <a:xfrm>
            <a:off x="6686550" y="302895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Triangle 447">
            <a:extLst>
              <a:ext uri="{FF2B5EF4-FFF2-40B4-BE49-F238E27FC236}">
                <a16:creationId xmlns:a16="http://schemas.microsoft.com/office/drawing/2014/main" id="{1098DB0A-7EB3-4632-85C9-3952A085A1F7}"/>
              </a:ext>
            </a:extLst>
          </p:cNvPr>
          <p:cNvSpPr>
            <a:spLocks noGrp="1"/>
          </p:cNvSpPr>
          <p:nvPr/>
        </p:nvSpPr>
        <p:spPr>
          <a:xfrm>
            <a:off x="685800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ounded Rectangle 448">
            <a:extLst>
              <a:ext uri="{FF2B5EF4-FFF2-40B4-BE49-F238E27FC236}">
                <a16:creationId xmlns:a16="http://schemas.microsoft.com/office/drawing/2014/main" id="{E6E0CE53-5FA3-4382-8F9E-C8EA7FD44D70}"/>
              </a:ext>
            </a:extLst>
          </p:cNvPr>
          <p:cNvSpPr>
            <a:spLocks noGrp="1"/>
          </p:cNvSpPr>
          <p:nvPr/>
        </p:nvSpPr>
        <p:spPr>
          <a:xfrm>
            <a:off x="706755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A327AADE-2650-4DF9-B640-E4B41269F331}"/>
              </a:ext>
            </a:extLst>
          </p:cNvPr>
          <p:cNvSpPr>
            <a:spLocks noGrp="1"/>
          </p:cNvSpPr>
          <p:nvPr/>
        </p:nvSpPr>
        <p:spPr>
          <a:xfrm>
            <a:off x="716280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Model embedding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98456FA9-88C2-471E-862C-C3849DCD4860}"/>
              </a:ext>
            </a:extLst>
          </p:cNvPr>
          <p:cNvSpPr>
            <a:spLocks noGrp="1"/>
          </p:cNvSpPr>
          <p:nvPr/>
        </p:nvSpPr>
        <p:spPr>
          <a:xfrm>
            <a:off x="8267700" y="302895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Triangle 451">
            <a:extLst>
              <a:ext uri="{FF2B5EF4-FFF2-40B4-BE49-F238E27FC236}">
                <a16:creationId xmlns:a16="http://schemas.microsoft.com/office/drawing/2014/main" id="{018D3CA8-1A89-4BED-B675-E44E808D6824}"/>
              </a:ext>
            </a:extLst>
          </p:cNvPr>
          <p:cNvSpPr>
            <a:spLocks noGrp="1"/>
          </p:cNvSpPr>
          <p:nvPr/>
        </p:nvSpPr>
        <p:spPr>
          <a:xfrm>
            <a:off x="843915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3" name="Rounded Rectangle 452">
            <a:extLst>
              <a:ext uri="{FF2B5EF4-FFF2-40B4-BE49-F238E27FC236}">
                <a16:creationId xmlns:a16="http://schemas.microsoft.com/office/drawing/2014/main" id="{30999DFB-09F3-4B25-A497-6BA62A1C2637}"/>
              </a:ext>
            </a:extLst>
          </p:cNvPr>
          <p:cNvSpPr>
            <a:spLocks noGrp="1"/>
          </p:cNvSpPr>
          <p:nvPr/>
        </p:nvSpPr>
        <p:spPr>
          <a:xfrm>
            <a:off x="864870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4EA72E"/>
          </a:solidFill>
        </p:spPr>
        <p:txBody>
          <a:bodyPr/>
          <a:lstStyle/>
          <a:p>
            <a:endParaRPr lang="en-US"/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E5AE8C53-EE51-4C4C-AD3E-D7B5516DF07D}"/>
              </a:ext>
            </a:extLst>
          </p:cNvPr>
          <p:cNvSpPr>
            <a:spLocks noGrp="1"/>
          </p:cNvSpPr>
          <p:nvPr/>
        </p:nvSpPr>
        <p:spPr>
          <a:xfrm>
            <a:off x="874395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Compare</a:t>
            </a: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AF642ECC-8562-425A-8370-9A5609900EFC}"/>
              </a:ext>
            </a:extLst>
          </p:cNvPr>
          <p:cNvSpPr>
            <a:spLocks noGrp="1"/>
          </p:cNvSpPr>
          <p:nvPr/>
        </p:nvSpPr>
        <p:spPr>
          <a:xfrm>
            <a:off x="9848850" y="3028950"/>
            <a:ext cx="2095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6" name="Triangle 455">
            <a:extLst>
              <a:ext uri="{FF2B5EF4-FFF2-40B4-BE49-F238E27FC236}">
                <a16:creationId xmlns:a16="http://schemas.microsoft.com/office/drawing/2014/main" id="{F4CBB7D0-068D-41F9-9E82-E8EE6130F697}"/>
              </a:ext>
            </a:extLst>
          </p:cNvPr>
          <p:cNvSpPr>
            <a:spLocks noGrp="1"/>
          </p:cNvSpPr>
          <p:nvPr/>
        </p:nvSpPr>
        <p:spPr>
          <a:xfrm>
            <a:off x="1002030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57" name="Rounded Rectangle 456">
            <a:extLst>
              <a:ext uri="{FF2B5EF4-FFF2-40B4-BE49-F238E27FC236}">
                <a16:creationId xmlns:a16="http://schemas.microsoft.com/office/drawing/2014/main" id="{59ADC3E3-458F-4147-9F04-5445F284E8DF}"/>
              </a:ext>
            </a:extLst>
          </p:cNvPr>
          <p:cNvSpPr>
            <a:spLocks noGrp="1"/>
          </p:cNvSpPr>
          <p:nvPr/>
        </p:nvSpPr>
        <p:spPr>
          <a:xfrm>
            <a:off x="10229850" y="2667000"/>
            <a:ext cx="1123950" cy="742950"/>
          </a:xfrm>
          <a:prstGeom prst="roundRect">
            <a:avLst>
              <a:gd name="adj" fmla="val 10256"/>
            </a:avLst>
          </a:prstGeom>
          <a:solidFill>
            <a:srgbClr val="0E2841"/>
          </a:solidFill>
        </p:spPr>
        <p:txBody>
          <a:bodyPr/>
          <a:lstStyle/>
          <a:p>
            <a:endParaRPr lang="en-US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BF6E6917-E7B4-47DF-8FA3-D040BFE0F683}"/>
              </a:ext>
            </a:extLst>
          </p:cNvPr>
          <p:cNvSpPr>
            <a:spLocks noGrp="1"/>
          </p:cNvSpPr>
          <p:nvPr/>
        </p:nvSpPr>
        <p:spPr>
          <a:xfrm>
            <a:off x="10325100" y="2743200"/>
            <a:ext cx="933450" cy="6286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Label</a:t>
            </a: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D4B8D420-841C-4EAF-BCBF-6C7C3999E987}"/>
              </a:ext>
            </a:extLst>
          </p:cNvPr>
          <p:cNvSpPr>
            <a:spLocks noGrp="1"/>
          </p:cNvSpPr>
          <p:nvPr/>
        </p:nvSpPr>
        <p:spPr>
          <a:xfrm>
            <a:off x="1905000" y="4333875"/>
            <a:ext cx="8382000" cy="4191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80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code follows this order in the app: detect, crop, recognize, draw the result.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F4D29B0-65F2-4C18-A0BC-2A33DD578D15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3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B1BBA-25DF-D9D0-A326-4E1005D7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4B232596-EEEA-491B-85E7-670DD24201FD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PREPROCESSING CONTRACT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F4715A30-686B-4102-8895-543E04DCFFBD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laptop must format each face exactly the way the model expects.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9EDADEDE-5451-4098-A8E6-531D274CD8E4}"/>
              </a:ext>
            </a:extLst>
          </p:cNvPr>
          <p:cNvSpPr>
            <a:spLocks noGrp="1"/>
          </p:cNvSpPr>
          <p:nvPr/>
        </p:nvSpPr>
        <p:spPr>
          <a:xfrm>
            <a:off x="1047750" y="2143125"/>
            <a:ext cx="2238375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A96B1E60-4791-4900-A135-0E513D13F637}"/>
              </a:ext>
            </a:extLst>
          </p:cNvPr>
          <p:cNvSpPr>
            <a:spLocks noGrp="1"/>
          </p:cNvSpPr>
          <p:nvPr/>
        </p:nvSpPr>
        <p:spPr>
          <a:xfrm>
            <a:off x="1047750" y="2143125"/>
            <a:ext cx="2238375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34A23083-4F09-439A-9782-9A4D0F275336}"/>
              </a:ext>
            </a:extLst>
          </p:cNvPr>
          <p:cNvSpPr>
            <a:spLocks noGrp="1"/>
          </p:cNvSpPr>
          <p:nvPr/>
        </p:nvSpPr>
        <p:spPr>
          <a:xfrm>
            <a:off x="1238250" y="2352675"/>
            <a:ext cx="185737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Resize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41EE014C-E32B-4990-A3FC-B2B01E7E9AB0}"/>
              </a:ext>
            </a:extLst>
          </p:cNvPr>
          <p:cNvSpPr>
            <a:spLocks noGrp="1"/>
          </p:cNvSpPr>
          <p:nvPr/>
        </p:nvSpPr>
        <p:spPr>
          <a:xfrm>
            <a:off x="1238250" y="2809875"/>
            <a:ext cx="1857375" cy="1371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face crop can be any camera size; the model expects one fixed size.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1F88E5D4-A689-46F4-B678-D6323C52586A}"/>
              </a:ext>
            </a:extLst>
          </p:cNvPr>
          <p:cNvSpPr>
            <a:spLocks noGrp="1"/>
          </p:cNvSpPr>
          <p:nvPr/>
        </p:nvSpPr>
        <p:spPr>
          <a:xfrm>
            <a:off x="3619500" y="2143125"/>
            <a:ext cx="2238375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8DF9C419-959A-411E-A694-A42D19ED0EBC}"/>
              </a:ext>
            </a:extLst>
          </p:cNvPr>
          <p:cNvSpPr>
            <a:spLocks noGrp="1"/>
          </p:cNvSpPr>
          <p:nvPr/>
        </p:nvSpPr>
        <p:spPr>
          <a:xfrm>
            <a:off x="3619500" y="2143125"/>
            <a:ext cx="2238375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B21F1639-31F8-41BC-9998-228219BB12C3}"/>
              </a:ext>
            </a:extLst>
          </p:cNvPr>
          <p:cNvSpPr>
            <a:spLocks noGrp="1"/>
          </p:cNvSpPr>
          <p:nvPr/>
        </p:nvSpPr>
        <p:spPr>
          <a:xfrm>
            <a:off x="3810000" y="2352675"/>
            <a:ext cx="185737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Color order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A54BB2C2-CA2B-429E-97B2-FA66CE1287C9}"/>
              </a:ext>
            </a:extLst>
          </p:cNvPr>
          <p:cNvSpPr>
            <a:spLocks noGrp="1"/>
          </p:cNvSpPr>
          <p:nvPr/>
        </p:nvSpPr>
        <p:spPr>
          <a:xfrm>
            <a:off x="3810000" y="2809875"/>
            <a:ext cx="1857375" cy="1371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OpenCV reads BGR. The neural network expects RGB.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1CE6BCD2-E1B4-4E18-B3EA-EA93E2AD341D}"/>
              </a:ext>
            </a:extLst>
          </p:cNvPr>
          <p:cNvSpPr>
            <a:spLocks noGrp="1"/>
          </p:cNvSpPr>
          <p:nvPr/>
        </p:nvSpPr>
        <p:spPr>
          <a:xfrm>
            <a:off x="6191250" y="2143125"/>
            <a:ext cx="2238375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13316027-378A-4599-9FD2-F77F18E4165D}"/>
              </a:ext>
            </a:extLst>
          </p:cNvPr>
          <p:cNvSpPr>
            <a:spLocks noGrp="1"/>
          </p:cNvSpPr>
          <p:nvPr/>
        </p:nvSpPr>
        <p:spPr>
          <a:xfrm>
            <a:off x="6191250" y="2143125"/>
            <a:ext cx="2238375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D51BEAC7-F096-41EF-A616-3486D786F692}"/>
              </a:ext>
            </a:extLst>
          </p:cNvPr>
          <p:cNvSpPr>
            <a:spLocks noGrp="1"/>
          </p:cNvSpPr>
          <p:nvPr/>
        </p:nvSpPr>
        <p:spPr>
          <a:xfrm>
            <a:off x="6381750" y="2352675"/>
            <a:ext cx="185737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Normalize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33C0A9FE-9AB5-4434-B318-3621A968DC29}"/>
              </a:ext>
            </a:extLst>
          </p:cNvPr>
          <p:cNvSpPr>
            <a:spLocks noGrp="1"/>
          </p:cNvSpPr>
          <p:nvPr/>
        </p:nvSpPr>
        <p:spPr>
          <a:xfrm>
            <a:off x="6381750" y="2809875"/>
            <a:ext cx="1857375" cy="1371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Pixel values become float32 numbers between 0.0 and 1.0.</a:t>
            </a:r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D8F08337-F0C8-483C-8988-396F56CC2F3C}"/>
              </a:ext>
            </a:extLst>
          </p:cNvPr>
          <p:cNvSpPr>
            <a:spLocks noGrp="1"/>
          </p:cNvSpPr>
          <p:nvPr/>
        </p:nvSpPr>
        <p:spPr>
          <a:xfrm>
            <a:off x="8763000" y="2143125"/>
            <a:ext cx="2238375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841C6A77-A13E-4F15-8DEF-993AEBDD2A0F}"/>
              </a:ext>
            </a:extLst>
          </p:cNvPr>
          <p:cNvSpPr>
            <a:spLocks noGrp="1"/>
          </p:cNvSpPr>
          <p:nvPr/>
        </p:nvSpPr>
        <p:spPr>
          <a:xfrm>
            <a:off x="8763000" y="2143125"/>
            <a:ext cx="2238375" cy="57150"/>
          </a:xfrm>
          <a:prstGeom prst="rect">
            <a:avLst/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EB008EB4-0A18-407A-82B8-0D82BFFE41B8}"/>
              </a:ext>
            </a:extLst>
          </p:cNvPr>
          <p:cNvSpPr>
            <a:spLocks noGrp="1"/>
          </p:cNvSpPr>
          <p:nvPr/>
        </p:nvSpPr>
        <p:spPr>
          <a:xfrm>
            <a:off x="8953500" y="2352675"/>
            <a:ext cx="185737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A02B93"/>
                </a:solidFill>
                <a:latin typeface="Arial"/>
                <a:ea typeface="Arial"/>
                <a:cs typeface="Arial"/>
              </a:defRPr>
            </a:pPr>
            <a:r>
              <a:t>Batch</a:t>
            </a: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0CA06ED9-C169-4C43-A80D-18F3D3D1EAF6}"/>
              </a:ext>
            </a:extLst>
          </p:cNvPr>
          <p:cNvSpPr>
            <a:spLocks noGrp="1"/>
          </p:cNvSpPr>
          <p:nvPr/>
        </p:nvSpPr>
        <p:spPr>
          <a:xfrm>
            <a:off x="8953500" y="2809875"/>
            <a:ext cx="1857375" cy="1371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 single face becomes shape (1, H, W, 3).</a:t>
            </a:r>
          </a:p>
        </p:txBody>
      </p:sp>
      <p:sp>
        <p:nvSpPr>
          <p:cNvPr id="449" name="Rounded Rectangle 448">
            <a:extLst>
              <a:ext uri="{FF2B5EF4-FFF2-40B4-BE49-F238E27FC236}">
                <a16:creationId xmlns:a16="http://schemas.microsoft.com/office/drawing/2014/main" id="{1F132E70-BECB-4B98-92E5-71E53A1F72F6}"/>
              </a:ext>
            </a:extLst>
          </p:cNvPr>
          <p:cNvSpPr>
            <a:spLocks noGrp="1"/>
          </p:cNvSpPr>
          <p:nvPr/>
        </p:nvSpPr>
        <p:spPr>
          <a:xfrm>
            <a:off x="2476500" y="4953000"/>
            <a:ext cx="7239000" cy="1104900"/>
          </a:xfrm>
          <a:prstGeom prst="roundRect">
            <a:avLst>
              <a:gd name="adj" fmla="val 6897"/>
            </a:avLst>
          </a:prstGeom>
          <a:solidFill>
            <a:srgbClr val="111827"/>
          </a:solidFill>
        </p:spPr>
        <p:txBody>
          <a:bodyPr/>
          <a:lstStyle/>
          <a:p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92BCA517-849E-4B4A-9DF7-6517EAB4B77A}"/>
              </a:ext>
            </a:extLst>
          </p:cNvPr>
          <p:cNvSpPr>
            <a:spLocks noGrp="1"/>
          </p:cNvSpPr>
          <p:nvPr/>
        </p:nvSpPr>
        <p:spPr>
          <a:xfrm>
            <a:off x="2647950" y="5086350"/>
            <a:ext cx="6896100" cy="252413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cv2.resize(...)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BCD9BEA3-3765-4277-B398-52C34E180A22}"/>
              </a:ext>
            </a:extLst>
          </p:cNvPr>
          <p:cNvSpPr>
            <a:spLocks noGrp="1"/>
          </p:cNvSpPr>
          <p:nvPr/>
        </p:nvSpPr>
        <p:spPr>
          <a:xfrm>
            <a:off x="2647950" y="5300663"/>
            <a:ext cx="6896100" cy="252413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cv2.cvtColor(..., COLOR_BGR2RGB)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B9E0488B-EAB3-441D-A1C8-0DD9F57B9D6A}"/>
              </a:ext>
            </a:extLst>
          </p:cNvPr>
          <p:cNvSpPr>
            <a:spLocks noGrp="1"/>
          </p:cNvSpPr>
          <p:nvPr/>
        </p:nvSpPr>
        <p:spPr>
          <a:xfrm>
            <a:off x="2647950" y="5514975"/>
            <a:ext cx="6896100" cy="252413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face_rgb.astype('float32') / 255.0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5859F657-4A38-4233-94B2-0BA34A9BD7BA}"/>
              </a:ext>
            </a:extLst>
          </p:cNvPr>
          <p:cNvSpPr>
            <a:spLocks noGrp="1"/>
          </p:cNvSpPr>
          <p:nvPr/>
        </p:nvSpPr>
        <p:spPr>
          <a:xfrm>
            <a:off x="2647950" y="5729288"/>
            <a:ext cx="6896100" cy="252413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np.expand_dims(..., axis=0)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FC400394-FB35-4EA7-95A8-C290B3954234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4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096D8-98E2-3FF3-01C3-4B82C50AE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69B36C33-CD52-4B54-A697-390B58C69235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INPUT SHAPE GOTCHA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566318CF-FA0D-4210-B446-DB4A7268AD4D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Training and inference must agree on image size.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24B911A9-161D-44D4-A29E-DC67894E0D79}"/>
              </a:ext>
            </a:extLst>
          </p:cNvPr>
          <p:cNvSpPr>
            <a:spLocks noGrp="1"/>
          </p:cNvSpPr>
          <p:nvPr/>
        </p:nvSpPr>
        <p:spPr>
          <a:xfrm>
            <a:off x="1143000" y="2190750"/>
            <a:ext cx="3714750" cy="2047875"/>
          </a:xfrm>
          <a:prstGeom prst="roundRect">
            <a:avLst>
              <a:gd name="adj" fmla="val 3721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A22D6AA7-FE2E-443C-913D-C6E4B09A0281}"/>
              </a:ext>
            </a:extLst>
          </p:cNvPr>
          <p:cNvSpPr>
            <a:spLocks noGrp="1"/>
          </p:cNvSpPr>
          <p:nvPr/>
        </p:nvSpPr>
        <p:spPr>
          <a:xfrm>
            <a:off x="1143000" y="2190750"/>
            <a:ext cx="37147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A184ACB4-7B99-4D93-AF56-EE1E231DA18D}"/>
              </a:ext>
            </a:extLst>
          </p:cNvPr>
          <p:cNvSpPr>
            <a:spLocks noGrp="1"/>
          </p:cNvSpPr>
          <p:nvPr/>
        </p:nvSpPr>
        <p:spPr>
          <a:xfrm>
            <a:off x="1333500" y="2400300"/>
            <a:ext cx="3333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Training notebook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B8F24C1B-C622-43A8-AC7A-7E0EB3C1DB1E}"/>
              </a:ext>
            </a:extLst>
          </p:cNvPr>
          <p:cNvSpPr>
            <a:spLocks noGrp="1"/>
          </p:cNvSpPr>
          <p:nvPr/>
        </p:nvSpPr>
        <p:spPr>
          <a:xfrm>
            <a:off x="1333500" y="2857500"/>
            <a:ext cx="3333750" cy="122872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MobileNetV2 training notebook resizes images to 224 x 224.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06375B62-5844-44B9-A664-BB583F65949C}"/>
              </a:ext>
            </a:extLst>
          </p:cNvPr>
          <p:cNvSpPr>
            <a:spLocks noGrp="1"/>
          </p:cNvSpPr>
          <p:nvPr/>
        </p:nvSpPr>
        <p:spPr>
          <a:xfrm>
            <a:off x="7334250" y="2190750"/>
            <a:ext cx="3714750" cy="2047875"/>
          </a:xfrm>
          <a:prstGeom prst="roundRect">
            <a:avLst>
              <a:gd name="adj" fmla="val 3721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380577A3-5C63-4945-93DA-16490D3673F2}"/>
              </a:ext>
            </a:extLst>
          </p:cNvPr>
          <p:cNvSpPr>
            <a:spLocks noGrp="1"/>
          </p:cNvSpPr>
          <p:nvPr/>
        </p:nvSpPr>
        <p:spPr>
          <a:xfrm>
            <a:off x="7334250" y="2190750"/>
            <a:ext cx="37147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4EC22EC0-0566-4348-878A-D447BE772EC5}"/>
              </a:ext>
            </a:extLst>
          </p:cNvPr>
          <p:cNvSpPr>
            <a:spLocks noGrp="1"/>
          </p:cNvSpPr>
          <p:nvPr/>
        </p:nvSpPr>
        <p:spPr>
          <a:xfrm>
            <a:off x="7524750" y="2400300"/>
            <a:ext cx="3333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Recognizer template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4A24F8A6-0F79-4127-93E0-F13DD991F087}"/>
              </a:ext>
            </a:extLst>
          </p:cNvPr>
          <p:cNvSpPr>
            <a:spLocks noGrp="1"/>
          </p:cNvSpPr>
          <p:nvPr/>
        </p:nvSpPr>
        <p:spPr>
          <a:xfrm>
            <a:off x="7524750" y="2857500"/>
            <a:ext cx="3333750" cy="122872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inference template default is target_size=(160, 160).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1D5AEA40-E6AB-4DB9-8B33-228BF6ED4B3A}"/>
              </a:ext>
            </a:extLst>
          </p:cNvPr>
          <p:cNvSpPr>
            <a:spLocks noGrp="1"/>
          </p:cNvSpPr>
          <p:nvPr/>
        </p:nvSpPr>
        <p:spPr>
          <a:xfrm>
            <a:off x="5143500" y="3143250"/>
            <a:ext cx="1790700" cy="38100"/>
          </a:xfrm>
          <a:prstGeom prst="rect">
            <a:avLst/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Triangle 441">
            <a:extLst>
              <a:ext uri="{FF2B5EF4-FFF2-40B4-BE49-F238E27FC236}">
                <a16:creationId xmlns:a16="http://schemas.microsoft.com/office/drawing/2014/main" id="{65D5C125-BDA2-4997-826C-DF1EA7BDB043}"/>
              </a:ext>
            </a:extLst>
          </p:cNvPr>
          <p:cNvSpPr>
            <a:spLocks noGrp="1"/>
          </p:cNvSpPr>
          <p:nvPr/>
        </p:nvSpPr>
        <p:spPr>
          <a:xfrm>
            <a:off x="6896100" y="3086100"/>
            <a:ext cx="152400" cy="152400"/>
          </a:xfrm>
          <a:prstGeom prst="triangle">
            <a:avLst/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ounded Rectangle 442">
            <a:extLst>
              <a:ext uri="{FF2B5EF4-FFF2-40B4-BE49-F238E27FC236}">
                <a16:creationId xmlns:a16="http://schemas.microsoft.com/office/drawing/2014/main" id="{5103FD32-67D3-4AD5-915A-8A1B8BFE2284}"/>
              </a:ext>
            </a:extLst>
          </p:cNvPr>
          <p:cNvSpPr>
            <a:spLocks noGrp="1"/>
          </p:cNvSpPr>
          <p:nvPr/>
        </p:nvSpPr>
        <p:spPr>
          <a:xfrm>
            <a:off x="2667000" y="4810125"/>
            <a:ext cx="6858000" cy="514350"/>
          </a:xfrm>
          <a:prstGeom prst="roundRect">
            <a:avLst>
              <a:gd name="adj" fmla="val 14815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0EB21F8A-D07B-43D0-8F3F-FB955C6BB79A}"/>
              </a:ext>
            </a:extLst>
          </p:cNvPr>
          <p:cNvSpPr>
            <a:spLocks noGrp="1"/>
          </p:cNvSpPr>
          <p:nvPr/>
        </p:nvSpPr>
        <p:spPr>
          <a:xfrm>
            <a:off x="2762250" y="4876800"/>
            <a:ext cx="6667500" cy="4191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Deployment rule: match the exported model's input shape.</a:t>
            </a: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0BD5D802-490E-4822-BCC8-BB0A40853974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5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E8E44-1787-FBD5-A94C-0E421E99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5C96AF6B-E30F-4E6C-BE4D-881835666BFC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EMBEDDING INFERENCE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E8FC5FC8-EFBA-4D65-AB18-D796FCB8A3FF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Each face crop becomes one 128-number embedding.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EAC4DF5E-9296-41CB-8453-054A6836EB56}"/>
              </a:ext>
            </a:extLst>
          </p:cNvPr>
          <p:cNvSpPr>
            <a:spLocks noGrp="1"/>
          </p:cNvSpPr>
          <p:nvPr/>
        </p:nvSpPr>
        <p:spPr>
          <a:xfrm>
            <a:off x="914400" y="2143125"/>
            <a:ext cx="33337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7DCE2524-B1E6-4EC9-BFE6-5B6A0C831A03}"/>
              </a:ext>
            </a:extLst>
          </p:cNvPr>
          <p:cNvSpPr>
            <a:spLocks noGrp="1"/>
          </p:cNvSpPr>
          <p:nvPr/>
        </p:nvSpPr>
        <p:spPr>
          <a:xfrm>
            <a:off x="914400" y="2143125"/>
            <a:ext cx="33337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7B72776A-54DC-4698-85EE-AEAC577F7037}"/>
              </a:ext>
            </a:extLst>
          </p:cNvPr>
          <p:cNvSpPr>
            <a:spLocks noGrp="1"/>
          </p:cNvSpPr>
          <p:nvPr/>
        </p:nvSpPr>
        <p:spPr>
          <a:xfrm>
            <a:off x="1104900" y="2352675"/>
            <a:ext cx="2952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Analogy bridge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0EBABC73-79FE-4AE5-8DE6-30316A9D6A53}"/>
              </a:ext>
            </a:extLst>
          </p:cNvPr>
          <p:cNvSpPr>
            <a:spLocks noGrp="1"/>
          </p:cNvSpPr>
          <p:nvPr/>
        </p:nvSpPr>
        <p:spPr>
          <a:xfrm>
            <a:off x="1104900" y="2809875"/>
            <a:ext cx="2952750" cy="1371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face passport analogy returns here: inference creates one passport for the face in the camera crop.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29BA51D5-B5E1-4A2C-BBB3-08EEE8988DC5}"/>
              </a:ext>
            </a:extLst>
          </p:cNvPr>
          <p:cNvSpPr>
            <a:spLocks noGrp="1"/>
          </p:cNvSpPr>
          <p:nvPr/>
        </p:nvSpPr>
        <p:spPr>
          <a:xfrm>
            <a:off x="5095875" y="2476500"/>
            <a:ext cx="1476375" cy="685800"/>
          </a:xfrm>
          <a:prstGeom prst="roundRect">
            <a:avLst>
              <a:gd name="adj" fmla="val 11111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BCD10014-2E4C-49F2-BC37-F28102671FF5}"/>
              </a:ext>
            </a:extLst>
          </p:cNvPr>
          <p:cNvSpPr>
            <a:spLocks noGrp="1"/>
          </p:cNvSpPr>
          <p:nvPr/>
        </p:nvSpPr>
        <p:spPr>
          <a:xfrm>
            <a:off x="5191125" y="2552700"/>
            <a:ext cx="1285875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Preprocessed face crop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E973104B-430C-471E-A002-573B16876705}"/>
              </a:ext>
            </a:extLst>
          </p:cNvPr>
          <p:cNvSpPr>
            <a:spLocks noGrp="1"/>
          </p:cNvSpPr>
          <p:nvPr/>
        </p:nvSpPr>
        <p:spPr>
          <a:xfrm>
            <a:off x="6762750" y="2819400"/>
            <a:ext cx="885825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Triangle 439">
            <a:extLst>
              <a:ext uri="{FF2B5EF4-FFF2-40B4-BE49-F238E27FC236}">
                <a16:creationId xmlns:a16="http://schemas.microsoft.com/office/drawing/2014/main" id="{C10821A6-73B4-4010-A175-9D9FB385F3C2}"/>
              </a:ext>
            </a:extLst>
          </p:cNvPr>
          <p:cNvSpPr>
            <a:spLocks noGrp="1"/>
          </p:cNvSpPr>
          <p:nvPr/>
        </p:nvSpPr>
        <p:spPr>
          <a:xfrm>
            <a:off x="7610475" y="276225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F559217C-3FD1-4557-A643-5F418C91AE2D}"/>
              </a:ext>
            </a:extLst>
          </p:cNvPr>
          <p:cNvSpPr>
            <a:spLocks noGrp="1"/>
          </p:cNvSpPr>
          <p:nvPr/>
        </p:nvSpPr>
        <p:spPr>
          <a:xfrm>
            <a:off x="7924800" y="2476500"/>
            <a:ext cx="1428750" cy="685800"/>
          </a:xfrm>
          <a:prstGeom prst="roundRect">
            <a:avLst>
              <a:gd name="adj" fmla="val 11111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84066516-BE78-4D4C-85F8-33D0AA203A54}"/>
              </a:ext>
            </a:extLst>
          </p:cNvPr>
          <p:cNvSpPr>
            <a:spLocks noGrp="1"/>
          </p:cNvSpPr>
          <p:nvPr/>
        </p:nvSpPr>
        <p:spPr>
          <a:xfrm>
            <a:off x="8020050" y="2552700"/>
            <a:ext cx="123825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model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798C77C1-5926-4C48-A7C0-AF0B48337782}"/>
              </a:ext>
            </a:extLst>
          </p:cNvPr>
          <p:cNvSpPr>
            <a:spLocks noGrp="1"/>
          </p:cNvSpPr>
          <p:nvPr/>
        </p:nvSpPr>
        <p:spPr>
          <a:xfrm>
            <a:off x="9505950" y="2819400"/>
            <a:ext cx="85725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Triangle 443">
            <a:extLst>
              <a:ext uri="{FF2B5EF4-FFF2-40B4-BE49-F238E27FC236}">
                <a16:creationId xmlns:a16="http://schemas.microsoft.com/office/drawing/2014/main" id="{C5382313-DB43-49E6-B498-E9A08CCB5F8E}"/>
              </a:ext>
            </a:extLst>
          </p:cNvPr>
          <p:cNvSpPr>
            <a:spLocks noGrp="1"/>
          </p:cNvSpPr>
          <p:nvPr/>
        </p:nvSpPr>
        <p:spPr>
          <a:xfrm>
            <a:off x="10325100" y="276225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C51AD4C7-E0E5-4277-A83A-1CD3566F82EB}"/>
              </a:ext>
            </a:extLst>
          </p:cNvPr>
          <p:cNvSpPr>
            <a:spLocks noGrp="1"/>
          </p:cNvSpPr>
          <p:nvPr/>
        </p:nvSpPr>
        <p:spPr>
          <a:xfrm>
            <a:off x="10572750" y="2476500"/>
            <a:ext cx="1238250" cy="685800"/>
          </a:xfrm>
          <a:prstGeom prst="roundRect">
            <a:avLst>
              <a:gd name="adj" fmla="val 11111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89FD0A14-4B5E-4C50-8E1A-DB97C4985D52}"/>
              </a:ext>
            </a:extLst>
          </p:cNvPr>
          <p:cNvSpPr>
            <a:spLocks noGrp="1"/>
          </p:cNvSpPr>
          <p:nvPr/>
        </p:nvSpPr>
        <p:spPr>
          <a:xfrm>
            <a:off x="10668000" y="2552700"/>
            <a:ext cx="104775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128-number embedding</a:t>
            </a:r>
          </a:p>
        </p:txBody>
      </p:sp>
      <p:sp>
        <p:nvSpPr>
          <p:cNvPr id="447" name="Rounded Rectangle 446">
            <a:extLst>
              <a:ext uri="{FF2B5EF4-FFF2-40B4-BE49-F238E27FC236}">
                <a16:creationId xmlns:a16="http://schemas.microsoft.com/office/drawing/2014/main" id="{69C2A808-F81E-43E5-B383-79DFCB15CCBE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6191250" cy="990600"/>
          </a:xfrm>
          <a:prstGeom prst="roundRect">
            <a:avLst>
              <a:gd name="adj" fmla="val 7692"/>
            </a:avLst>
          </a:prstGeom>
          <a:solidFill>
            <a:srgbClr val="111827"/>
          </a:solidFill>
        </p:spPr>
        <p:txBody>
          <a:bodyPr/>
          <a:lstStyle/>
          <a:p>
            <a:endParaRPr lang="en-US"/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CD363644-E226-4963-87A4-AD7CEFA11469}"/>
              </a:ext>
            </a:extLst>
          </p:cNvPr>
          <p:cNvSpPr>
            <a:spLocks noGrp="1"/>
          </p:cNvSpPr>
          <p:nvPr/>
        </p:nvSpPr>
        <p:spPr>
          <a:xfrm>
            <a:off x="5124450" y="4229100"/>
            <a:ext cx="5848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= self.model.predict(face_input, verbose=0)</a:t>
            </a: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E51B7A8C-BD0B-4E1C-834A-5450EED79571}"/>
              </a:ext>
            </a:extLst>
          </p:cNvPr>
          <p:cNvSpPr>
            <a:spLocks noGrp="1"/>
          </p:cNvSpPr>
          <p:nvPr/>
        </p:nvSpPr>
        <p:spPr>
          <a:xfrm>
            <a:off x="5124450" y="4476750"/>
            <a:ext cx="5848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= embedding.flatten()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6A0D1BF0-14E1-474D-8E64-CD0E7A0CA1D5}"/>
              </a:ext>
            </a:extLst>
          </p:cNvPr>
          <p:cNvSpPr>
            <a:spLocks noGrp="1"/>
          </p:cNvSpPr>
          <p:nvPr/>
        </p:nvSpPr>
        <p:spPr>
          <a:xfrm>
            <a:off x="5124450" y="4724400"/>
            <a:ext cx="58483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embedding = embedding / np.linalg.norm(embedding)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1F2AF12D-0BE1-487B-A815-07D1E1B71C24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6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5A467-188C-0CB6-E4DC-76D1499B5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F3B7F4A8-666A-451F-8200-AE4BFD3C827D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FAST COMPARISON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C9825063-F775-47B1-93DC-D9D190F45289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L2 normalization makes cosine similarity a dot product.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4F134CE6-8893-4EC7-AF3A-28496192F303}"/>
              </a:ext>
            </a:extLst>
          </p:cNvPr>
          <p:cNvSpPr>
            <a:spLocks noGrp="1"/>
          </p:cNvSpPr>
          <p:nvPr/>
        </p:nvSpPr>
        <p:spPr>
          <a:xfrm>
            <a:off x="1143000" y="2238375"/>
            <a:ext cx="3524250" cy="2286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E7096980-AF87-433E-A671-5F8138DFFD30}"/>
              </a:ext>
            </a:extLst>
          </p:cNvPr>
          <p:cNvSpPr>
            <a:spLocks noGrp="1"/>
          </p:cNvSpPr>
          <p:nvPr/>
        </p:nvSpPr>
        <p:spPr>
          <a:xfrm>
            <a:off x="1143000" y="2238375"/>
            <a:ext cx="35242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49D00A6B-08A6-4877-978A-6BCA54B94A67}"/>
              </a:ext>
            </a:extLst>
          </p:cNvPr>
          <p:cNvSpPr>
            <a:spLocks noGrp="1"/>
          </p:cNvSpPr>
          <p:nvPr/>
        </p:nvSpPr>
        <p:spPr>
          <a:xfrm>
            <a:off x="1333500" y="2447925"/>
            <a:ext cx="3143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What normalization does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627935F0-AB26-42BB-8DC7-7837EFB243D4}"/>
              </a:ext>
            </a:extLst>
          </p:cNvPr>
          <p:cNvSpPr>
            <a:spLocks noGrp="1"/>
          </p:cNvSpPr>
          <p:nvPr/>
        </p:nvSpPr>
        <p:spPr>
          <a:xfrm>
            <a:off x="1333500" y="2905125"/>
            <a:ext cx="3143250" cy="1466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It scales each embedding to length 1.0. That makes comparison simpler and faster.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3BDF7F61-425C-4EDE-94F4-4EEBDAAA80C3}"/>
              </a:ext>
            </a:extLst>
          </p:cNvPr>
          <p:cNvSpPr>
            <a:spLocks noGrp="1"/>
          </p:cNvSpPr>
          <p:nvPr/>
        </p:nvSpPr>
        <p:spPr>
          <a:xfrm>
            <a:off x="5715000" y="2238375"/>
            <a:ext cx="4476750" cy="2286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578AD7A5-8225-4C49-84E6-CC7D62A0023A}"/>
              </a:ext>
            </a:extLst>
          </p:cNvPr>
          <p:cNvSpPr>
            <a:spLocks noGrp="1"/>
          </p:cNvSpPr>
          <p:nvPr/>
        </p:nvSpPr>
        <p:spPr>
          <a:xfrm>
            <a:off x="5715000" y="2238375"/>
            <a:ext cx="4476750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F1B6E204-0E79-42C5-BD22-9031CCF232B7}"/>
              </a:ext>
            </a:extLst>
          </p:cNvPr>
          <p:cNvSpPr>
            <a:spLocks noGrp="1"/>
          </p:cNvSpPr>
          <p:nvPr/>
        </p:nvSpPr>
        <p:spPr>
          <a:xfrm>
            <a:off x="5905500" y="2447925"/>
            <a:ext cx="4095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Why it matters in real time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A5CF04D1-C923-4628-ACB7-217FCAF8E8E5}"/>
              </a:ext>
            </a:extLst>
          </p:cNvPr>
          <p:cNvSpPr>
            <a:spLocks noGrp="1"/>
          </p:cNvSpPr>
          <p:nvPr/>
        </p:nvSpPr>
        <p:spPr>
          <a:xfrm>
            <a:off x="5905500" y="2905125"/>
            <a:ext cx="4095750" cy="1466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app compares the unknown face against stored embeddings for every detected face. Dot products are cheap and easy for hardware.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32BB787A-AE22-49DF-888B-6CB980AC19AE}"/>
              </a:ext>
            </a:extLst>
          </p:cNvPr>
          <p:cNvSpPr>
            <a:spLocks noGrp="1"/>
          </p:cNvSpPr>
          <p:nvPr/>
        </p:nvSpPr>
        <p:spPr>
          <a:xfrm>
            <a:off x="3143250" y="5048250"/>
            <a:ext cx="5905500" cy="628650"/>
          </a:xfrm>
          <a:prstGeom prst="roundRect">
            <a:avLst>
              <a:gd name="adj" fmla="val 12121"/>
            </a:avLst>
          </a:prstGeom>
          <a:solidFill>
            <a:srgbClr val="111827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91C0CF3D-6A8F-4AC3-9A51-213F4F0CE926}"/>
              </a:ext>
            </a:extLst>
          </p:cNvPr>
          <p:cNvSpPr>
            <a:spLocks noGrp="1"/>
          </p:cNvSpPr>
          <p:nvPr/>
        </p:nvSpPr>
        <p:spPr>
          <a:xfrm>
            <a:off x="3314700" y="5181600"/>
            <a:ext cx="55626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cosine_similarity(a, b) = np.dot(a, b)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DED2517C-AC94-4D12-B11C-377A1A77D717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7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0B2EC-623B-D197-1FB6-694FB0F2E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65FA7A11-334C-49ED-9178-3194A45FE3A9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LOCAL FACE DATABASE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31B372BF-EE5B-4612-87C0-5A3AA77CC0F1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Stored embeddings let the app add people without retraining.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38E3C806-E459-4859-A392-2B273F4ACB92}"/>
              </a:ext>
            </a:extLst>
          </p:cNvPr>
          <p:cNvSpPr>
            <a:spLocks noGrp="1"/>
          </p:cNvSpPr>
          <p:nvPr/>
        </p:nvSpPr>
        <p:spPr>
          <a:xfrm>
            <a:off x="904875" y="2143125"/>
            <a:ext cx="314325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36053440-9955-4B13-BCCE-BE78A90AB189}"/>
              </a:ext>
            </a:extLst>
          </p:cNvPr>
          <p:cNvSpPr>
            <a:spLocks noGrp="1"/>
          </p:cNvSpPr>
          <p:nvPr/>
        </p:nvSpPr>
        <p:spPr>
          <a:xfrm>
            <a:off x="904875" y="2143125"/>
            <a:ext cx="31432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BC43172E-6140-4290-B522-E162F207BBB7}"/>
              </a:ext>
            </a:extLst>
          </p:cNvPr>
          <p:cNvSpPr>
            <a:spLocks noGrp="1"/>
          </p:cNvSpPr>
          <p:nvPr/>
        </p:nvSpPr>
        <p:spPr>
          <a:xfrm>
            <a:off x="1095375" y="2352675"/>
            <a:ext cx="2762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Database shape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614B0DF7-144E-4160-A474-3AE5E71A8739}"/>
              </a:ext>
            </a:extLst>
          </p:cNvPr>
          <p:cNvSpPr>
            <a:spLocks noGrp="1"/>
          </p:cNvSpPr>
          <p:nvPr/>
        </p:nvSpPr>
        <p:spPr>
          <a:xfrm>
            <a:off x="1095375" y="2809875"/>
            <a:ext cx="276225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app stores a dictionary: {name: [embedding_1, embedding_2, ...]}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F49024BF-C19D-488B-A77E-F71DADECC55A}"/>
              </a:ext>
            </a:extLst>
          </p:cNvPr>
          <p:cNvSpPr>
            <a:spLocks noGrp="1"/>
          </p:cNvSpPr>
          <p:nvPr/>
        </p:nvSpPr>
        <p:spPr>
          <a:xfrm>
            <a:off x="5334000" y="2238375"/>
            <a:ext cx="1619250" cy="666750"/>
          </a:xfrm>
          <a:prstGeom prst="roundRect">
            <a:avLst>
              <a:gd name="adj" fmla="val 11429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BF2BC7E2-D2D9-4D29-B072-AE0E84D2D7DE}"/>
              </a:ext>
            </a:extLst>
          </p:cNvPr>
          <p:cNvSpPr>
            <a:spLocks noGrp="1"/>
          </p:cNvSpPr>
          <p:nvPr/>
        </p:nvSpPr>
        <p:spPr>
          <a:xfrm>
            <a:off x="5429250" y="2314575"/>
            <a:ext cx="1428750" cy="5524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Alice [128 values]</a:t>
            </a:r>
          </a:p>
        </p:txBody>
      </p:sp>
      <p:sp>
        <p:nvSpPr>
          <p:cNvPr id="439" name="Rounded Rectangle 438">
            <a:extLst>
              <a:ext uri="{FF2B5EF4-FFF2-40B4-BE49-F238E27FC236}">
                <a16:creationId xmlns:a16="http://schemas.microsoft.com/office/drawing/2014/main" id="{3071B3EE-DC7E-4747-8CF9-AAB7D246082D}"/>
              </a:ext>
            </a:extLst>
          </p:cNvPr>
          <p:cNvSpPr>
            <a:spLocks noGrp="1"/>
          </p:cNvSpPr>
          <p:nvPr/>
        </p:nvSpPr>
        <p:spPr>
          <a:xfrm>
            <a:off x="5334000" y="3143250"/>
            <a:ext cx="1619250" cy="666750"/>
          </a:xfrm>
          <a:prstGeom prst="roundRect">
            <a:avLst>
              <a:gd name="adj" fmla="val 11429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C95D5FFD-0411-4378-A133-8933E1B5B001}"/>
              </a:ext>
            </a:extLst>
          </p:cNvPr>
          <p:cNvSpPr>
            <a:spLocks noGrp="1"/>
          </p:cNvSpPr>
          <p:nvPr/>
        </p:nvSpPr>
        <p:spPr>
          <a:xfrm>
            <a:off x="5429250" y="3219450"/>
            <a:ext cx="1428750" cy="5524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Bob [128 values]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9ED51D7D-2964-42BD-8904-79D1B21D809E}"/>
              </a:ext>
            </a:extLst>
          </p:cNvPr>
          <p:cNvSpPr>
            <a:spLocks noGrp="1"/>
          </p:cNvSpPr>
          <p:nvPr/>
        </p:nvSpPr>
        <p:spPr>
          <a:xfrm>
            <a:off x="8096250" y="2686050"/>
            <a:ext cx="1714500" cy="781050"/>
          </a:xfrm>
          <a:prstGeom prst="roundRect">
            <a:avLst>
              <a:gd name="adj" fmla="val 9756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0E6C1F53-433C-4262-B790-8BD65D2C7B2A}"/>
              </a:ext>
            </a:extLst>
          </p:cNvPr>
          <p:cNvSpPr>
            <a:spLocks noGrp="1"/>
          </p:cNvSpPr>
          <p:nvPr/>
        </p:nvSpPr>
        <p:spPr>
          <a:xfrm>
            <a:off x="8191500" y="2762250"/>
            <a:ext cx="1524000" cy="6667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Unknown camera face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98ACB7D5-B395-4C5E-886D-C61AC981CC3D}"/>
              </a:ext>
            </a:extLst>
          </p:cNvPr>
          <p:cNvSpPr>
            <a:spLocks noGrp="1"/>
          </p:cNvSpPr>
          <p:nvPr/>
        </p:nvSpPr>
        <p:spPr>
          <a:xfrm>
            <a:off x="7048500" y="3028950"/>
            <a:ext cx="838200" cy="3810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4" name="Triangle 443">
            <a:extLst>
              <a:ext uri="{FF2B5EF4-FFF2-40B4-BE49-F238E27FC236}">
                <a16:creationId xmlns:a16="http://schemas.microsoft.com/office/drawing/2014/main" id="{D8F4F806-EB02-4EA2-8C20-5E0157EC24EA}"/>
              </a:ext>
            </a:extLst>
          </p:cNvPr>
          <p:cNvSpPr>
            <a:spLocks noGrp="1"/>
          </p:cNvSpPr>
          <p:nvPr/>
        </p:nvSpPr>
        <p:spPr>
          <a:xfrm>
            <a:off x="7848600" y="2971800"/>
            <a:ext cx="152400" cy="152400"/>
          </a:xfrm>
          <a:prstGeom prst="triangle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D336C6BA-80FF-4665-808C-5DD2ABF6E616}"/>
              </a:ext>
            </a:extLst>
          </p:cNvPr>
          <p:cNvSpPr>
            <a:spLocks noGrp="1"/>
          </p:cNvSpPr>
          <p:nvPr/>
        </p:nvSpPr>
        <p:spPr>
          <a:xfrm>
            <a:off x="4714875" y="4762500"/>
            <a:ext cx="5905500" cy="4381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Nearest-neighbor scan: O(number of stored embeddings x 128)</a:t>
            </a: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D74CA7A1-51C9-4A2B-B315-5CD983302B35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8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BF491-2E30-8862-DE95-65A3F5AE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9B879C84-FDF9-42F9-97EA-1CAD5D17676D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THRESHOLDING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D85865B6-5896-4D67-A7E5-83F9FA85B3B3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The system must be allowed to say Unknown.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F54E0E91-8C0B-4606-9CCC-B5F01A8C5AE6}"/>
              </a:ext>
            </a:extLst>
          </p:cNvPr>
          <p:cNvSpPr>
            <a:spLocks noGrp="1"/>
          </p:cNvSpPr>
          <p:nvPr/>
        </p:nvSpPr>
        <p:spPr>
          <a:xfrm>
            <a:off x="914400" y="2190750"/>
            <a:ext cx="3429000" cy="2286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A34DA16B-96F6-4927-9377-CFF488FD2490}"/>
              </a:ext>
            </a:extLst>
          </p:cNvPr>
          <p:cNvSpPr>
            <a:spLocks noGrp="1"/>
          </p:cNvSpPr>
          <p:nvPr/>
        </p:nvSpPr>
        <p:spPr>
          <a:xfrm>
            <a:off x="914400" y="2190750"/>
            <a:ext cx="342900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F90A4170-E100-497A-86B8-AD3F8DD9231A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304800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Best match is not enough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2493BF3A-C81E-4757-82A8-D831BC2515AB}"/>
              </a:ext>
            </a:extLst>
          </p:cNvPr>
          <p:cNvSpPr>
            <a:spLocks noGrp="1"/>
          </p:cNvSpPr>
          <p:nvPr/>
        </p:nvSpPr>
        <p:spPr>
          <a:xfrm>
            <a:off x="1104900" y="2857500"/>
            <a:ext cx="3048000" cy="1466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In a classroom, a visitor or a person not in the database should not be forced into the closest known name.</a:t>
            </a: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041496C9-91DA-493A-8E4D-1D5269A31BAC}"/>
              </a:ext>
            </a:extLst>
          </p:cNvPr>
          <p:cNvSpPr>
            <a:spLocks noGrp="1"/>
          </p:cNvSpPr>
          <p:nvPr/>
        </p:nvSpPr>
        <p:spPr>
          <a:xfrm>
            <a:off x="5334000" y="3190875"/>
            <a:ext cx="4953000" cy="76200"/>
          </a:xfrm>
          <a:prstGeom prst="rect">
            <a:avLst/>
          </a:prstGeom>
          <a:solidFill>
            <a:srgbClr val="E8E8E8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84D6D4BF-3E25-45B5-9039-8F675FFF8735}"/>
              </a:ext>
            </a:extLst>
          </p:cNvPr>
          <p:cNvSpPr>
            <a:spLocks noGrp="1"/>
          </p:cNvSpPr>
          <p:nvPr/>
        </p:nvSpPr>
        <p:spPr>
          <a:xfrm>
            <a:off x="5334000" y="3190875"/>
            <a:ext cx="2952750" cy="7620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2A228633-12B7-41BF-8A6A-788BC86F4D7A}"/>
              </a:ext>
            </a:extLst>
          </p:cNvPr>
          <p:cNvSpPr>
            <a:spLocks noGrp="1"/>
          </p:cNvSpPr>
          <p:nvPr/>
        </p:nvSpPr>
        <p:spPr>
          <a:xfrm>
            <a:off x="8143875" y="2952750"/>
            <a:ext cx="57150" cy="5524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C853F8BA-0B88-4F61-9ABB-A64136CDA437}"/>
              </a:ext>
            </a:extLst>
          </p:cNvPr>
          <p:cNvSpPr>
            <a:spLocks noGrp="1"/>
          </p:cNvSpPr>
          <p:nvPr/>
        </p:nvSpPr>
        <p:spPr>
          <a:xfrm>
            <a:off x="7524750" y="3619500"/>
            <a:ext cx="1524000" cy="2667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3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threshold = 0.6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3E41A122-6893-4D74-BDC8-D467428B6B76}"/>
              </a:ext>
            </a:extLst>
          </p:cNvPr>
          <p:cNvSpPr>
            <a:spLocks noGrp="1"/>
          </p:cNvSpPr>
          <p:nvPr/>
        </p:nvSpPr>
        <p:spPr>
          <a:xfrm>
            <a:off x="5334000" y="4333875"/>
            <a:ext cx="2381250" cy="2857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50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Below threshold -&gt; Unknown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28B02611-12AF-43D8-B68D-70466462CE2A}"/>
              </a:ext>
            </a:extLst>
          </p:cNvPr>
          <p:cNvSpPr>
            <a:spLocks noGrp="1"/>
          </p:cNvSpPr>
          <p:nvPr/>
        </p:nvSpPr>
        <p:spPr>
          <a:xfrm>
            <a:off x="8191500" y="4333875"/>
            <a:ext cx="2095500" cy="2857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50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Above threshold -&gt; Name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64F69DA1-35D9-406C-9D49-F021235AE21A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9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FB7AB-ABD5-3A0C-6301-10E1D97F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97397EEC-2CCD-4362-B044-6FCB96DBBAB3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CPU, GPU, NPU IN LAPTOPS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4EDE2CB3-B5B5-481F-B995-B1E44EEB1052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Modern AI PCs split work across different silicon blocks.</a:t>
            </a:r>
          </a:p>
        </p:txBody>
      </p:sp>
      <p:sp>
        <p:nvSpPr>
          <p:cNvPr id="433" name="Rounded Rectangle 432">
            <a:extLst>
              <a:ext uri="{FF2B5EF4-FFF2-40B4-BE49-F238E27FC236}">
                <a16:creationId xmlns:a16="http://schemas.microsoft.com/office/drawing/2014/main" id="{96734AD7-6424-4BB9-82E4-6CCD15B6EAE6}"/>
              </a:ext>
            </a:extLst>
          </p:cNvPr>
          <p:cNvSpPr>
            <a:spLocks noGrp="1"/>
          </p:cNvSpPr>
          <p:nvPr/>
        </p:nvSpPr>
        <p:spPr>
          <a:xfrm>
            <a:off x="952500" y="2143125"/>
            <a:ext cx="295275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8E8D2CA7-837F-4E61-BA95-4A61A1B84172}"/>
              </a:ext>
            </a:extLst>
          </p:cNvPr>
          <p:cNvSpPr>
            <a:spLocks noGrp="1"/>
          </p:cNvSpPr>
          <p:nvPr/>
        </p:nvSpPr>
        <p:spPr>
          <a:xfrm>
            <a:off x="952500" y="2143125"/>
            <a:ext cx="2952750" cy="57150"/>
          </a:xfrm>
          <a:prstGeom prst="rect">
            <a:avLst/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436A210C-677D-4DFE-9C6F-56AD02825619}"/>
              </a:ext>
            </a:extLst>
          </p:cNvPr>
          <p:cNvSpPr>
            <a:spLocks noGrp="1"/>
          </p:cNvSpPr>
          <p:nvPr/>
        </p:nvSpPr>
        <p:spPr>
          <a:xfrm>
            <a:off x="1143000" y="2352675"/>
            <a:ext cx="2571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56082"/>
                </a:solidFill>
                <a:latin typeface="Arial"/>
                <a:ea typeface="Arial"/>
                <a:cs typeface="Arial"/>
              </a:defRPr>
            </a:pPr>
            <a:r>
              <a:t>CPU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A1CF8D55-17EA-4662-9249-5399C6668EDE}"/>
              </a:ext>
            </a:extLst>
          </p:cNvPr>
          <p:cNvSpPr>
            <a:spLocks noGrp="1"/>
          </p:cNvSpPr>
          <p:nvPr/>
        </p:nvSpPr>
        <p:spPr>
          <a:xfrm>
            <a:off x="1143000" y="2809875"/>
            <a:ext cx="257175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Runs the app logic, camera loop, file I/O, threshold checks, and fallback execution.</a:t>
            </a:r>
          </a:p>
        </p:txBody>
      </p:sp>
      <p:sp>
        <p:nvSpPr>
          <p:cNvPr id="437" name="Rounded Rectangle 436">
            <a:extLst>
              <a:ext uri="{FF2B5EF4-FFF2-40B4-BE49-F238E27FC236}">
                <a16:creationId xmlns:a16="http://schemas.microsoft.com/office/drawing/2014/main" id="{C5CF087E-BD0F-4219-9D02-5660C0B6B40A}"/>
              </a:ext>
            </a:extLst>
          </p:cNvPr>
          <p:cNvSpPr>
            <a:spLocks noGrp="1"/>
          </p:cNvSpPr>
          <p:nvPr/>
        </p:nvSpPr>
        <p:spPr>
          <a:xfrm>
            <a:off x="4619625" y="2143125"/>
            <a:ext cx="295275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28BBDE69-3DED-40C6-9677-E2E890BE29ED}"/>
              </a:ext>
            </a:extLst>
          </p:cNvPr>
          <p:cNvSpPr>
            <a:spLocks noGrp="1"/>
          </p:cNvSpPr>
          <p:nvPr/>
        </p:nvSpPr>
        <p:spPr>
          <a:xfrm>
            <a:off x="4619625" y="2143125"/>
            <a:ext cx="2952750" cy="57150"/>
          </a:xfrm>
          <a:prstGeom prst="rect">
            <a:avLst/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84A8ADF1-EF68-423D-A455-7C44D3355774}"/>
              </a:ext>
            </a:extLst>
          </p:cNvPr>
          <p:cNvSpPr>
            <a:spLocks noGrp="1"/>
          </p:cNvSpPr>
          <p:nvPr/>
        </p:nvSpPr>
        <p:spPr>
          <a:xfrm>
            <a:off x="4810125" y="2352675"/>
            <a:ext cx="2571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t>GPU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45891DBB-675B-4AF9-9A2E-DC598410BC01}"/>
              </a:ext>
            </a:extLst>
          </p:cNvPr>
          <p:cNvSpPr>
            <a:spLocks noGrp="1"/>
          </p:cNvSpPr>
          <p:nvPr/>
        </p:nvSpPr>
        <p:spPr>
          <a:xfrm>
            <a:off x="4810125" y="2809875"/>
            <a:ext cx="257175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Accelerates parallel tensor math, especially convolution and matrix operations.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9D61DE8B-C072-4A2B-97DC-ECA1B8B2F8D1}"/>
              </a:ext>
            </a:extLst>
          </p:cNvPr>
          <p:cNvSpPr>
            <a:spLocks noGrp="1"/>
          </p:cNvSpPr>
          <p:nvPr/>
        </p:nvSpPr>
        <p:spPr>
          <a:xfrm>
            <a:off x="8286750" y="2143125"/>
            <a:ext cx="295275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B8664E02-ACA3-4309-812E-8CEF7C907186}"/>
              </a:ext>
            </a:extLst>
          </p:cNvPr>
          <p:cNvSpPr>
            <a:spLocks noGrp="1"/>
          </p:cNvSpPr>
          <p:nvPr/>
        </p:nvSpPr>
        <p:spPr>
          <a:xfrm>
            <a:off x="8286750" y="2143125"/>
            <a:ext cx="2952750" cy="57150"/>
          </a:xfrm>
          <a:prstGeom prst="rect">
            <a:avLst/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B8D30B74-84AA-4C6B-B060-6FD7146614A1}"/>
              </a:ext>
            </a:extLst>
          </p:cNvPr>
          <p:cNvSpPr>
            <a:spLocks noGrp="1"/>
          </p:cNvSpPr>
          <p:nvPr/>
        </p:nvSpPr>
        <p:spPr>
          <a:xfrm>
            <a:off x="8477250" y="2352675"/>
            <a:ext cx="25717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NPU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B2485850-B6E0-4F85-917A-79D6DBF7C9C6}"/>
              </a:ext>
            </a:extLst>
          </p:cNvPr>
          <p:cNvSpPr>
            <a:spLocks noGrp="1"/>
          </p:cNvSpPr>
          <p:nvPr/>
        </p:nvSpPr>
        <p:spPr>
          <a:xfrm>
            <a:off x="8477250" y="2809875"/>
            <a:ext cx="2571750" cy="1562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A neural processing unit can run supported AI inference with lower power and less heat.</a:t>
            </a:r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7B35B974-E8C6-46C1-B033-35983090C8A5}"/>
              </a:ext>
            </a:extLst>
          </p:cNvPr>
          <p:cNvSpPr>
            <a:spLocks noGrp="1"/>
          </p:cNvSpPr>
          <p:nvPr/>
        </p:nvSpPr>
        <p:spPr>
          <a:xfrm>
            <a:off x="2305050" y="5095875"/>
            <a:ext cx="7572375" cy="495300"/>
          </a:xfrm>
          <a:prstGeom prst="roundRect">
            <a:avLst>
              <a:gd name="adj" fmla="val 15385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7666C752-F6A9-4118-A237-516103608B83}"/>
              </a:ext>
            </a:extLst>
          </p:cNvPr>
          <p:cNvSpPr>
            <a:spLocks noGrp="1"/>
          </p:cNvSpPr>
          <p:nvPr/>
        </p:nvSpPr>
        <p:spPr>
          <a:xfrm>
            <a:off x="2400300" y="5162550"/>
            <a:ext cx="7381875" cy="400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Target: modern laptops with CPU+GPU+NPU or CPU+GPU hardware.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B653EB6B-0248-487F-B15B-778348E86C6F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10</a:t>
            </a:r>
          </a:p>
        </p:txBody>
      </p:sp>
    </p:spTree>
    <p:extLst>
      <p:ext uri="{BB962C8B-B14F-4D97-AF65-F5344CB8AC3E}">
        <p14:creationId xmlns:p14="http://schemas.microsoft.com/office/powerpoint/2010/main" val="91070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AF022-C586-0E57-DE38-9F860AAD1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6368E0C2-B632-40CF-B149-8F997D8B702B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COMPUTE BUDGET PER FRAME</a:t>
            </a: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79391C6C-7D6F-4CDC-9180-C7A63ACD48CE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Real-time recognition has to fit into a small time window.</a:t>
            </a: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1976D2F5-8AC4-4C45-87C2-2CE0F0E45B78}"/>
              </a:ext>
            </a:extLst>
          </p:cNvPr>
          <p:cNvSpPr>
            <a:spLocks noGrp="1"/>
          </p:cNvSpPr>
          <p:nvPr/>
        </p:nvSpPr>
        <p:spPr>
          <a:xfrm>
            <a:off x="1390650" y="2076450"/>
            <a:ext cx="8953500" cy="4000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210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30 frames per second gives about 33 ms per frame.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70E034D5-685E-4087-91CB-F85A65F4004B}"/>
              </a:ext>
            </a:extLst>
          </p:cNvPr>
          <p:cNvSpPr>
            <a:spLocks noGrp="1"/>
          </p:cNvSpPr>
          <p:nvPr/>
        </p:nvSpPr>
        <p:spPr>
          <a:xfrm>
            <a:off x="1238250" y="3190875"/>
            <a:ext cx="2000250" cy="590550"/>
          </a:xfrm>
          <a:prstGeom prst="roundRect">
            <a:avLst>
              <a:gd name="adj" fmla="val 6452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8F0E2C79-9598-4F15-9326-B9EE86233E8B}"/>
              </a:ext>
            </a:extLst>
          </p:cNvPr>
          <p:cNvSpPr>
            <a:spLocks noGrp="1"/>
          </p:cNvSpPr>
          <p:nvPr/>
        </p:nvSpPr>
        <p:spPr>
          <a:xfrm>
            <a:off x="1238250" y="3371850"/>
            <a:ext cx="2000250" cy="2476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Detect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E4F2359D-95AA-4504-B109-1F1D5D72E291}"/>
              </a:ext>
            </a:extLst>
          </p:cNvPr>
          <p:cNvSpPr>
            <a:spLocks noGrp="1"/>
          </p:cNvSpPr>
          <p:nvPr/>
        </p:nvSpPr>
        <p:spPr>
          <a:xfrm>
            <a:off x="3314700" y="3190875"/>
            <a:ext cx="1619250" cy="590550"/>
          </a:xfrm>
          <a:prstGeom prst="roundRect">
            <a:avLst>
              <a:gd name="adj" fmla="val 6452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B592C02B-BACD-4B94-A6BB-679ECEE1A2D0}"/>
              </a:ext>
            </a:extLst>
          </p:cNvPr>
          <p:cNvSpPr>
            <a:spLocks noGrp="1"/>
          </p:cNvSpPr>
          <p:nvPr/>
        </p:nvSpPr>
        <p:spPr>
          <a:xfrm>
            <a:off x="3314700" y="3371850"/>
            <a:ext cx="1619250" cy="2476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Preprocess</a:t>
            </a:r>
          </a:p>
        </p:txBody>
      </p:sp>
      <p:sp>
        <p:nvSpPr>
          <p:cNvPr id="444" name="Rounded Rectangle 443">
            <a:extLst>
              <a:ext uri="{FF2B5EF4-FFF2-40B4-BE49-F238E27FC236}">
                <a16:creationId xmlns:a16="http://schemas.microsoft.com/office/drawing/2014/main" id="{BB678299-C45E-425B-89CA-50545B7B36E6}"/>
              </a:ext>
            </a:extLst>
          </p:cNvPr>
          <p:cNvSpPr>
            <a:spLocks noGrp="1"/>
          </p:cNvSpPr>
          <p:nvPr/>
        </p:nvSpPr>
        <p:spPr>
          <a:xfrm>
            <a:off x="5010150" y="3190875"/>
            <a:ext cx="2476500" cy="590550"/>
          </a:xfrm>
          <a:prstGeom prst="roundRect">
            <a:avLst>
              <a:gd name="adj" fmla="val 6452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AFF6F42B-C143-4A5A-B912-E4735A87CD7D}"/>
              </a:ext>
            </a:extLst>
          </p:cNvPr>
          <p:cNvSpPr>
            <a:spLocks noGrp="1"/>
          </p:cNvSpPr>
          <p:nvPr/>
        </p:nvSpPr>
        <p:spPr>
          <a:xfrm>
            <a:off x="5010150" y="3371850"/>
            <a:ext cx="2476500" cy="2476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Model</a:t>
            </a:r>
          </a:p>
        </p:txBody>
      </p:sp>
      <p:sp>
        <p:nvSpPr>
          <p:cNvPr id="446" name="Rounded Rectangle 445">
            <a:extLst>
              <a:ext uri="{FF2B5EF4-FFF2-40B4-BE49-F238E27FC236}">
                <a16:creationId xmlns:a16="http://schemas.microsoft.com/office/drawing/2014/main" id="{5B768C98-427C-49EC-A3E7-DE55BD5ADD0E}"/>
              </a:ext>
            </a:extLst>
          </p:cNvPr>
          <p:cNvSpPr>
            <a:spLocks noGrp="1"/>
          </p:cNvSpPr>
          <p:nvPr/>
        </p:nvSpPr>
        <p:spPr>
          <a:xfrm>
            <a:off x="7562850" y="3190875"/>
            <a:ext cx="1428750" cy="590550"/>
          </a:xfrm>
          <a:prstGeom prst="roundRect">
            <a:avLst>
              <a:gd name="adj" fmla="val 6452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1C0958E0-C0D9-4D7A-AC02-E991DEC5AE30}"/>
              </a:ext>
            </a:extLst>
          </p:cNvPr>
          <p:cNvSpPr>
            <a:spLocks noGrp="1"/>
          </p:cNvSpPr>
          <p:nvPr/>
        </p:nvSpPr>
        <p:spPr>
          <a:xfrm>
            <a:off x="7562850" y="3371850"/>
            <a:ext cx="1428750" cy="2476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Compare</a:t>
            </a:r>
          </a:p>
        </p:txBody>
      </p: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F59977EB-EB5E-4A5B-9C27-F46B61865453}"/>
              </a:ext>
            </a:extLst>
          </p:cNvPr>
          <p:cNvSpPr>
            <a:spLocks noGrp="1"/>
          </p:cNvSpPr>
          <p:nvPr/>
        </p:nvSpPr>
        <p:spPr>
          <a:xfrm>
            <a:off x="9067800" y="3190875"/>
            <a:ext cx="1143000" cy="590550"/>
          </a:xfrm>
          <a:prstGeom prst="roundRect">
            <a:avLst>
              <a:gd name="adj" fmla="val 6452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D7F6020A-AFA8-41C8-855A-546197FB37FC}"/>
              </a:ext>
            </a:extLst>
          </p:cNvPr>
          <p:cNvSpPr>
            <a:spLocks noGrp="1"/>
          </p:cNvSpPr>
          <p:nvPr/>
        </p:nvSpPr>
        <p:spPr>
          <a:xfrm>
            <a:off x="9067800" y="3371850"/>
            <a:ext cx="1143000" cy="24765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Draw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DD6BF07C-E8B4-4255-BB79-E69A90EED0D4}"/>
              </a:ext>
            </a:extLst>
          </p:cNvPr>
          <p:cNvSpPr>
            <a:spLocks noGrp="1"/>
          </p:cNvSpPr>
          <p:nvPr/>
        </p:nvSpPr>
        <p:spPr>
          <a:xfrm>
            <a:off x="2047875" y="449580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130DBA9E-55C3-4948-85B0-3BCCEF236488}"/>
              </a:ext>
            </a:extLst>
          </p:cNvPr>
          <p:cNvSpPr>
            <a:spLocks noGrp="1"/>
          </p:cNvSpPr>
          <p:nvPr/>
        </p:nvSpPr>
        <p:spPr>
          <a:xfrm>
            <a:off x="2276475" y="4476750"/>
            <a:ext cx="7677150" cy="3968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If one step takes too long, the video feels slow.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2FFC7768-0F33-4DA7-8623-A827D2E28DBD}"/>
              </a:ext>
            </a:extLst>
          </p:cNvPr>
          <p:cNvSpPr>
            <a:spLocks noGrp="1"/>
          </p:cNvSpPr>
          <p:nvPr/>
        </p:nvSpPr>
        <p:spPr>
          <a:xfrm>
            <a:off x="2047875" y="4892675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C4955785-CFB6-4CE3-82E5-6581DBA64FB9}"/>
              </a:ext>
            </a:extLst>
          </p:cNvPr>
          <p:cNvSpPr>
            <a:spLocks noGrp="1"/>
          </p:cNvSpPr>
          <p:nvPr/>
        </p:nvSpPr>
        <p:spPr>
          <a:xfrm>
            <a:off x="2276475" y="4873625"/>
            <a:ext cx="7677150" cy="3968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Integrated GPU/NPU designs can reduce data movement overhead.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5C8099CF-ECEB-4B52-91B4-6D75DB7C03BF}"/>
              </a:ext>
            </a:extLst>
          </p:cNvPr>
          <p:cNvSpPr>
            <a:spLocks noGrp="1"/>
          </p:cNvSpPr>
          <p:nvPr/>
        </p:nvSpPr>
        <p:spPr>
          <a:xfrm>
            <a:off x="2047875" y="5289550"/>
            <a:ext cx="171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C574DF9F-170A-4B2E-A929-12ACEE411BB8}"/>
              </a:ext>
            </a:extLst>
          </p:cNvPr>
          <p:cNvSpPr>
            <a:spLocks noGrp="1"/>
          </p:cNvSpPr>
          <p:nvPr/>
        </p:nvSpPr>
        <p:spPr>
          <a:xfrm>
            <a:off x="2276475" y="5270500"/>
            <a:ext cx="7677150" cy="39687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Efficient models keep the whole pipeline inside the frame budget.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A338EF1A-0423-4611-87D3-6A8078888E58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11</a:t>
            </a:r>
          </a:p>
        </p:txBody>
      </p:sp>
    </p:spTree>
    <p:extLst>
      <p:ext uri="{BB962C8B-B14F-4D97-AF65-F5344CB8AC3E}">
        <p14:creationId xmlns:p14="http://schemas.microsoft.com/office/powerpoint/2010/main" val="433696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9CFD-7996-DBFE-4D2A-1D5C946C1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BDE2E042-F8E5-4A53-BEB6-4864CFA9252B}"/>
              </a:ext>
            </a:extLst>
          </p:cNvPr>
          <p:cNvSpPr>
            <a:spLocks noGrp="1"/>
          </p:cNvSpPr>
          <p:nvPr/>
        </p:nvSpPr>
        <p:spPr>
          <a:xfrm>
            <a:off x="914400" y="933450"/>
            <a:ext cx="3429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t>DEPLOYMENT CHECKLIST</a:t>
            </a: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2C23917B-9452-43B4-A337-B103CA364A6D}"/>
              </a:ext>
            </a:extLst>
          </p:cNvPr>
          <p:cNvSpPr>
            <a:spLocks noGrp="1"/>
          </p:cNvSpPr>
          <p:nvPr/>
        </p:nvSpPr>
        <p:spPr>
          <a:xfrm>
            <a:off x="914400" y="1238250"/>
            <a:ext cx="9906000" cy="742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Before the demo, verify the model, database, camera, and accelerator path.</a:t>
            </a:r>
          </a:p>
        </p:txBody>
      </p:sp>
      <p:sp>
        <p:nvSpPr>
          <p:cNvPr id="439" name="Rounded Rectangle 438">
            <a:extLst>
              <a:ext uri="{FF2B5EF4-FFF2-40B4-BE49-F238E27FC236}">
                <a16:creationId xmlns:a16="http://schemas.microsoft.com/office/drawing/2014/main" id="{90FEB5FD-A98E-4C2A-BBA7-60780FD23DED}"/>
              </a:ext>
            </a:extLst>
          </p:cNvPr>
          <p:cNvSpPr>
            <a:spLocks noGrp="1"/>
          </p:cNvSpPr>
          <p:nvPr/>
        </p:nvSpPr>
        <p:spPr>
          <a:xfrm>
            <a:off x="1238250" y="2095500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156082"/>
          </a:solidFill>
        </p:spPr>
        <p:txBody>
          <a:bodyPr/>
          <a:lstStyle/>
          <a:p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B740C7AD-5AF0-428C-986F-39730631A9EA}"/>
              </a:ext>
            </a:extLst>
          </p:cNvPr>
          <p:cNvSpPr>
            <a:spLocks noGrp="1"/>
          </p:cNvSpPr>
          <p:nvPr/>
        </p:nvSpPr>
        <p:spPr>
          <a:xfrm>
            <a:off x="1238250" y="2143125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A479C77E-83AB-49B7-9E4F-37A3579645E7}"/>
              </a:ext>
            </a:extLst>
          </p:cNvPr>
          <p:cNvSpPr>
            <a:spLocks noGrp="1"/>
          </p:cNvSpPr>
          <p:nvPr/>
        </p:nvSpPr>
        <p:spPr>
          <a:xfrm>
            <a:off x="1809750" y="2114550"/>
            <a:ext cx="8096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Model path points to the exported embedding model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8D9F8F40-9D29-4764-BAC7-AB506C87A74C}"/>
              </a:ext>
            </a:extLst>
          </p:cNvPr>
          <p:cNvSpPr>
            <a:spLocks noGrp="1"/>
          </p:cNvSpPr>
          <p:nvPr/>
        </p:nvSpPr>
        <p:spPr>
          <a:xfrm>
            <a:off x="1238250" y="2647950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196B24"/>
          </a:solidFill>
        </p:spPr>
        <p:txBody>
          <a:bodyPr/>
          <a:lstStyle/>
          <a:p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D191F11D-2F2E-42AA-89BC-F9F255D6D2D4}"/>
              </a:ext>
            </a:extLst>
          </p:cNvPr>
          <p:cNvSpPr>
            <a:spLocks noGrp="1"/>
          </p:cNvSpPr>
          <p:nvPr/>
        </p:nvSpPr>
        <p:spPr>
          <a:xfrm>
            <a:off x="1238250" y="2695575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4D0B51B9-A8FD-4C50-B322-05D05AAF64BE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8096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Input shape matches training</a:t>
            </a:r>
          </a:p>
        </p:txBody>
      </p:sp>
      <p:sp>
        <p:nvSpPr>
          <p:cNvPr id="445" name="Rounded Rectangle 444">
            <a:extLst>
              <a:ext uri="{FF2B5EF4-FFF2-40B4-BE49-F238E27FC236}">
                <a16:creationId xmlns:a16="http://schemas.microsoft.com/office/drawing/2014/main" id="{EB592865-655C-4099-8619-9498D7CDE2EC}"/>
              </a:ext>
            </a:extLst>
          </p:cNvPr>
          <p:cNvSpPr>
            <a:spLocks noGrp="1"/>
          </p:cNvSpPr>
          <p:nvPr/>
        </p:nvSpPr>
        <p:spPr>
          <a:xfrm>
            <a:off x="1238250" y="3200400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E97132"/>
          </a:solidFill>
        </p:spPr>
        <p:txBody>
          <a:bodyPr/>
          <a:lstStyle/>
          <a:p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4BAD9470-FB7D-4F53-8827-DEE31799CBE0}"/>
              </a:ext>
            </a:extLst>
          </p:cNvPr>
          <p:cNvSpPr>
            <a:spLocks noGrp="1"/>
          </p:cNvSpPr>
          <p:nvPr/>
        </p:nvSpPr>
        <p:spPr>
          <a:xfrm>
            <a:off x="1238250" y="3248025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527C4D39-0204-4DE2-B596-EA68DAACB1C1}"/>
              </a:ext>
            </a:extLst>
          </p:cNvPr>
          <p:cNvSpPr>
            <a:spLocks noGrp="1"/>
          </p:cNvSpPr>
          <p:nvPr/>
        </p:nvSpPr>
        <p:spPr>
          <a:xfrm>
            <a:off x="1809750" y="3219450"/>
            <a:ext cx="8096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Database path can save and load embeddings</a:t>
            </a:r>
          </a:p>
        </p:txBody>
      </p: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C7E5D465-C1AE-4848-9CFA-E5DA4B124FC1}"/>
              </a:ext>
            </a:extLst>
          </p:cNvPr>
          <p:cNvSpPr>
            <a:spLocks noGrp="1"/>
          </p:cNvSpPr>
          <p:nvPr/>
        </p:nvSpPr>
        <p:spPr>
          <a:xfrm>
            <a:off x="1238250" y="3752850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A02B93"/>
          </a:solidFill>
        </p:spPr>
        <p:txBody>
          <a:bodyPr/>
          <a:lstStyle/>
          <a:p>
            <a:endParaRPr lang="en-US"/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D44B8E59-A71C-44DB-B814-BA3BF1EFA0BD}"/>
              </a:ext>
            </a:extLst>
          </p:cNvPr>
          <p:cNvSpPr>
            <a:spLocks noGrp="1"/>
          </p:cNvSpPr>
          <p:nvPr/>
        </p:nvSpPr>
        <p:spPr>
          <a:xfrm>
            <a:off x="1238250" y="3800475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D9A5991B-FCB6-4D27-9EAE-FD3F8AE56E2E}"/>
              </a:ext>
            </a:extLst>
          </p:cNvPr>
          <p:cNvSpPr>
            <a:spLocks noGrp="1"/>
          </p:cNvSpPr>
          <p:nvPr/>
        </p:nvSpPr>
        <p:spPr>
          <a:xfrm>
            <a:off x="1809750" y="3771900"/>
            <a:ext cx="8096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Camera opens at the requested resolution</a:t>
            </a:r>
          </a:p>
        </p:txBody>
      </p:sp>
      <p:sp>
        <p:nvSpPr>
          <p:cNvPr id="451" name="Rounded Rectangle 450">
            <a:extLst>
              <a:ext uri="{FF2B5EF4-FFF2-40B4-BE49-F238E27FC236}">
                <a16:creationId xmlns:a16="http://schemas.microsoft.com/office/drawing/2014/main" id="{0FB0ADBC-FE44-4A67-A045-5591D20EB685}"/>
              </a:ext>
            </a:extLst>
          </p:cNvPr>
          <p:cNvSpPr>
            <a:spLocks noGrp="1"/>
          </p:cNvSpPr>
          <p:nvPr/>
        </p:nvSpPr>
        <p:spPr>
          <a:xfrm>
            <a:off x="1238250" y="4305300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0F9ED5"/>
          </a:solidFill>
        </p:spPr>
        <p:txBody>
          <a:bodyPr/>
          <a:lstStyle/>
          <a:p>
            <a:endParaRPr lang="en-US"/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8029A4E0-D7FC-4622-8286-CE99A74381AD}"/>
              </a:ext>
            </a:extLst>
          </p:cNvPr>
          <p:cNvSpPr>
            <a:spLocks noGrp="1"/>
          </p:cNvSpPr>
          <p:nvPr/>
        </p:nvSpPr>
        <p:spPr>
          <a:xfrm>
            <a:off x="1238250" y="4352925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FF7250AA-645D-4BC8-8855-5BD0C3BCF5BE}"/>
              </a:ext>
            </a:extLst>
          </p:cNvPr>
          <p:cNvSpPr>
            <a:spLocks noGrp="1"/>
          </p:cNvSpPr>
          <p:nvPr/>
        </p:nvSpPr>
        <p:spPr>
          <a:xfrm>
            <a:off x="1809750" y="4324350"/>
            <a:ext cx="8096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CPU/GPU/NPU backend is available as expected</a:t>
            </a:r>
          </a:p>
        </p:txBody>
      </p:sp>
      <p:sp>
        <p:nvSpPr>
          <p:cNvPr id="454" name="Rounded Rectangle 453">
            <a:extLst>
              <a:ext uri="{FF2B5EF4-FFF2-40B4-BE49-F238E27FC236}">
                <a16:creationId xmlns:a16="http://schemas.microsoft.com/office/drawing/2014/main" id="{4F92BD59-E218-4866-B749-C694B55BD0FD}"/>
              </a:ext>
            </a:extLst>
          </p:cNvPr>
          <p:cNvSpPr>
            <a:spLocks noGrp="1"/>
          </p:cNvSpPr>
          <p:nvPr/>
        </p:nvSpPr>
        <p:spPr>
          <a:xfrm>
            <a:off x="1238250" y="4857750"/>
            <a:ext cx="323850" cy="323850"/>
          </a:xfrm>
          <a:prstGeom prst="roundRect">
            <a:avLst>
              <a:gd name="adj" fmla="val 14706"/>
            </a:avLst>
          </a:prstGeom>
          <a:solidFill>
            <a:srgbClr val="4EA72E"/>
          </a:solidFill>
        </p:spPr>
        <p:txBody>
          <a:bodyPr/>
          <a:lstStyle/>
          <a:p>
            <a:endParaRPr lang="en-US"/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C553EB29-1638-4D39-ACC1-55A87146C45E}"/>
              </a:ext>
            </a:extLst>
          </p:cNvPr>
          <p:cNvSpPr>
            <a:spLocks noGrp="1"/>
          </p:cNvSpPr>
          <p:nvPr/>
        </p:nvSpPr>
        <p:spPr>
          <a:xfrm>
            <a:off x="1238250" y="4905375"/>
            <a:ext cx="323850" cy="190500"/>
          </a:xfrm>
          <a:prstGeom prst="rect">
            <a:avLst/>
          </a:prstGeom>
        </p:spPr>
        <p:txBody>
          <a:bodyPr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4BEA1AC3-BD41-4525-8A72-19B8F800274E}"/>
              </a:ext>
            </a:extLst>
          </p:cNvPr>
          <p:cNvSpPr>
            <a:spLocks noGrp="1"/>
          </p:cNvSpPr>
          <p:nvPr/>
        </p:nvSpPr>
        <p:spPr>
          <a:xfrm>
            <a:off x="1809750" y="4876800"/>
            <a:ext cx="80962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>
                <a:solidFill>
                  <a:srgbClr val="0E2841"/>
                </a:solidFill>
                <a:latin typeface="Arial"/>
                <a:ea typeface="Arial"/>
                <a:cs typeface="Arial"/>
              </a:defRPr>
            </a:pPr>
            <a:r>
              <a:t>Threshold is tuned for Unknown vs known faces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F30B6605-CC52-4E8A-8A25-2F498EEAE072}"/>
              </a:ext>
            </a:extLst>
          </p:cNvPr>
          <p:cNvSpPr>
            <a:spLocks noGrp="1"/>
          </p:cNvSpPr>
          <p:nvPr/>
        </p:nvSpPr>
        <p:spPr>
          <a:xfrm>
            <a:off x="10115550" y="6477000"/>
            <a:ext cx="1143000" cy="171450"/>
          </a:xfrm>
          <a:prstGeom prst="rect">
            <a:avLst/>
          </a:prstGeom>
        </p:spPr>
        <p:txBody>
          <a:bodyPr lIns="0" tIns="0" rIns="0" bIns="0"/>
          <a:lstStyle/>
          <a:p>
            <a:pPr algn="r">
              <a:defRPr sz="82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t>Inference | 12</a:t>
            </a:r>
          </a:p>
        </p:txBody>
      </p:sp>
    </p:spTree>
    <p:extLst>
      <p:ext uri="{BB962C8B-B14F-4D97-AF65-F5344CB8AC3E}">
        <p14:creationId xmlns:p14="http://schemas.microsoft.com/office/powerpoint/2010/main" val="43369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831</Words>
  <Application>Microsoft Macintosh PowerPoint</Application>
  <DocSecurity>0</DocSecurity>
  <PresentationFormat>Widescreen</PresentationFormat>
  <Paragraphs>128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Lato</vt:lpstr>
      <vt:lpstr>Lato Black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Vinayak Sharma (Student)</cp:lastModifiedBy>
  <cp:revision>1</cp:revision>
  <dcterms:created xsi:type="dcterms:W3CDTF">2026-05-25T19:14:00Z</dcterms:created>
  <dcterms:modified xsi:type="dcterms:W3CDTF">2026-05-25T19:25:36Z</dcterms:modified>
</cp:coreProperties>
</file>